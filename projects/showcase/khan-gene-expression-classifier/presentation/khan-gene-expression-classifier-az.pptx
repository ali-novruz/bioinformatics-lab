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38be234a7b4355" /><Relationship Type="http://schemas.openxmlformats.org/officeDocument/2006/relationships/extended-properties" Target="/docProps/app.xml" Id="R2923cad450ba4d4c" /><Relationship Type="http://schemas.openxmlformats.org/officeDocument/2006/relationships/officeDocument" Target="/ppt/presentation.xml" Id="R2c06b9690fbb45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3b6fa838704b11"/>
  </p:sldMasterIdLst>
  <p:notesMasterIdLst>
    <p:notesMasterId xmlns:r="http://schemas.openxmlformats.org/officeDocument/2006/relationships" r:id="Rccc934ab3398415d"/>
  </p:notesMasterIdLst>
  <p:sldIdLst>
    <p:sldId xmlns:r="http://schemas.openxmlformats.org/officeDocument/2006/relationships" id="256" r:id="R5f4f6f3dd78d4720"/>
    <p:sldId xmlns:r="http://schemas.openxmlformats.org/officeDocument/2006/relationships" id="257" r:id="R102b364191284508"/>
    <p:sldId xmlns:r="http://schemas.openxmlformats.org/officeDocument/2006/relationships" id="258" r:id="Re4b324f0d9604881"/>
    <p:sldId xmlns:r="http://schemas.openxmlformats.org/officeDocument/2006/relationships" id="259" r:id="R0336b255fa924e69"/>
    <p:sldId xmlns:r="http://schemas.openxmlformats.org/officeDocument/2006/relationships" id="260" r:id="Rb8f815f0fb984afc"/>
    <p:sldId xmlns:r="http://schemas.openxmlformats.org/officeDocument/2006/relationships" id="261" r:id="R72c0bd79b1624060"/>
    <p:sldId xmlns:r="http://schemas.openxmlformats.org/officeDocument/2006/relationships" id="262" r:id="R424ed1d98fb54081"/>
    <p:sldId xmlns:r="http://schemas.openxmlformats.org/officeDocument/2006/relationships" id="263" r:id="R16f880ad07854d3c"/>
    <p:sldId xmlns:r="http://schemas.openxmlformats.org/officeDocument/2006/relationships" id="264" r:id="R30174d5d7275482c"/>
    <p:sldId xmlns:r="http://schemas.openxmlformats.org/officeDocument/2006/relationships" id="265" r:id="R09897ea8d89e4f8b"/>
    <p:sldId xmlns:r="http://schemas.openxmlformats.org/officeDocument/2006/relationships" id="266" r:id="Rc352576d4c034279"/>
    <p:sldId xmlns:r="http://schemas.openxmlformats.org/officeDocument/2006/relationships" id="267" r:id="Rf798d33b8fbf489f"/>
    <p:sldId xmlns:r="http://schemas.openxmlformats.org/officeDocument/2006/relationships" id="268" r:id="R1ff6f6d75ccd41ee"/>
    <p:sldId xmlns:r="http://schemas.openxmlformats.org/officeDocument/2006/relationships" id="269" r:id="Ra0907821eb7f49db"/>
    <p:sldId xmlns:r="http://schemas.openxmlformats.org/officeDocument/2006/relationships" id="270" r:id="R191d7f6d56ac4d8a"/>
    <p:sldId xmlns:r="http://schemas.openxmlformats.org/officeDocument/2006/relationships" id="271" r:id="R62964d672df14b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ce6c17e71d4b04" /><Relationship Type="http://schemas.openxmlformats.org/officeDocument/2006/relationships/slideMaster" Target="/ppt/slideMasters/slideMaster1.xml" Id="Rae3b6fa838704b11" /><Relationship Type="http://schemas.openxmlformats.org/officeDocument/2006/relationships/notesMaster" Target="/ppt/notesMasters/notesMaster1.xml" Id="Rccc934ab3398415d" /><Relationship Type="http://schemas.openxmlformats.org/officeDocument/2006/relationships/presProps" Target="/ppt/presProps.xml" Id="R9f0974f534044383" /><Relationship Type="http://schemas.openxmlformats.org/officeDocument/2006/relationships/tableStyles" Target="/ppt/tableStyles.xml" Id="R2321a330a34a40f6" /><Relationship Type="http://schemas.openxmlformats.org/officeDocument/2006/relationships/slide" Target="/ppt/slides/slide1.xml" Id="R5f4f6f3dd78d4720" /><Relationship Type="http://schemas.openxmlformats.org/officeDocument/2006/relationships/slide" Target="/ppt/slides/slide2.xml" Id="R102b364191284508" /><Relationship Type="http://schemas.openxmlformats.org/officeDocument/2006/relationships/slide" Target="/ppt/slides/slide3.xml" Id="Re4b324f0d9604881" /><Relationship Type="http://schemas.openxmlformats.org/officeDocument/2006/relationships/slide" Target="/ppt/slides/slide4.xml" Id="R0336b255fa924e69" /><Relationship Type="http://schemas.openxmlformats.org/officeDocument/2006/relationships/slide" Target="/ppt/slides/slide5.xml" Id="Rb8f815f0fb984afc" /><Relationship Type="http://schemas.openxmlformats.org/officeDocument/2006/relationships/slide" Target="/ppt/slides/slide6.xml" Id="R72c0bd79b1624060" /><Relationship Type="http://schemas.openxmlformats.org/officeDocument/2006/relationships/slide" Target="/ppt/slides/slide7.xml" Id="R424ed1d98fb54081" /><Relationship Type="http://schemas.openxmlformats.org/officeDocument/2006/relationships/slide" Target="/ppt/slides/slide8.xml" Id="R16f880ad07854d3c" /><Relationship Type="http://schemas.openxmlformats.org/officeDocument/2006/relationships/slide" Target="/ppt/slides/slide9.xml" Id="R30174d5d7275482c" /><Relationship Type="http://schemas.openxmlformats.org/officeDocument/2006/relationships/slide" Target="/ppt/slides/slide10.xml" Id="R09897ea8d89e4f8b" /><Relationship Type="http://schemas.openxmlformats.org/officeDocument/2006/relationships/slide" Target="/ppt/slides/slide11.xml" Id="Rc352576d4c034279" /><Relationship Type="http://schemas.openxmlformats.org/officeDocument/2006/relationships/slide" Target="/ppt/slides/slide12.xml" Id="Rf798d33b8fbf489f" /><Relationship Type="http://schemas.openxmlformats.org/officeDocument/2006/relationships/slide" Target="/ppt/slides/slide13.xml" Id="R1ff6f6d75ccd41ee" /><Relationship Type="http://schemas.openxmlformats.org/officeDocument/2006/relationships/slide" Target="/ppt/slides/slide14.xml" Id="Ra0907821eb7f49db" /><Relationship Type="http://schemas.openxmlformats.org/officeDocument/2006/relationships/slide" Target="/ppt/slides/slide15.xml" Id="R191d7f6d56ac4d8a" /><Relationship Type="http://schemas.openxmlformats.org/officeDocument/2006/relationships/slide" Target="/ppt/slides/slide16.xml" Id="R62964d672df14b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14fd5214ee42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f0bb6ea44342bd" /><Relationship Type="http://schemas.openxmlformats.org/officeDocument/2006/relationships/notesMaster" Target="/ppt/notesMasters/notesMaster1.xml" Id="Rcc445890a08045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24d16892024666" /><Relationship Type="http://schemas.openxmlformats.org/officeDocument/2006/relationships/notesMaster" Target="/ppt/notesMasters/notesMaster1.xml" Id="Rca460001783b4f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609412ec2949c1" /><Relationship Type="http://schemas.openxmlformats.org/officeDocument/2006/relationships/notesMaster" Target="/ppt/notesMasters/notesMaster1.xml" Id="Rba42534fd22547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2327f16524862" /><Relationship Type="http://schemas.openxmlformats.org/officeDocument/2006/relationships/notesMaster" Target="/ppt/notesMasters/notesMaster1.xml" Id="R6d43afe4afe44f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10d3f12bce4d32" /><Relationship Type="http://schemas.openxmlformats.org/officeDocument/2006/relationships/notesMaster" Target="/ppt/notesMasters/notesMaster1.xml" Id="Ra834efc40b3d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0b5e1563b44994" /><Relationship Type="http://schemas.openxmlformats.org/officeDocument/2006/relationships/notesMaster" Target="/ppt/notesMasters/notesMaster1.xml" Id="Rd2083e85d25944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c5f2b22d8d4b7a" /><Relationship Type="http://schemas.openxmlformats.org/officeDocument/2006/relationships/notesMaster" Target="/ppt/notesMasters/notesMaster1.xml" Id="R355f5bed6d9543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a03a5e766f4969" /><Relationship Type="http://schemas.openxmlformats.org/officeDocument/2006/relationships/notesMaster" Target="/ppt/notesMasters/notesMaster1.xml" Id="R12fbad6e22f447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387c4347154f4a" /><Relationship Type="http://schemas.openxmlformats.org/officeDocument/2006/relationships/notesMaster" Target="/ppt/notesMasters/notesMaster1.xml" Id="R0a6ac9d3d0af43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baac96c7b4432b" /><Relationship Type="http://schemas.openxmlformats.org/officeDocument/2006/relationships/notesMaster" Target="/ppt/notesMasters/notesMaster1.xml" Id="R053531d513404e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c9425848d148b9" /><Relationship Type="http://schemas.openxmlformats.org/officeDocument/2006/relationships/notesMaster" Target="/ppt/notesMasters/notesMaster1.xml" Id="Rb383d6265d6f4f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daee7ee26d4758" /><Relationship Type="http://schemas.openxmlformats.org/officeDocument/2006/relationships/notesMaster" Target="/ppt/notesMasters/notesMaster1.xml" Id="Rad897ddb9fb44c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7f839439b34cbf" /><Relationship Type="http://schemas.openxmlformats.org/officeDocument/2006/relationships/notesMaster" Target="/ppt/notesMasters/notesMaster1.xml" Id="R4147eace99a546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2ccd6f224143ab" /><Relationship Type="http://schemas.openxmlformats.org/officeDocument/2006/relationships/notesMaster" Target="/ppt/notesMasters/notesMaster1.xml" Id="R6b155bd972b749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20beb0c5da24701" /><Relationship Type="http://schemas.openxmlformats.org/officeDocument/2006/relationships/notesMaster" Target="/ppt/notesMasters/notesMaster1.xml" Id="Rc58f354766e44b6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bfbaca4e914a64" /><Relationship Type="http://schemas.openxmlformats.org/officeDocument/2006/relationships/notesMaster" Target="/ppt/notesMasters/notesMaster1.xml" Id="Rf5a7d8c8315b41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Təqdimatın məqsədi nəticəni sadəcə göstərmək deyil. Əsas mövzu yüksək ölçülü bioloji datada model seçimini test məlumatından ayırmaqdır. Təqdimat təxminən 20 dəqiqə üçün hazırlanıb.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projects/showcase/khan-gene-expression-classifier/README.md; results/expanded-projects/gene-expression-ml/summary.json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Training və test əvvəlcədən ayrılıb. Test hissəsi model seçiminə daxil edilmir. Şəkildəki xırda xanalar ifadə matrisinin miqyasını simvolik göstərir, fərdi gen dəyərləri deyil.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datasets/public-datasets/khan.md; results/expanded-projects/gene-expression-ml/summary.json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Sinif 2 training hissəsində ən böyük qrupdur. Balanced accuracy hər sinfin recall dəyərinə bərabər çəki verir. Dataset raw sequencing deyil, paylanmış işlənmiş mikroarray matrisidir.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datasets/public-datasets/khan.md; results/expanded-projects/gene-expression-ml/summary.json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slayd yüksək ölçülü statistikanın əsas riskini qurur. Yüksək feature sayı avtomatik olaraq daha yaxşı model demək deyil. Düzgün nested seçim və ayrılmış test hissəsi buna görə vacibdir.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results/expanded-projects/gene-expression-ml/summary.json; src/biolab/expression_ml.py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hissəsi eksperimenti idarə edən siqnal kimi istifadə edilməməlidir. Bu layihədə grid əvvəlcədən müəyyən olunub və test balına görə dəyişdirilməyib.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projects/intermediate/gene-expression-ml/README.md; scripts/run_expression_ml.py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selection cross-validation-dan əvvəl aparılsa, validation fold-un etiketləri dolayı yolla xüsusiyyət seçiminə təsir edir. scikit-learn Pipeline bu addımları hər training fold daxilində yenidən uyğunlaşdırır.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src/biolab/expression_ml.py; tests/test_course_projects.py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Variance filtri, feature selection və scaling classifier ilə eyni Pipeline daxilindədir. GridSearchCV 9 parametr kombinasiyasını beş stratified fold üzrə müqayisə edir.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src/biolab/expression_ml.py; scripts/run_expression_ml.py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Bir neçə parametr kombinasiyası eyni maksimum bala çatır. Seçilən k=25 və C=0.01 kombinasiyası GridSearchCV sıralamasında ilk maksimumdur. Yekun qiymət ayrılmış test hissəsindən gəlir.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results/expanded-projects/gene-expression-ml/cv_results.csv; results/expanded-projects/gene-expression-ml/summary.json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Sinif ölçüləri bərabər deyil. Adi accuracy böyük sinfə daha çox təsir verə bilər. Balanced accuracy hər sinfin recall dəyərini ayrıca hesablayır və orta götürür.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results/expanded-projects/gene-expression-ml/summary.json; scripts/run_expression_ml.py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CV balı seçimi idarə edir. Held-out test balanced accuracy 0.9583-dür. Şərti bootstrap accuracy intervalı 0.85-dən 1.00-a qədərdir, amma bu interval cohort və model seçimi qeyri-müəyyənliyini tam əhatə etmir.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results/expanded-projects/gene-expression-ml/summary.json; results/expanded-projects/gene-expression-ml/comparison.png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Confusion matrix bircə səhvi göstərir. Səhvin bioloji səbəbini bu datasetdən çıxarmaq olmaz. Donor metadata-sı və təsdiqlənmiş gene annotation burada yoxdur.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results/expanded-projects/gene-expression-ml/predictions.csv; results/expanded-projects/gene-expression-ml/classification_report.json; results/expanded-projects/gene-expression-ml/confusion_matrix.png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Hər permutation-da bütün pipeline yenidən uyğunlaşdırılır. Null orta 0.2419-dur və real nested nəticə 0.99-dur. p=0.01 99 permutation üçün ən kiçik mümkün p-value həllidir. Bu, klinik validasiya deyil.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results/research-audit/expression-control/summary.json; results/research-audit/expression-control/permutation_control.png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Outer fold-larda seçilən k dəyərləri dəyişir və probe overlap aşağıdır. Mean pairwise Jaccard 0.2569-dur. Bu, proqnoz siqnalı ilə sabit biomarker panelinin eyni anlayış olmadığını göstərir.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results/research-audit/expression-control/summary.json; results/research-audit/expression-control/folds.json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manifesti nəticənin necə yarandığını saxlayır. Hər icra unikal qovluq yaradır. Dataset endirmə manifesti sabit revision, ölçü və SHA-256 dəyərlərini yoxlayır.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src/biolab/reporting.py; scripts/fetch_khan.py; results/expanded-projects/gene-expression-ml/run.json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Nəticə benchmark daxilində güclü proqnoz siqnalı göstərir. Klinik istifadə üçün müstəqil cohort, aydın phenotype tərifi, batch auditi və əvvəlcədən qeyd olunmuş analiz planı lazımdır.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projects/intermediate/gene-expression-ml/README.md; datasets/public-datasets/khan.md; results/research-audit/expression-control/summary.json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Yekunda tələbələrdən bir audit prioriteti seçmələrini istəyin. Mümkün cavablar preprocessing fərqi, batch effekti, phenotype xəritəsi, sample independence və feature mapping-dir.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Mənbələr: projects/showcase/khan-gene-expression-classifier/LESSON_PLAN.md; projects/showcase/khan-gene-expression-classifier/STUDENT_WORKSHEET.md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18507c49a48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1cf039941d41cd" /><Relationship Type="http://schemas.openxmlformats.org/officeDocument/2006/relationships/slideLayout" Target="/ppt/slideLayouts/slideLayout1.xml" Id="R058406c060fe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8406c060fe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2e974c29940e3" /><Relationship Type="http://schemas.openxmlformats.org/officeDocument/2006/relationships/image" Target="/ppt/media/image.png" Id="Re31b3a4857c24f9f" /><Relationship Type="http://schemas.openxmlformats.org/officeDocument/2006/relationships/notesSlide" Target="/ppt/notesSlides/notesSlide1.xml" Id="Rd24cec6034c548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53631ddda4f5a" /><Relationship Type="http://schemas.openxmlformats.org/officeDocument/2006/relationships/notesSlide" Target="/ppt/notesSlides/notesSlide2.xml" Id="Rbee0cb75d7634a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a05e760ff4102" /><Relationship Type="http://schemas.openxmlformats.org/officeDocument/2006/relationships/chart" Target="/ppt/slides/charts/chart1.xml" Id="R813195effb294715" /><Relationship Type="http://schemas.openxmlformats.org/officeDocument/2006/relationships/notesSlide" Target="/ppt/notesSlides/notesSlide3.xml" Id="Rea676e632fba46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39bef92054904" /><Relationship Type="http://schemas.openxmlformats.org/officeDocument/2006/relationships/notesSlide" Target="/ppt/notesSlides/notesSlide4.xml" Id="Ra0fdcbd7fb9244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7d1a757ea4f10" /><Relationship Type="http://schemas.openxmlformats.org/officeDocument/2006/relationships/notesSlide" Target="/ppt/notesSlides/notesSlide5.xml" Id="R2b9c6ace26e247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5eac254944b1a" /><Relationship Type="http://schemas.openxmlformats.org/officeDocument/2006/relationships/notesSlide" Target="/ppt/notesSlides/notesSlide6.xml" Id="R75e22ad51e6c4d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35d30e645428a" /><Relationship Type="http://schemas.openxmlformats.org/officeDocument/2006/relationships/notesSlide" Target="/ppt/notesSlides/notesSlide7.xml" Id="R0fc8b25021514b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e5d38a12f4ba9" /><Relationship Type="http://schemas.openxmlformats.org/officeDocument/2006/relationships/notesSlide" Target="/ppt/notesSlides/notesSlide8.xml" Id="Re1273a8d389147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56172ced84748" /><Relationship Type="http://schemas.openxmlformats.org/officeDocument/2006/relationships/notesSlide" Target="/ppt/notesSlides/notesSlide9.xml" Id="Rc1ba8675ac1b45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dfdae338e4d2b" /><Relationship Type="http://schemas.openxmlformats.org/officeDocument/2006/relationships/image" Target="/ppt/media/image2.png" Id="R1be8881897ab4814" /><Relationship Type="http://schemas.openxmlformats.org/officeDocument/2006/relationships/notesSlide" Target="/ppt/notesSlides/notesSlide10.xml" Id="R3a5b07d3ba8c46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d07976e42426e" /><Relationship Type="http://schemas.openxmlformats.org/officeDocument/2006/relationships/image" Target="/ppt/media/image3.png" Id="Re856d19311a34528" /><Relationship Type="http://schemas.openxmlformats.org/officeDocument/2006/relationships/notesSlide" Target="/ppt/notesSlides/notesSlide11.xml" Id="R33a2324e51d04f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08ad3e0af4477b" /><Relationship Type="http://schemas.openxmlformats.org/officeDocument/2006/relationships/image" Target="/ppt/media/image4.png" Id="R1bc1270a93fd4a20" /><Relationship Type="http://schemas.openxmlformats.org/officeDocument/2006/relationships/notesSlide" Target="/ppt/notesSlides/notesSlide12.xml" Id="Rd7f5e0dd7bb2441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6d32cafb444fa" /><Relationship Type="http://schemas.openxmlformats.org/officeDocument/2006/relationships/chart" Target="/ppt/slides/charts/chart2.xml" Id="R56a3df01b71f418b" /><Relationship Type="http://schemas.openxmlformats.org/officeDocument/2006/relationships/notesSlide" Target="/ppt/notesSlides/notesSlide13.xml" Id="R94be370514b242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ea993c3a144d0" /><Relationship Type="http://schemas.openxmlformats.org/officeDocument/2006/relationships/notesSlide" Target="/ppt/notesSlides/notesSlide14.xml" Id="R3ecb699f1ea44c0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f4b34b52f48f4" /><Relationship Type="http://schemas.openxmlformats.org/officeDocument/2006/relationships/notesSlide" Target="/ppt/notesSlides/notesSlide15.xml" Id="R75e960ce2eaa4c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6f7508517462c" /><Relationship Type="http://schemas.openxmlformats.org/officeDocument/2006/relationships/notesSlide" Target="/ppt/notesSlides/notesSlide16.xml" Id="R318e6a9133624c0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Training</c:v>
          </c:tx>
          <c:spPr>
            <a:solidFill xmlns:a="http://schemas.openxmlformats.org/drawingml/2006/main">
              <a:srgbClr val="0E7C86"/>
            </a:solidFill>
          </c:spPr>
          <c:cat>
            <c:strRef>
              <c:f>'Chart Data'!$A$2:$A$5</c:f>
              <c:strCache>
                <c:ptCount val="4"/>
                <c:pt idx="0">
                  <c:v>Sinif 1</c:v>
                </c:pt>
                <c:pt idx="1">
                  <c:v>Sinif 2</c:v>
                </c:pt>
                <c:pt idx="2">
                  <c:v>Sinif 3</c:v>
                </c:pt>
                <c:pt idx="3">
                  <c:v>Sinif 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</c:v>
                </c:pt>
                <c:pt idx="1">
                  <c:v>23</c:v>
                </c:pt>
                <c:pt idx="2">
                  <c:v>12</c:v>
                </c:pt>
                <c:pt idx="3">
                  <c:v>20</c:v>
                </c:pt>
              </c:numCache>
            </c:numRef>
          </c:val>
        </c:ser>
        <c:ser>
          <c:idx val="1"/>
          <c:order val="1"/>
          <c:tx>
            <c:v>Test</c:v>
          </c:tx>
          <c:spPr>
            <a:solidFill xmlns:a="http://schemas.openxmlformats.org/drawingml/2006/main">
              <a:srgbClr val="E58A6C"/>
            </a:solidFill>
          </c:spPr>
          <c:cat>
            <c:strRef>
              <c:f>'Chart Data'!$C$2:$C$5</c:f>
              <c:strCache>
                <c:ptCount val="4"/>
                <c:pt idx="0">
                  <c:v>Sinif 1</c:v>
                </c:pt>
                <c:pt idx="1">
                  <c:v>Sinif 2</c:v>
                </c:pt>
                <c:pt idx="2">
                  <c:v>Sinif 3</c:v>
                </c:pt>
                <c:pt idx="3">
                  <c:v>Sinif 4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Etiket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B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Nümunə sayı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Seçilmiş probe sayı</c:v>
          </c:tx>
          <c:spPr>
            <a:solidFill xmlns:a="http://schemas.openxmlformats.org/drawingml/2006/main">
              <a:srgbClr val="0E7C86"/>
            </a:solidFill>
          </c:spPr>
          <c:cat>
            <c:strRef>
              <c:f>'Chart Data'!$A$2:$A$6</c:f>
              <c:strCache>
                <c:ptCount val="5"/>
                <c:pt idx="0">
                  <c:v>Fold 1</c:v>
                </c:pt>
                <c:pt idx="1">
                  <c:v>Fold 2</c:v>
                </c:pt>
                <c:pt idx="2">
                  <c:v>Fold 3</c:v>
                </c:pt>
                <c:pt idx="3">
                  <c:v>Fold 4</c:v>
                </c:pt>
                <c:pt idx="4">
                  <c:v>Fold 5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25</c:v>
                </c:pt>
                <c:pt idx="1">
                  <c:v>500</c:v>
                </c:pt>
                <c:pt idx="2">
                  <c:v>100</c:v>
                </c:pt>
                <c:pt idx="3">
                  <c:v>100</c:v>
                </c:pt>
                <c:pt idx="4">
                  <c:v>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9DB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Probe sayı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2B36"/>
            </a:gs>
            <a:gs pos="62000">
              <a:srgbClr val="0C3B46"/>
            </a:gs>
            <a:gs pos="100000">
              <a:srgbClr val="135E68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b3a4857c24f9f"/>
          <a:srcRect xmlns:a="http://schemas.openxmlformats.org/drawingml/2006/main" l="18001" t="0" r="180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514350"/>
            <a:ext cx="4476750" cy="582930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81CC7-0035-4066-9C7F-6069FF0A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82B36">
                  <a:alpha val="0"/>
                </a:srgbClr>
              </a:gs>
              <a:gs pos="100000">
                <a:srgbClr val="082B36">
                  <a:alpha val="80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ED94E-FD7E-4955-A408-CBBB8756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GEN İFADƏSİ VƏ MAŞIN ÖYRƏNMƏSİ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31F8C-7920-48C1-AAF6-F450535E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572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 ifadəsindən</a:t>
            </a:r>
          </a:p>
          <a:p xmlns:a="http://schemas.openxmlformats.org/drawingml/2006/main">
            <a:pPr algn="l">
              <a:defRPr sz="3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şiş sinfinin təsnifatı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144F9-7196-4BDE-826B-8BCD44D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EC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6ECE9"/>
                </a:solidFill>
                <a:latin typeface="Arial"/>
                <a:ea typeface="Arial"/>
                <a:cs typeface="Arial"/>
              </a:rPr>
              <a:t>Khan mikroarray datasetində sızmasız model seçimi və elmi nəzarət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99626-52BD-4288-8DFA-00F4C836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25717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B65B4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1ABEE-20DE-4673-9324-A8648955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6E0A3-4709-4271-9303-65A85D04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nümunəsi düzgün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459D5-4162-4C9C-8F45-88926C52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DA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DAD6"/>
                </a:solidFill>
                <a:latin typeface="Arial"/>
                <a:ea typeface="Arial"/>
                <a:cs typeface="Arial"/>
              </a:rPr>
              <a:t>Fərdi dərs layihəsi</a:t>
            </a:r>
          </a:p>
        </p:txBody>
      </p:sp>
    </p:spTree>
    <p:extLst>
      <p:ext uri="{BB962C8B-B14F-4D97-AF65-F5344CB8AC3E}">
        <p14:creationId xmlns:p14="http://schemas.microsoft.com/office/powerpoint/2010/main" val="1490614045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EED8506-9551-4AB2-9D97-780CD32F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Tədqiqat sualı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0F64E-73AE-40AF-AA42-A3A916A0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1B00E-37E2-4503-B313-0098FC39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2C82F-2834-4324-8EAB-D57BCDBD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63 nümunə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30839-4253-4904-BA20-DE65AF91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2308 ifadə xüsusiyyəti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6D36D-AD0D-4519-AA03-963481DC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44703-E984-42F2-9EF5-AA5AC971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39E57-8A7E-4B6E-9CFF-13DBF3FA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39347-BB74-4A0D-AA63-7D725BB7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9E56B9-2F3A-4B8E-9ED7-C9116BCB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F1813-DDB1-46FA-887C-E8A76AF8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46A35E-16A4-43B0-B527-C327E6F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F146D-FA32-4983-9A88-B23DA7E6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D5B5B-6FB7-4C9D-828A-EF3DE329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09657-37BB-4754-9C9A-6D54DCA8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66C49D-90BA-4DF7-B692-9CE1F94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77E11-D3D0-4F82-A2FD-86AD663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E2923-954E-4F7E-971C-38D17F1C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5CD11-973B-4C36-979E-168D2057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2C438-2764-4328-B0BF-50BAD520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41360-75EC-40DB-9FE7-18549C73D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7AAC11-3526-4AB9-9BF6-D4DA470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0E3FE-DAC4-4CE1-866B-3AB3167A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7657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282DD-F699-46AA-9E43-44BA3B19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93FCE-7D35-4D7D-9F3A-BE603699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BD0333-5B8D-4C1C-B895-5F28B1AE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88A27C-BF44-47A9-8FC4-61312E46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FDED27-5014-4E8A-9C52-B598C068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78F074-B2E4-40F8-9BBC-1002AFB1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14EFC-FF43-4EBB-A55B-BE81675A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14099E-51FD-4411-ABCF-1792F06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3FFD63-A82E-4A43-A2D6-822FD6B7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7185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7EF90C-41A8-400B-BEDE-4170764F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5729BE-1CD7-43D5-AE21-39C03B48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106871-C8BF-4D8F-91C6-8D6B1440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3FAE5D-2539-4FFF-92F0-887C8AB1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0EADC9-DDF4-459B-82D6-74C2BB4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A489E6-FBE9-4966-AE57-4B16E851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59D3A7-5F3E-4332-B5E8-BC92A18F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303E6B-CA4B-4F4E-B264-61A51E0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C06C90-7EE5-4B5C-85D2-617E69DC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67125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4014FD-3ECC-4D96-A2B9-E48E4226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688B9F-B80E-48E7-8CDD-86FE1807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C4EEAE-EF8C-4DE2-93CF-36889987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E6C632-286F-48D7-9D03-C3217AC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33F905-3A0E-4184-B533-2C8D806F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55541F-160D-4ABF-81A1-594B7929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963C63-9E16-453F-B7D7-FAA0DA8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23F010-3064-43DF-957E-291F71D3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06B7E9-2341-4C57-8152-0F23FB5F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62400"/>
            <a:ext cx="238125" cy="23812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D1A5D0-8C20-4F93-B49C-024DD116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A22A0E-DABC-4D3A-ACBA-48976628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D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7CAC41-D8DC-4BC5-B972-A80029ED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906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20 nümunə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702C54-BEAA-4D92-9B11-853994C3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19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Eyni 2308 xüsusiyyət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3F40407-75C1-4AC6-B66E-A7B6751A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241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83B11F-6631-4983-95D6-3E8E0693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241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440698-C60B-483F-BFFE-75EBC1AE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241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D71FD8-DCE1-4F79-BC25-1E3F96ED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241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7F6913-1116-4197-998B-36357B36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241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2B3824-3328-41EA-A6E6-A16792D3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241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90F9E4-3FA2-4105-96BE-90642B94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241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190EC2-9B8B-4C24-B998-5F82BCA3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861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9FED7F3-30A0-4568-9D48-3E60268C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861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257EDF-9731-499B-804E-4989464E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861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843930-7EF2-4A18-8E28-482AED54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861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A47B01F-E0ED-4BB0-8204-C0A79DFF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861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C32F5A-AEE8-4ACC-8ECD-2C82EB56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861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81892F-1CD0-4113-ABF0-34309F36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861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F8BEA4D-1699-48BD-A7C1-22F94770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480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64D8063-9882-41E9-B596-C7A0F425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480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12A204-A5F5-46D8-9276-6A9A066C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480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BBD53A9-9619-4F0E-950B-6F5C1ECD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480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F92168B-5B4E-4F27-8957-EF03D965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480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4BF5895-88A1-4A82-A60D-A8F2BFB8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480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8A6C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93265A-F7C6-444E-8D59-AF815661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4807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74C9B8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DEC9806-1E6E-45F8-AB93-4AB1EC24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00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8C9A01D-6129-46CE-9523-F7B4B6E7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00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955830-B7F7-424D-AB07-66C7E776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00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84BB5A7-4A1F-4F0C-A768-25DEA055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100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33B8BCD-621C-4DCD-BF6C-C5199B54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00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9FFF1EE-FA6D-495F-B5E3-3C7FE330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100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6B3225-FD0C-4C92-A2A8-AC9CD929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10025"/>
            <a:ext cx="295275" cy="295275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E7C86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F49793A-9C54-4EA8-AB75-5D35BF52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7675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ayrılmış test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5B926FC-9565-4624-9B41-9E5C60A5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13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Sual: training məlumatı ilə seçilən model test nümunələrinin dörd sinfini ayıra bilirmi?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BD2821B-7ED4-4286-9D98-5228D9FF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Sabit ISLP train/test bölgüsü qorunur</a:t>
            </a:r>
          </a:p>
        </p:txBody>
      </p:sp>
    </p:spTree>
    <p:extLst>
      <p:ext uri="{BB962C8B-B14F-4D97-AF65-F5344CB8AC3E}">
        <p14:creationId xmlns:p14="http://schemas.microsoft.com/office/powerpoint/2010/main" val="549396209"/>
      </p:ext>
    </p:extLst>
  </p:cSld>
  <p:transition spd="med" advClick="1">
    <p:push dir="l"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25E95-3249-49B7-8E1B-BDD6BC9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Dataset və sinif paylanması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B8180-F99B-470B-BCCA-CDB2181F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22A4D-D448-46F8-86B5-E825AE31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7239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3195effb29471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93092-805E-44BF-8FAB-C23D1C7A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Məlumat tipi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89F52-4EDB-49A9-AF9E-67E2031B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85950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8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Əvvəlcədən emal edilmiş mikroarray dəyərləri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2E9A6-FFAE-4D01-9663-26ECBF43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765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Raw RNA-seq count deyil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D49CE-AB24-46CC-AC5B-534AF4AC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B1A8F-E978-4AC3-9905-870E820A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667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Sinif adlarının biologiya xəritəsi paylanan fayllarda ayrıca təsdiqlənməyib. Buna görə 1–4 etiketləri saxlanır.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3370D-8FED-40A2-A885-EEE509D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Native chart, saxlanmış summary.json dəyərləri</a:t>
            </a:r>
          </a:p>
        </p:txBody>
      </p:sp>
    </p:spTree>
    <p:extLst>
      <p:ext uri="{BB962C8B-B14F-4D97-AF65-F5344CB8AC3E}">
        <p14:creationId xmlns:p14="http://schemas.microsoft.com/office/powerpoint/2010/main" val="732346791"/>
      </p:ext>
    </p:extLst>
  </p:cSld>
  <p:transition spd="med" advClick="1">
    <p:wipe dir="r"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8E456-4AF7-4081-9801-E03FE175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Yüksək ölçülülük problemi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A1FF3-CAE8-4E4B-95F7-B3E5197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46B0B-AEB6-4687-9B80-54F2EE3D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60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EEBB5-9E43-4756-81BA-5DFE0E0A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F2C96D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2C96D"/>
                </a:solidFill>
                <a:latin typeface="Arial"/>
                <a:ea typeface="Arial"/>
                <a:cs typeface="Arial"/>
              </a:rPr>
              <a:t>36.6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3AE94-E385-4FC9-A603-DCA506A9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nümunəsinə düşən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xüsusiyyət sayı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D2C0E-2AEB-4708-968D-8E399322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D2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8D2D3"/>
                </a:solidFill>
                <a:latin typeface="Arial"/>
                <a:ea typeface="Arial"/>
                <a:cs typeface="Arial"/>
              </a:rPr>
              <a:t>2308 xüsusiyyət / 63 nümunə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DAF42-8CDA-482E-B215-4EB62EF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71600"/>
            <a:ext cx="1905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0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53477-EA98-4FAC-A86C-8EE1349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478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 nisbət nə yaradır?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B8E72-FDA8-483E-9148-8D702F5F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3837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Təsadüfi korrelyasiyalar çoxalır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E2209-0298-49B8-B6B4-3D29F6D1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14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 training məlumatını asanlıqla əzbərləyə bilər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69513-E5D4-4876-8FC3-8D11ED4F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 selection validation fold-u görərsə nəticə şişər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DBBC6-01CF-46A9-BED6-6C675486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Kiçik test dəsti qeyri-müəyyənliyi artırır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52255-7CEB-4212-98EA-0BB8CA13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C6C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C6C8"/>
                </a:solidFill>
                <a:latin typeface="Arial"/>
                <a:ea typeface="Arial"/>
                <a:cs typeface="Arial"/>
              </a:rPr>
              <a:t>p = 2308, ntrain = 63</a:t>
            </a:r>
          </a:p>
        </p:txBody>
      </p:sp>
    </p:spTree>
    <p:extLst>
      <p:ext uri="{BB962C8B-B14F-4D97-AF65-F5344CB8AC3E}">
        <p14:creationId xmlns:p14="http://schemas.microsoft.com/office/powerpoint/2010/main" val="235194634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E17C25-9377-484D-972D-0D94A4A8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Training və test arasında sərhəd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2CE8B-E8D6-4B11-96D1-BBFD3F9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273C3-4651-45FA-833B-59E4CA95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282E4-8BAB-4377-9C00-8B8F264D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426720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9050">
            <a:solidFill>
              <a:srgbClr val="74C9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F81D1-5B37-4CD8-B3EE-BDD70EDF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954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C1241-712A-43EE-8E48-0023840D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336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63 nümunə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787CC-144C-4448-9AF0-05A7F5CD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62F"/>
                </a:solidFill>
                <a:latin typeface="Arial"/>
                <a:ea typeface="Arial"/>
                <a:cs typeface="Arial"/>
              </a:rPr>
              <a:t>Model seçimi</a:t>
            </a:r>
          </a:p>
          <a:p xmlns:a="http://schemas.openxmlformats.org/drawingml/2006/main">
            <a:pPr algn="l">
              <a:defRPr sz="1650" b="0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62F"/>
                </a:solidFill>
                <a:latin typeface="Arial"/>
                <a:ea typeface="Arial"/>
                <a:cs typeface="Arial"/>
              </a:rPr>
              <a:t>Feature selection</a:t>
            </a:r>
          </a:p>
          <a:p xmlns:a="http://schemas.openxmlformats.org/drawingml/2006/main">
            <a:pPr algn="l">
              <a:defRPr sz="1650" b="0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62F"/>
                </a:solidFill>
                <a:latin typeface="Arial"/>
                <a:ea typeface="Arial"/>
                <a:cs typeface="Arial"/>
              </a:rPr>
              <a:t>Standartlaşdırma</a:t>
            </a:r>
          </a:p>
          <a:p xmlns:a="http://schemas.openxmlformats.org/drawingml/2006/main">
            <a:pPr algn="l">
              <a:defRPr sz="1650" b="0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2262F"/>
                </a:solidFill>
                <a:latin typeface="Arial"/>
                <a:ea typeface="Arial"/>
                <a:cs typeface="Arial"/>
              </a:rPr>
              <a:t>SVM uyğunlaşdırması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008A9-0217-48C2-9E0F-622D2B84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200150"/>
            <a:ext cx="152400" cy="447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65B4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5967B-C8EE-4B9F-B430-C3B7C22B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626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TEST SƏRHƏDİ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93547-A26D-4373-A1EF-EC3D2EAB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426720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BEFEA"/>
          </a:solidFill>
          <a:ln xmlns:a="http://schemas.openxmlformats.org/drawingml/2006/main" w="19050">
            <a:solidFill>
              <a:srgbClr val="E58A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466D0-711F-40E7-9B36-7BD7C98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HELD-OUT 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E6A18-658E-4171-A47E-D54E9EEF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336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20 nümunə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12BA1-D3E3-4303-A8D6-013D0261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Yalnız yekun model hazır olduqdan sonra açılır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77C46-FEA4-4E66-BB36-26720BA6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Bir dəfəlik qiymətləndirmə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58310-88B8-403B-A391-BFB29AF1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Test balına görə grid dəyişdirilməyib</a:t>
            </a:r>
          </a:p>
        </p:txBody>
      </p:sp>
    </p:spTree>
    <p:extLst>
      <p:ext uri="{BB962C8B-B14F-4D97-AF65-F5344CB8AC3E}">
        <p14:creationId xmlns:p14="http://schemas.microsoft.com/office/powerpoint/2010/main" val="1064739637"/>
      </p:ext>
    </p:extLst>
  </p:cSld>
  <p:transition spd="med" advClick="1">
    <p:push dir="l"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AC364-2894-4884-9D2B-4F8E2130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Məlumat sızması necə yaranır?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EAB75-6531-4492-A6A0-9E37BA54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3B935-B60A-4CEA-8CA8-24B41598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453D1-1093-415A-8EDD-9098D787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906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3F4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3F4E"/>
                </a:solidFill>
                <a:latin typeface="Arial"/>
                <a:ea typeface="Arial"/>
                <a:cs typeface="Arial"/>
              </a:rPr>
              <a:t>Sızmalı yanaşma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11565-2512-4BE8-9109-CEDF968A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4095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9050">
            <a:solidFill>
              <a:srgbClr val="E7A1A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4FEBA-59E0-4A1B-9DB2-7E2C8CB5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Bütün data ilə feature 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BFF31-77D5-4D2A-987C-3BF0E48B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Validation nümunələrinin siqnalı seçilmiş xüsusiyyətlərə keçir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A5274-F339-4CD8-985F-121759D5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257300"/>
            <a:ext cx="19050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B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20605-93BE-4451-B737-8486CE9C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Bu layihənin yanaşması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9FDF6-ABF2-4C0A-8BAF-44C39F1B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286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74C9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32EA8-C9E1-4EC3-B70B-FD94971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145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Training fold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1CE22-E363-4EAF-9606-18F9E555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286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8EFEA"/>
          </a:solidFill>
          <a:ln xmlns:a="http://schemas.openxmlformats.org/drawingml/2006/main" w="9525">
            <a:solidFill>
              <a:srgbClr val="74C9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8FBF3-EEF6-4EEB-89FE-21A45BA6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Fold daxilində feature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E3D4D-376F-4612-84CB-C7E36375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4286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9525">
            <a:solidFill>
              <a:srgbClr val="74C9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6D96F-C61D-47AD-8FBF-5173F4BC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Validation fold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968618-D487-44DE-8E33-C80E4854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Hər fold yeni pipeline uyğunlaşdırır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D7931-E2DC-4F1F-AE64-5E517F25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Pipeline: VarianceThreshold, SelectKBest, StandardScaler, LinearSVC</a:t>
            </a:r>
          </a:p>
        </p:txBody>
      </p:sp>
    </p:spTree>
    <p:extLst>
      <p:ext uri="{BB962C8B-B14F-4D97-AF65-F5344CB8AC3E}">
        <p14:creationId xmlns:p14="http://schemas.microsoft.com/office/powerpoint/2010/main" val="539192866"/>
      </p:ext>
    </p:extLst>
  </p:cSld>
  <p:transition spd="med" advClick="1">
    <p:wipe dir="r"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718D26-D554-4929-88F3-D329EED7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Model pipeline-ı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255BA-3CB5-4E02-84F8-0A9F4386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80D39-C8C7-431F-8C1E-1D5D1A88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3AF7D-6AD8-4D15-8ED7-326990E0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962150" cy="3105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A419C-5A52-43AC-8AE2-61A3E303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3F65C-4EBA-45BA-A031-8446D1BE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Variance filtri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92B40-11B8-4EAC-9E71-80261687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27A0E-84FE-4087-8556-EA727003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Sabit sütunları çıxarır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5B6C2-6528-4ED8-84E7-5A134F8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95450"/>
            <a:ext cx="1962150" cy="3105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4950B-1D1B-4BBF-9FF5-C1F4DB0F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85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333A7-DE6F-431C-BAC6-E0CE3F4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ANOVA seçimi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EFB53-A1B8-496C-A216-2A5F3226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5280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2FE4B-FC95-435D-A713-FDE3CA44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623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k = 25, 100, 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7E461-1485-4C0D-825E-B53AF7A7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962150" cy="3105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B0950A-6DFA-4A9F-849C-2FCF3519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85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8399D-CBFC-4050-863B-746CD1C8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Standartlaşdırma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D73BA-1E18-42C1-AC8C-C172A797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5280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6F7DF-D02E-4052-8703-57B51892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Fold daxilində scale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EA35B3-D32C-45DB-A23F-E743BC2B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95450"/>
            <a:ext cx="1962150" cy="3105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BA384-2D7B-428F-BA33-810A1223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85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02BC24-6E4B-4516-A0E4-5177ED0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574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Linear SVM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0EA90F-9B04-48A0-BDE9-98B58625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BA6A0-1FA8-47B0-AB2F-C48DBE37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C = 0.01, 0.1,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CFBFFB-2DF8-4535-8DEA-0295C1D4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695450"/>
            <a:ext cx="1962150" cy="3105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0C3B46"/>
          </a:solidFill>
          <a:ln xmlns:a="http://schemas.openxmlformats.org/drawingml/2006/main" w="19050">
            <a:solidFill>
              <a:srgbClr val="0C3B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892CE-FD47-4B05-BB02-CFADA87C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859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40E34-720A-4502-9790-18171606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57450"/>
            <a:ext cx="158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Balanced accuracy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B8D5F-449E-4C6A-AC98-4BDF22A4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52800"/>
            <a:ext cx="158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7636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B904B-AE37-4E22-9BC1-0EE92D52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562350"/>
            <a:ext cx="1581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FD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7DFDD"/>
                </a:solidFill>
                <a:latin typeface="Arial"/>
                <a:ea typeface="Arial"/>
                <a:cs typeface="Arial"/>
              </a:rPr>
              <a:t>5 qat stratified CV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00A395-A86C-4F21-9608-86600C3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57800"/>
            <a:ext cx="830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GridSearchCV bütün bu addımları birlikdə seçir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8843FE-B87F-471D-B209-3BFC6884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random_state = 42, n_jobs = 1</a:t>
            </a:r>
          </a:p>
        </p:txBody>
      </p:sp>
    </p:spTree>
    <p:extLst>
      <p:ext uri="{BB962C8B-B14F-4D97-AF65-F5344CB8AC3E}">
        <p14:creationId xmlns:p14="http://schemas.microsoft.com/office/powerpoint/2010/main" val="1802747879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C7BDC-318F-4A51-8825-5340B6FE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Model seçimi üçün 3 × 3 grid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95C75-6F2F-4B27-A4B9-450AAD86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E3BB0-CD24-425D-8678-AB1BDBE9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D4272-F7B8-417A-88F2-352C8372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29540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Seçilən xüsusiyyət sayı, 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B84F27-FC1F-43C9-890F-C229EDF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AAD06-01BB-4951-846B-DF0F4944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49B3F-29AF-4D11-B679-DE441565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500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E0D22-DC06-4D46-BB96-D4CEA067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0DA37-FE39-4B4D-8F28-4F88DB06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65B43"/>
          </a:solidFill>
          <a:ln xmlns:a="http://schemas.openxmlformats.org/drawingml/2006/main" w="19050">
            <a:solidFill>
              <a:srgbClr val="B65B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FCFB0-AF9D-41EF-A4BC-64EF627C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574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C8F7F-B10E-4278-8411-0D42EF82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A7698-BA7C-44A9-AEA1-5E510C6F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574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4E3A7-E008-47B1-AEA0-C69F5220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050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2DC9E-B477-41CF-A6E4-FB4E7D86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574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0.99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D067F-7EE9-45EA-9221-D0550B62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C = 0.1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534D4-0F7E-4F67-944F-281601E7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3733A-E74F-49D2-907D-17AF425D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242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D8821-2835-4120-A94A-5D34F004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718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4A3496-4BF3-4106-9484-AC65CF73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242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88D11-54BD-4D84-848A-DC8A8549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FA94D-A2FF-41F9-B313-C163F72B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242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0.99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2D40B-00C8-432A-B474-48CA803A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1695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C = 1.0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6F7640-1464-4DC7-998D-DDBBB9AA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386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439EF-51B2-495A-B574-179BF2CE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910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6A3309-25E0-45DF-8439-C6B16BB5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386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9D801D-2D4B-4F1A-BFB7-1F2B4A7A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910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338536-75FB-4AC3-A6AF-D268012D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38650"/>
            <a:ext cx="1428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ECF5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A07C2F-5EE9-42C3-B855-59F0BF97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91050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0.99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4D1B2-BDD3-4730-A689-0B05CDA0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05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56E"/>
                </a:solidFill>
                <a:latin typeface="Arial"/>
                <a:ea typeface="Arial"/>
                <a:cs typeface="Arial"/>
              </a:rPr>
              <a:t>balanced accuracy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A7186A-2A8C-46BD-9D6F-1B801E25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57450"/>
            <a:ext cx="2000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k = 25</a:t>
            </a:r>
          </a:p>
          <a:p xmlns:a="http://schemas.openxmlformats.org/drawingml/2006/main">
            <a:pPr algn="l">
              <a:defRPr sz="2325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C = 0.01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7F9CB-4597-4DDA-8C13-0DFEFD57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290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2262F"/>
                </a:solidFill>
                <a:latin typeface="Arial"/>
                <a:ea typeface="Arial"/>
                <a:cs typeface="Arial"/>
              </a:rPr>
              <a:t>Bir neçə kombinasiya 1.00 bal alıb. GridSearchCV deterministik sıralamada ilk maksimumu seçib.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805152-E2AB-460E-8DB7-C37E9D3E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CV balı model seçimi üçündür, qərəzsiz yekun performans qiyməti deyil</a:t>
            </a:r>
          </a:p>
        </p:txBody>
      </p:sp>
    </p:spTree>
    <p:extLst>
      <p:ext uri="{BB962C8B-B14F-4D97-AF65-F5344CB8AC3E}">
        <p14:creationId xmlns:p14="http://schemas.microsoft.com/office/powerpoint/2010/main" val="2077203552"/>
      </p:ext>
    </p:extLst>
  </p:cSld>
  <p:transition spd="med" advClick="1">
    <p:push dir="l"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55C45-6D05-414F-AF38-C8F3A50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Niyə balanced accuracy?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2A4FB-B0DB-462B-90FC-6D0E612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D68B9-B578-46EC-B1AA-6B547481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60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F94052-2DF8-4751-9CC3-CE350DE7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Hər sinfin recall dəyəri eyni çəki alır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85D23-E57B-4F3C-A413-971FF4A9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C9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C96D"/>
                </a:solidFill>
                <a:latin typeface="Arial"/>
                <a:ea typeface="Arial"/>
                <a:cs typeface="Arial"/>
              </a:rPr>
              <a:t>BA = (recall₁ + recall₂ + recall₃ + recall₄)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4473E-7BCE-4B60-B77C-4F935DB7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90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Sinif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FD386-E14F-4F7D-A5E6-9232FE82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90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BE7AB-C36E-4A67-96A5-7BD23B17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390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D5307-58D7-4ACA-96C0-31EBAC02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47850"/>
            <a:ext cx="3181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4A5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DDD5FD-8674-4B01-9DBB-B9C1F091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1BC7E-6072-4590-875B-7EC9B14E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240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44644-4006-4E7B-9C86-12112345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9240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B318A-7647-4F7F-AD70-D4D111B8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14600"/>
            <a:ext cx="3181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F4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CD177-6291-4E0E-8204-CF992EA5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7ED3E-ED0E-40C9-A7B9-8D709482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908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27635-646F-495A-80CA-12174E49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5908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D7843-2F35-4C9A-9575-B6E3E9A9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3181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4A5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0A285-1C53-4B36-9EE4-31CB6F8F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7A8BC-FFA1-4501-BFC2-577298F3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6BC24-ED73-496D-B40B-429860EE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22011-0A0F-4C16-960C-9C4CBFB3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81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F4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69238-3FF1-4D18-8D3C-6FA9E33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6AAAE9-43C5-4468-883A-D8E220C8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24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1E085-D3AC-486C-9EC7-5A1616CB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243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58C093-E9F1-4D07-B3B9-11584B5A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8A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8A6C"/>
                </a:solidFill>
                <a:latin typeface="Arial"/>
                <a:ea typeface="Arial"/>
                <a:cs typeface="Arial"/>
              </a:rPr>
              <a:t>Most-frequent dummy model balanced accuracy = 0.25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BE77B6-B09B-4226-9101-4A045354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619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C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DCDE"/>
                </a:solidFill>
                <a:latin typeface="Arial"/>
                <a:ea typeface="Arial"/>
                <a:cs typeface="Arial"/>
              </a:rPr>
              <a:t>Dörd sinifli problem üçün bu dəyər təsadüfi başlanğıc səviyyəsini göstərir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3C2DE8-1509-45CD-8AD1-5EE50032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C6C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C6C8"/>
                </a:solidFill>
                <a:latin typeface="Arial"/>
                <a:ea typeface="Arial"/>
                <a:cs typeface="Arial"/>
              </a:rPr>
              <a:t>Əsas seçim metriki: balanced accuracy</a:t>
            </a:r>
          </a:p>
        </p:txBody>
      </p:sp>
    </p:spTree>
    <p:extLst>
      <p:ext uri="{BB962C8B-B14F-4D97-AF65-F5344CB8AC3E}">
        <p14:creationId xmlns:p14="http://schemas.microsoft.com/office/powerpoint/2010/main" val="579665764"/>
      </p:ext>
    </p:extLst>
  </p:cSld>
  <p:transition spd="med" advClick="1">
    <p:wipe dir="r"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13FCA-EE74-48D3-B0B0-DA8A6E3D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Seçilmiş modelin nəticəsi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FC7BD-3289-43E1-989C-F3406549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E9FCD-F047-47E3-91FF-BAA8FF96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8881897ab4814"/>
          <a:stretch xmlns:a="http://schemas.openxmlformats.org/drawingml/2006/main"/>
        </p:blipFill>
        <p:spPr>
          <a:xfrm xmlns:a="http://schemas.openxmlformats.org/drawingml/2006/main">
            <a:off x="590550" y="1555296"/>
            <a:ext cx="6858000" cy="3918857"/>
          </a:xfrm>
          <a:prstGeom xmlns:a="http://schemas.openxmlformats.org/drawingml/2006/main" prst="roundRect">
            <a:avLst>
              <a:gd name="adj" fmla="val 349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3A783-D2E5-4F39-AABE-FF968E4F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478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0.9500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62AEF9-B418-4AB5-8011-CDF1955F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test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F38B7-A2CA-4CF1-A6CD-A07241BF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0.9583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1930DF-7F52-4142-96C0-32F72DFC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861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test balanced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C1944-9B7B-40C3-98F0-30E09FF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0.9545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D0B4B-3D7F-40C0-A059-409EEDB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test macro 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915FCB-7D7F-4D54-B1EA-19047AA3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Nəticə: 19 / 20 test nümunəsi düzgün</a:t>
            </a:r>
          </a:p>
        </p:txBody>
      </p:sp>
    </p:spTree>
    <p:extLst>
      <p:ext uri="{BB962C8B-B14F-4D97-AF65-F5344CB8AC3E}">
        <p14:creationId xmlns:p14="http://schemas.microsoft.com/office/powerpoint/2010/main" val="672868322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009ED-9A40-4D42-B740-B294FDD0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Confusion matrix və yeganə səhv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685C6-3803-41B7-B896-155648614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4E83-8844-4546-AF6B-C191BB94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6d19311a34528"/>
          <a:stretch xmlns:a="http://schemas.openxmlformats.org/drawingml/2006/main"/>
        </p:blipFill>
        <p:spPr>
          <a:xfrm xmlns:a="http://schemas.openxmlformats.org/drawingml/2006/main">
            <a:off x="809625" y="1143000"/>
            <a:ext cx="6057900" cy="5048250"/>
          </a:xfrm>
          <a:prstGeom xmlns:a="http://schemas.openxmlformats.org/drawingml/2006/main" prst="roundRect">
            <a:avLst>
              <a:gd name="adj" fmla="val 301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15A47-0BC6-4609-9A5F-4C53AB9E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3333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BEFEA"/>
          </a:solidFill>
          <a:ln xmlns:a="http://schemas.openxmlformats.org/drawingml/2006/main" w="19050">
            <a:solidFill>
              <a:srgbClr val="E58A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A564E-2B24-4A3E-B76F-AEC1F47F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288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test_15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9BEED-BAFF-4B68-A609-A7324D8B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Həqiqi sinif 2</a:t>
            </a:r>
          </a:p>
          <a:p xmlns:a="http://schemas.openxmlformats.org/drawingml/2006/main">
            <a:pPr algn="l">
              <a:defRPr sz="1725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Proqnoz sinif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3A6C38-B116-4AD2-8CD1-913DDE088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Sinif 1 və 3 üçün recall 1.00-dır. Sinif 2 üçün recall 5/6 = 0.8333-dür.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A51F6-B871-4694-9052-9E4D09CC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Bir səhv nümunə klinik səbəb izahı vermir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62BE5-087C-41CF-A8F5-7212C87E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Sətirlər həqiqi, sütunlar proqnoz etiketləridir</a:t>
            </a:r>
          </a:p>
        </p:txBody>
      </p:sp>
    </p:spTree>
    <p:extLst>
      <p:ext uri="{BB962C8B-B14F-4D97-AF65-F5344CB8AC3E}">
        <p14:creationId xmlns:p14="http://schemas.microsoft.com/office/powerpoint/2010/main" val="25523222"/>
      </p:ext>
    </p:extLst>
  </p:cSld>
  <p:transition spd="med" advClick="1">
    <p:push dir="l"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0482F1-06CF-4322-A4B9-77E478D9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Etiketləri qarışdıranda nəticə itir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3E8B2-1754-4B7C-A8E6-1767EF82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D3B586-1E7B-4261-B31F-F9CE6D8A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1270a93fd4a20"/>
          <a:stretch xmlns:a="http://schemas.openxmlformats.org/drawingml/2006/main"/>
        </p:blipFill>
        <p:spPr>
          <a:xfrm xmlns:a="http://schemas.openxmlformats.org/drawingml/2006/main">
            <a:off x="571500" y="1576388"/>
            <a:ext cx="7905750" cy="3952875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A277E-7CFB-4B9C-8CD8-BE4B9642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811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C83F4E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C83F4E"/>
                </a:solidFill>
                <a:latin typeface="Arial"/>
                <a:ea typeface="Arial"/>
                <a:cs typeface="Arial"/>
              </a:rPr>
              <a:t>0.990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D5CD1-4B02-48B0-85AB-DED25323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real nested BA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D0CEC-B7FF-4B19-BF4E-62EA0979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5275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0.242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A179D-0761-4C4E-BB34-32D74E1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81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null orta BA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0F7B4-7D2B-4C2D-A449-D1343341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386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p = 0.01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204BE-13B8-46DC-B3F5-A9733A76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482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99 permutation ilə mümkün minimum həll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38F4A-A1D9-4CE6-910E-08BEBBA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Test hissəsi açılmadan aparılan post-hoc training auditi</a:t>
            </a:r>
          </a:p>
        </p:txBody>
      </p:sp>
    </p:spTree>
    <p:extLst>
      <p:ext uri="{BB962C8B-B14F-4D97-AF65-F5344CB8AC3E}">
        <p14:creationId xmlns:p14="http://schemas.microsoft.com/office/powerpoint/2010/main" val="1074030290"/>
      </p:ext>
    </p:extLst>
  </p:cSld>
  <p:transition spd="med" advClick="1">
    <p:wipe dir="r"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31E4F-C306-4C67-93EE-205CEBC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Seçilmiş xüsusiyyətlərin sabitliyi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CE73E-257F-4693-94A4-4B640D7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74405-06C5-4897-B39C-2AA7487B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a3df01b71f418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C216B-8C09-4D1B-A118-ECA39202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5735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B65B4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65B43"/>
                </a:solidFill>
                <a:latin typeface="Arial"/>
                <a:ea typeface="Arial"/>
                <a:cs typeface="Arial"/>
              </a:rPr>
              <a:t>0.257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A5E28-EF66-4EF8-AE0F-2923912F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336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orta pairwise Jaccard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89FBE-0EB7-4972-A6DB-489A3AEC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34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32615-AFB9-4824-97E0-52B9A3DB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571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2262F"/>
                </a:solidFill>
                <a:latin typeface="Arial"/>
                <a:ea typeface="Arial"/>
                <a:cs typeface="Arial"/>
              </a:rPr>
              <a:t>Fold-lar eyni ölçüdə xüsusiyyət dəsti seçmir. Seçilən probe siyahısı biomarker paneli kimi təqdim edilə bilməz.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2CDF3-250C-4779-BB2A-9F4FC41B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V1..V2308 dataset sütunlarıdır, təsdiqlənmiş gen simvolları deyil</a:t>
            </a:r>
          </a:p>
        </p:txBody>
      </p:sp>
    </p:spTree>
    <p:extLst>
      <p:ext uri="{BB962C8B-B14F-4D97-AF65-F5344CB8AC3E}">
        <p14:creationId xmlns:p14="http://schemas.microsoft.com/office/powerpoint/2010/main" val="195629972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49F14-DC75-40BC-98FA-E6DAEBE6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Təkrar icra və audit izi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BF445-AF27-4035-BE3D-0E9D7CC0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BA70C-D4BC-4E62-A65F-D57AA825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560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68F64-4370-4D4B-921C-6C9DA48C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714375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3F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biolab run expression-ml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26C86-4C0E-49A6-8F3A-BA89CBC3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run.json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DADF2-2EEF-44A3-AE5C-93AF3119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və output hash-ləri, parametr, versiya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5C7E5-B19C-464F-8BA0-0160FCAB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summary.json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DF94E-0ACE-4BBB-8881-8CD9A3FE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 ölçüsü və əsas metriklər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03476-B45B-4B34-9468-EDDF677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predictions.csv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B6BD4-4376-40EF-9302-C86609B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95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 nümunə üzrə həqiqi və proqnoz etiket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2BAA1-1524-4515-94E0-AD66EA9A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cv_results.csv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E75FB-12C6-4EF1-8882-A505EFE1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 grid kombinasiyasının fold nəticələri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55AAE-4FED-42F3-8836-13427D9F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28750"/>
            <a:ext cx="2343150" cy="38290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7ACCF-7383-4B7F-9DF7-D663A2F1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95450"/>
            <a:ext cx="1847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Hər icra yeni qovluğa yazılır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1D205-5F7A-4638-A2F7-C470BF1D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71800"/>
            <a:ext cx="2114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results/runs/</a:t>
            </a:r>
          </a:p>
          <a:p xmlns:a="http://schemas.openxmlformats.org/drawingml/2006/main">
            <a:pPr algn="ctr">
              <a:defRPr sz="127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gene-expression-ml/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6D649D-09E5-4245-A8D6-610899D7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71950"/>
            <a:ext cx="1847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Əvvəlki nəticə üzərinə yazılmır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B6590-6B45-4D69-8D36-6B25B892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C6C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C6C8"/>
                </a:solidFill>
                <a:latin typeface="Arial"/>
                <a:ea typeface="Arial"/>
                <a:cs typeface="Arial"/>
              </a:rPr>
              <a:t>İlk icra pinned CSV fayllarını endirir və SHA-256 yoxlayır</a:t>
            </a:r>
          </a:p>
        </p:txBody>
      </p:sp>
    </p:spTree>
    <p:extLst>
      <p:ext uri="{BB962C8B-B14F-4D97-AF65-F5344CB8AC3E}">
        <p14:creationId xmlns:p14="http://schemas.microsoft.com/office/powerpoint/2010/main" val="1797772864"/>
      </p:ext>
    </p:extLst>
  </p:cSld>
  <p:transition spd="med" advClick="1">
    <p:push dir="l"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42F52-3B5A-4DC3-9A3B-C5176B13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2B3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82B36"/>
                </a:solidFill>
                <a:latin typeface="Arial"/>
                <a:ea typeface="Arial"/>
                <a:cs typeface="Arial"/>
              </a:rPr>
              <a:t>Sübutun sərhədi və növbəti eksperiment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D3E03-3ACA-4EBE-AEB5-12591BE1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000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E12DF-ABBB-44E5-BDE4-075AA9EC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6DDA6-5888-47D3-BA32-AD58AF96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49530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B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528C0-E4BF-4638-B785-AFB13328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7C8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7C86"/>
                </a:solidFill>
                <a:latin typeface="Arial"/>
                <a:ea typeface="Arial"/>
                <a:cs typeface="Arial"/>
              </a:rPr>
              <a:t>Bu analiz nəyi göstərir?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5EAC0-4E69-4DB2-A9DD-9F732CF5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2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62F"/>
                </a:solidFill>
                <a:latin typeface="Arial"/>
                <a:ea typeface="Arial"/>
                <a:cs typeface="Arial"/>
              </a:rPr>
              <a:t>Tarixi benchmark-da siniflər arasında güclü proqnoz siqnalı var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176CA-B3A5-441A-83FE-89FECD0D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Nəticə ayrılmış 20 test nümunəsində 19 düzgün proqnoza çatır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6A860-396C-4947-B787-BAC3958E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6E"/>
                </a:solidFill>
                <a:latin typeface="Arial"/>
                <a:ea typeface="Arial"/>
                <a:cs typeface="Arial"/>
              </a:rPr>
              <a:t>Permutation nəzarəti training etiketləri ilə əlaqənin təsadüfi olmadığını dəstəkləyir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0981C3-3C3F-4E67-8F46-D7479CAD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5334000" cy="42862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0C3B4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210FD-467C-4878-8FCE-E88B3DE1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573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Növbəti ciddi sınaq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B3D49-D7CF-4763-A059-2783CB04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Annotasiyalı və batch metadata-sı olan müstəqil cohort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EA918A-BD6C-4F01-AEE2-45983B88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2E7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2E7E5"/>
                </a:solidFill>
                <a:latin typeface="Arial"/>
                <a:ea typeface="Arial"/>
                <a:cs typeface="Arial"/>
              </a:rPr>
              <a:t>Preprocessing qaydası əvvəlcədən müəyyən edilir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E4103-7D02-4D8F-8CE8-4AAAE1FB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005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2E7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2E7E5"/>
                </a:solidFill>
                <a:latin typeface="Arial"/>
                <a:ea typeface="Arial"/>
                <a:cs typeface="Arial"/>
              </a:rPr>
              <a:t>Əsas metrik və qəbul həddi protokolda qeyd olunur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CB3FDD-1EFB-467E-AF37-E525F308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80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08087"/>
                </a:solidFill>
                <a:latin typeface="Arial"/>
                <a:ea typeface="Arial"/>
                <a:cs typeface="Arial"/>
              </a:rPr>
              <a:t>Klinik istifadə, erkən diaqnostika və biomarker iddiası çıxarılmır</a:t>
            </a:r>
          </a:p>
        </p:txBody>
      </p:sp>
    </p:spTree>
    <p:extLst>
      <p:ext uri="{BB962C8B-B14F-4D97-AF65-F5344CB8AC3E}">
        <p14:creationId xmlns:p14="http://schemas.microsoft.com/office/powerpoint/2010/main" val="2011056685"/>
      </p:ext>
    </p:extLst>
  </p:cSld>
  <p:transition spd="med" advClick="1">
    <p:wipe dir="r"/>
  </p:transition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82B36"/>
            </a:gs>
            <a:gs pos="100000">
              <a:srgbClr val="104D57"/>
            </a:gs>
          </a:gsLst>
          <a:lin ang="72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61372-A878-43E6-B28C-FDCAB5DB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Yekun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12F75-BDBD-4624-80D1-1DF731EA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Güclü nəticə düzgün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validasiya ilə mənalıdır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6A9BF-D283-489C-81A8-A417A6F9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697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7EC7B-13C5-4BFF-892A-4D6EECEA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9C856-CA54-4C8A-A194-244562BA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 xüsusiyyət və balanced linear SVM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4D64C-83DB-4F91-951B-B5B5E7BD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48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Nəticə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79B86-8D92-4A9E-BC59-66D4A4F7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481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 / 20 test nümunəsi düzgün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4C07C-28C7-4D28-AF6C-86DFF699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48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4C9B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74C9B8"/>
                </a:solidFill>
                <a:latin typeface="Arial"/>
                <a:ea typeface="Arial"/>
                <a:cs typeface="Arial"/>
              </a:rPr>
              <a:t>Nəzarət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760A4-AC7C-4B1D-93E2-38777A9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481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Nested BA 0.99, p = 0.01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E702F-998A-49B2-B8D6-C39D1624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B65B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868EF-1836-4C0C-A5D5-E2AA2335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53050"/>
            <a:ext cx="1024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Sinif sualı: yeni cohort nəticəni təkrarlamasa, ilk olaraq hansı addımı audit edərdiniz?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2024CB-E0A8-42C5-921E-F5F58974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7C6C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7C6C8"/>
                </a:solidFill>
                <a:latin typeface="Arial"/>
                <a:ea typeface="Arial"/>
                <a:cs typeface="Arial"/>
              </a:rPr>
              <a:t>Layihə paketi: projects/showcase/khan-gene-expression-classifier</a:t>
            </a:r>
          </a:p>
        </p:txBody>
      </p:sp>
    </p:spTree>
    <p:extLst>
      <p:ext uri="{BB962C8B-B14F-4D97-AF65-F5344CB8AC3E}">
        <p14:creationId xmlns:p14="http://schemas.microsoft.com/office/powerpoint/2010/main" val="1028743980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2026-09-29T04:10:53.9530000Z</dcterms:created>
  <dcterms:modified xsi:type="dcterms:W3CDTF">2026-09-29T04:10:53.9530000Z</dcterms:modified>
</coreProperties>
</file>