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7a86fde64a94ee4" /><Relationship Type="http://schemas.openxmlformats.org/officeDocument/2006/relationships/extended-properties" Target="/docProps/app.xml" Id="R08652e1667904f6f" /><Relationship Type="http://schemas.openxmlformats.org/officeDocument/2006/relationships/officeDocument" Target="/ppt/presentation.xml" Id="R541388155e914691" /></Relationships>
</file>

<file path=ppt/presentation.xml><?xml version="1.0" encoding="utf-8"?>
<p:presentation xmlns:p="http://schemas.openxmlformats.org/presentationml/2006/main">
  <p:sldMasterIdLst>
    <p:sldMasterId xmlns:r="http://schemas.openxmlformats.org/officeDocument/2006/relationships" id="2147483648" r:id="R64f5973ad12c43f3"/>
  </p:sldMasterIdLst>
  <p:notesMasterIdLst>
    <p:notesMasterId xmlns:r="http://schemas.openxmlformats.org/officeDocument/2006/relationships" r:id="Rfe6259cffc9b40c5"/>
  </p:notesMasterIdLst>
  <p:sldIdLst>
    <p:sldId xmlns:r="http://schemas.openxmlformats.org/officeDocument/2006/relationships" id="256" r:id="R43f4b0db600e4f85"/>
    <p:sldId xmlns:r="http://schemas.openxmlformats.org/officeDocument/2006/relationships" id="257" r:id="Rec2eb63f93ba4216"/>
    <p:sldId xmlns:r="http://schemas.openxmlformats.org/officeDocument/2006/relationships" id="258" r:id="R5700bb9f31ca43c6"/>
    <p:sldId xmlns:r="http://schemas.openxmlformats.org/officeDocument/2006/relationships" id="259" r:id="R22d27441f30f4818"/>
    <p:sldId xmlns:r="http://schemas.openxmlformats.org/officeDocument/2006/relationships" id="260" r:id="Ref4c75d965094090"/>
    <p:sldId xmlns:r="http://schemas.openxmlformats.org/officeDocument/2006/relationships" id="261" r:id="Rfda2573c73d548c4"/>
    <p:sldId xmlns:r="http://schemas.openxmlformats.org/officeDocument/2006/relationships" id="262" r:id="Rf985780f5e764d27"/>
    <p:sldId xmlns:r="http://schemas.openxmlformats.org/officeDocument/2006/relationships" id="263" r:id="Rde83a303f5394e87"/>
    <p:sldId xmlns:r="http://schemas.openxmlformats.org/officeDocument/2006/relationships" id="264" r:id="Ra8ced105a7404c34"/>
    <p:sldId xmlns:r="http://schemas.openxmlformats.org/officeDocument/2006/relationships" id="265" r:id="R8d4de64e67f84b21"/>
    <p:sldId xmlns:r="http://schemas.openxmlformats.org/officeDocument/2006/relationships" id="266" r:id="Rcb7dc262a2f847c9"/>
    <p:sldId xmlns:r="http://schemas.openxmlformats.org/officeDocument/2006/relationships" id="267" r:id="R2c2b688ff695471d"/>
    <p:sldId xmlns:r="http://schemas.openxmlformats.org/officeDocument/2006/relationships" id="268" r:id="R677aca36d6374104"/>
    <p:sldId xmlns:r="http://schemas.openxmlformats.org/officeDocument/2006/relationships" id="269" r:id="R49685b30db0f441e"/>
    <p:sldId xmlns:r="http://schemas.openxmlformats.org/officeDocument/2006/relationships" id="270" r:id="Rbe467fffe8474e6c"/>
    <p:sldId xmlns:r="http://schemas.openxmlformats.org/officeDocument/2006/relationships" id="271" r:id="R573bffe569a045a2"/>
    <p:sldId xmlns:r="http://schemas.openxmlformats.org/officeDocument/2006/relationships" id="272" r:id="Rbdb0d5f06a394768"/>
    <p:sldId xmlns:r="http://schemas.openxmlformats.org/officeDocument/2006/relationships" id="273" r:id="Red7d1047275548df"/>
    <p:sldId xmlns:r="http://schemas.openxmlformats.org/officeDocument/2006/relationships" id="274" r:id="Rda5b04e41bc245e6"/>
    <p:sldId xmlns:r="http://schemas.openxmlformats.org/officeDocument/2006/relationships" id="275" r:id="R2f874c1a96de4ec5"/>
    <p:sldId xmlns:r="http://schemas.openxmlformats.org/officeDocument/2006/relationships" id="276" r:id="Rc60bfbd10d9347b0"/>
    <p:sldId xmlns:r="http://schemas.openxmlformats.org/officeDocument/2006/relationships" id="277" r:id="Rde79c18af26e4ae0"/>
    <p:sldId xmlns:r="http://schemas.openxmlformats.org/officeDocument/2006/relationships" id="278" r:id="R0e58f1ff0b1c42a1"/>
    <p:sldId xmlns:r="http://schemas.openxmlformats.org/officeDocument/2006/relationships" id="279" r:id="R108fa1bbff0b4d40"/>
    <p:sldId xmlns:r="http://schemas.openxmlformats.org/officeDocument/2006/relationships" id="280" r:id="R9a780ab7f65f4030"/>
    <p:sldId xmlns:r="http://schemas.openxmlformats.org/officeDocument/2006/relationships" id="281" r:id="R890d97eddf8f40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63287943a74fed" /><Relationship Type="http://schemas.openxmlformats.org/officeDocument/2006/relationships/slideMaster" Target="/ppt/slideMasters/slideMaster1.xml" Id="R64f5973ad12c43f3" /><Relationship Type="http://schemas.openxmlformats.org/officeDocument/2006/relationships/notesMaster" Target="/ppt/notesMasters/notesMaster1.xml" Id="Rfe6259cffc9b40c5" /><Relationship Type="http://schemas.openxmlformats.org/officeDocument/2006/relationships/presProps" Target="/ppt/presProps.xml" Id="R856766dfd46343f1" /><Relationship Type="http://schemas.openxmlformats.org/officeDocument/2006/relationships/tableStyles" Target="/ppt/tableStyles.xml" Id="R4457fb5a7a7442c0" /><Relationship Type="http://schemas.openxmlformats.org/officeDocument/2006/relationships/slide" Target="/ppt/slides/slide1.xml" Id="R43f4b0db600e4f85" /><Relationship Type="http://schemas.openxmlformats.org/officeDocument/2006/relationships/slide" Target="/ppt/slides/slide2.xml" Id="Rec2eb63f93ba4216" /><Relationship Type="http://schemas.openxmlformats.org/officeDocument/2006/relationships/slide" Target="/ppt/slides/slide3.xml" Id="R5700bb9f31ca43c6" /><Relationship Type="http://schemas.openxmlformats.org/officeDocument/2006/relationships/slide" Target="/ppt/slides/slide4.xml" Id="R22d27441f30f4818" /><Relationship Type="http://schemas.openxmlformats.org/officeDocument/2006/relationships/slide" Target="/ppt/slides/slide5.xml" Id="Ref4c75d965094090" /><Relationship Type="http://schemas.openxmlformats.org/officeDocument/2006/relationships/slide" Target="/ppt/slides/slide6.xml" Id="Rfda2573c73d548c4" /><Relationship Type="http://schemas.openxmlformats.org/officeDocument/2006/relationships/slide" Target="/ppt/slides/slide7.xml" Id="Rf985780f5e764d27" /><Relationship Type="http://schemas.openxmlformats.org/officeDocument/2006/relationships/slide" Target="/ppt/slides/slide8.xml" Id="Rde83a303f5394e87" /><Relationship Type="http://schemas.openxmlformats.org/officeDocument/2006/relationships/slide" Target="/ppt/slides/slide9.xml" Id="Ra8ced105a7404c34" /><Relationship Type="http://schemas.openxmlformats.org/officeDocument/2006/relationships/slide" Target="/ppt/slides/slide10.xml" Id="R8d4de64e67f84b21" /><Relationship Type="http://schemas.openxmlformats.org/officeDocument/2006/relationships/slide" Target="/ppt/slides/slide11.xml" Id="Rcb7dc262a2f847c9" /><Relationship Type="http://schemas.openxmlformats.org/officeDocument/2006/relationships/slide" Target="/ppt/slides/slide12.xml" Id="R2c2b688ff695471d" /><Relationship Type="http://schemas.openxmlformats.org/officeDocument/2006/relationships/slide" Target="/ppt/slides/slide13.xml" Id="R677aca36d6374104" /><Relationship Type="http://schemas.openxmlformats.org/officeDocument/2006/relationships/slide" Target="/ppt/slides/slide14.xml" Id="R49685b30db0f441e" /><Relationship Type="http://schemas.openxmlformats.org/officeDocument/2006/relationships/slide" Target="/ppt/slides/slide15.xml" Id="Rbe467fffe8474e6c" /><Relationship Type="http://schemas.openxmlformats.org/officeDocument/2006/relationships/slide" Target="/ppt/slides/slide16.xml" Id="R573bffe569a045a2" /><Relationship Type="http://schemas.openxmlformats.org/officeDocument/2006/relationships/slide" Target="/ppt/slides/slide17.xml" Id="Rbdb0d5f06a394768" /><Relationship Type="http://schemas.openxmlformats.org/officeDocument/2006/relationships/slide" Target="/ppt/slides/slide18.xml" Id="Red7d1047275548df" /><Relationship Type="http://schemas.openxmlformats.org/officeDocument/2006/relationships/slide" Target="/ppt/slides/slide19.xml" Id="Rda5b04e41bc245e6" /><Relationship Type="http://schemas.openxmlformats.org/officeDocument/2006/relationships/slide" Target="/ppt/slides/slide20.xml" Id="R2f874c1a96de4ec5" /><Relationship Type="http://schemas.openxmlformats.org/officeDocument/2006/relationships/slide" Target="/ppt/slides/slide21.xml" Id="Rc60bfbd10d9347b0" /><Relationship Type="http://schemas.openxmlformats.org/officeDocument/2006/relationships/slide" Target="/ppt/slides/slide22.xml" Id="Rde79c18af26e4ae0" /><Relationship Type="http://schemas.openxmlformats.org/officeDocument/2006/relationships/slide" Target="/ppt/slides/slide23.xml" Id="R0e58f1ff0b1c42a1" /><Relationship Type="http://schemas.openxmlformats.org/officeDocument/2006/relationships/slide" Target="/ppt/slides/slide24.xml" Id="R108fa1bbff0b4d40" /><Relationship Type="http://schemas.openxmlformats.org/officeDocument/2006/relationships/slide" Target="/ppt/slides/slide25.xml" Id="R9a780ab7f65f4030" /><Relationship Type="http://schemas.openxmlformats.org/officeDocument/2006/relationships/slide" Target="/ppt/slides/slide26.xml" Id="R890d97eddf8f40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f8edba891f47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2a175ed2f74647" /><Relationship Type="http://schemas.openxmlformats.org/officeDocument/2006/relationships/notesMaster" Target="/ppt/notesMasters/notesMaster1.xml" Id="Ra22c0fc063ea41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76b2eab4b541eb" /><Relationship Type="http://schemas.openxmlformats.org/officeDocument/2006/relationships/notesMaster" Target="/ppt/notesMasters/notesMaster1.xml" Id="R9a5619bc2acd41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e39aad205140c3" /><Relationship Type="http://schemas.openxmlformats.org/officeDocument/2006/relationships/notesMaster" Target="/ppt/notesMasters/notesMaster1.xml" Id="R1ad09ff53cd244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d770e4e67a4b97" /><Relationship Type="http://schemas.openxmlformats.org/officeDocument/2006/relationships/notesMaster" Target="/ppt/notesMasters/notesMaster1.xml" Id="R795eeedcd3d64f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2383ab129a451e" /><Relationship Type="http://schemas.openxmlformats.org/officeDocument/2006/relationships/notesMaster" Target="/ppt/notesMasters/notesMaster1.xml" Id="Rb00bb123b36145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448b2c4c214fb6" /><Relationship Type="http://schemas.openxmlformats.org/officeDocument/2006/relationships/notesMaster" Target="/ppt/notesMasters/notesMaster1.xml" Id="R8d0e0fbaef094f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5a547d6aa047ce" /><Relationship Type="http://schemas.openxmlformats.org/officeDocument/2006/relationships/notesMaster" Target="/ppt/notesMasters/notesMaster1.xml" Id="R8f7e5b3ec7754a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50931044dd473d" /><Relationship Type="http://schemas.openxmlformats.org/officeDocument/2006/relationships/notesMaster" Target="/ppt/notesMasters/notesMaster1.xml" Id="R016aec61c3d44c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8dd8e519664a8e" /><Relationship Type="http://schemas.openxmlformats.org/officeDocument/2006/relationships/notesMaster" Target="/ppt/notesMasters/notesMaster1.xml" Id="Rcd67f45658c84d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a403a79d8a41f2" /><Relationship Type="http://schemas.openxmlformats.org/officeDocument/2006/relationships/notesMaster" Target="/ppt/notesMasters/notesMaster1.xml" Id="R28d531e7507d40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9d4ff05a704d65" /><Relationship Type="http://schemas.openxmlformats.org/officeDocument/2006/relationships/notesMaster" Target="/ppt/notesMasters/notesMaster1.xml" Id="R9f3e9dcd17a14d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baf14386c64189" /><Relationship Type="http://schemas.openxmlformats.org/officeDocument/2006/relationships/notesMaster" Target="/ppt/notesMasters/notesMaster1.xml" Id="Rc856edec621c4f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3e8ff370d1421f" /><Relationship Type="http://schemas.openxmlformats.org/officeDocument/2006/relationships/notesMaster" Target="/ppt/notesMasters/notesMaster1.xml" Id="R2e90ce62d08c4d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5b302809ba494c" /><Relationship Type="http://schemas.openxmlformats.org/officeDocument/2006/relationships/notesMaster" Target="/ppt/notesMasters/notesMaster1.xml" Id="R02579404a67946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1985701c66494b" /><Relationship Type="http://schemas.openxmlformats.org/officeDocument/2006/relationships/notesMaster" Target="/ppt/notesMasters/notesMaster1.xml" Id="R84f2f651498e44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f71120bcca453a" /><Relationship Type="http://schemas.openxmlformats.org/officeDocument/2006/relationships/notesMaster" Target="/ppt/notesMasters/notesMaster1.xml" Id="R38f7ecb7437040f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0620c2efea48bb" /><Relationship Type="http://schemas.openxmlformats.org/officeDocument/2006/relationships/notesMaster" Target="/ppt/notesMasters/notesMaster1.xml" Id="Rc5510785e3fd47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2a183b4e094b84" /><Relationship Type="http://schemas.openxmlformats.org/officeDocument/2006/relationships/notesMaster" Target="/ppt/notesMasters/notesMaster1.xml" Id="R687836f6b82941f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538c28a0b3c4b85" /><Relationship Type="http://schemas.openxmlformats.org/officeDocument/2006/relationships/notesMaster" Target="/ppt/notesMasters/notesMaster1.xml" Id="Rfc8caf00347848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65572975944ea7" /><Relationship Type="http://schemas.openxmlformats.org/officeDocument/2006/relationships/notesMaster" Target="/ppt/notesMasters/notesMaster1.xml" Id="R9c8b7dc8ffff43b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f21d4918c444735" /><Relationship Type="http://schemas.openxmlformats.org/officeDocument/2006/relationships/notesMaster" Target="/ppt/notesMasters/notesMaster1.xml" Id="Rbda66a6c2acb46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8c434a5d644956" /><Relationship Type="http://schemas.openxmlformats.org/officeDocument/2006/relationships/notesMaster" Target="/ppt/notesMasters/notesMaster1.xml" Id="Rd4dd91595c79446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723a2076a844f0a" /><Relationship Type="http://schemas.openxmlformats.org/officeDocument/2006/relationships/notesMaster" Target="/ppt/notesMasters/notesMaster1.xml" Id="R57f26ef2ffb1480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720a6f743ae4457" /><Relationship Type="http://schemas.openxmlformats.org/officeDocument/2006/relationships/notesMaster" Target="/ppt/notesMasters/notesMaster1.xml" Id="R58b2d44262eb48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d16ce08f4794f7f" /><Relationship Type="http://schemas.openxmlformats.org/officeDocument/2006/relationships/notesMaster" Target="/ppt/notesMasters/notesMaster1.xml" Id="R8f98e351b620453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40dc85d0e1840cb" /><Relationship Type="http://schemas.openxmlformats.org/officeDocument/2006/relationships/notesMaster" Target="/ppt/notesMasters/notesMaster1.xml" Id="Rf6e6d76a359b4e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təqdimat Bioinformatics Research Lab repository-sinin mövcud imkanlarını və istifadə yolunu izah edir. Material tələbələr, müəllimlər və kiçik reproduksiya layihələri qurmaq istəyənlər üçündür. Üz qabığı dekorativ AI illüstrasiyasıdır. Sonrakı elmi qrafiklər saxlanmış analizlərdən götürülüb. Təqdimat təxminən 20–25 dəqiqə, son altı praktiki addım isə ayrıca nümayiş üçün nəzərdə tutulub.</a:t>
            </a:r>
          </a:p>
          <a:p xmlns:a="http://schemas.openxmlformats.org/drawingml/2006/main">
            <a:r>
              <a:t/>
            </a:r>
          </a:p>
          <a:p xmlns:a="http://schemas.openxmlformats.org/drawingml/2006/main">
            <a:r>
              <a:t>Praktiki əmr və əlavə məlumat:</a:t>
            </a:r>
          </a:p>
          <a:p xmlns:a="http://schemas.openxmlformats.org/drawingml/2006/main">
            <a:r>
              <a:t/>
            </a:r>
          </a:p>
          <a:p xmlns:a="http://schemas.openxmlformats.org/drawingml/2006/main">
            <a:r>
              <a:t/>
            </a:r>
          </a:p>
          <a:p xmlns:a="http://schemas.openxmlformats.org/drawingml/2006/main">
            <a:r>
              <a:t>Mənbələr: </a:t>
            </a:r>
          </a:p>
          <a:p xmlns:a="http://schemas.openxmlformats.org/drawingml/2006/main">
            <a:r>
              <a:t>https://github.com/ali-novruz/bioinformatics-lab/blob/43ebcd8/README.md</a:t>
            </a:r>
          </a:p>
          <a:p xmlns:a="http://schemas.openxmlformats.org/drawingml/2006/main">
            <a:r>
              <a:t>https://github.com/ali-novruz/bioinformatics-lab/blob/43ebcd8/assets/readme/README.md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yalnız oxu siyahısı deyil. Mövzu qeydləri işlək layihələrə, layihələr saxlanmış nəticələrə, nəticələr isə nəzarət təcrübələrinə bağlanır. Başlanğıc üçün Python və biologiyanın əsasları kifayətdir. Daha mürəkkəb RNA-seq və xam oxunuş workflow-ları əlavə statistik hazırlıq və alətlər tələb edir. Məqsəd nəticənin necə yarandığını başa düşməkdir.</a:t>
            </a:r>
          </a:p>
          <a:p xmlns:a="http://schemas.openxmlformats.org/drawingml/2006/main">
            <a:r>
              <a:t/>
            </a:r>
          </a:p>
          <a:p xmlns:a="http://schemas.openxmlformats.org/drawingml/2006/main">
            <a:r>
              <a:t>Praktiki əmr və əlavə məlumat:</a:t>
            </a:r>
          </a:p>
          <a:p xmlns:a="http://schemas.openxmlformats.org/drawingml/2006/main">
            <a:r>
              <a:t>Mövzunu öyrənmək, kiçik dataset ilə analiz qurmaq və nəticənin nə qədər etibarlı olduğunu sınamaq eyni iş axınında birləşir.</a:t>
            </a:r>
          </a:p>
          <a:p xmlns:a="http://schemas.openxmlformats.org/drawingml/2006/main">
            <a:r>
              <a:t/>
            </a:r>
          </a:p>
          <a:p xmlns:a="http://schemas.openxmlformats.org/drawingml/2006/main">
            <a:r>
              <a:t>Mənbələr: </a:t>
            </a:r>
          </a:p>
          <a:p xmlns:a="http://schemas.openxmlformats.org/drawingml/2006/main">
            <a:r>
              <a:t>https://github.com/ali-novruz/bioinformatics-lab/blob/43ebcd8/docs/START_HERE.md</a:t>
            </a:r>
          </a:p>
          <a:p xmlns:a="http://schemas.openxmlformats.org/drawingml/2006/main">
            <a:r>
              <a:t>https://github.com/ali-novruz/bioinformatics-lab/blob/43ebcd8/roadmap/README.md</a:t>
            </a:r>
          </a:p>
          <a:p xmlns:a="http://schemas.openxmlformats.org/drawingml/2006/main">
            <a:r>
              <a:t>https://github.com/ali-novruz/bioinformatics-lab/blob/43ebcd8/research/graph.json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burada paketlər quraşdırıldıqdan sonra dataset endirmədən işləməyi bildirir. Paket quraşdırılması internet tələb edə bilər. DNA layihəsi raw cache olmadıqda açıq işarələnmiş toy nümunəyə keçir. Səkkiz notebook-un hamısı eyni tip deyil: ilk beşi analiz və modelləri işlədir, son üçü nəticələrin oxunması və qismən yenidən hesablanmasını göstərir. Test sayı sonsuz düzgünlük zəmanəti deyil, mövcud yoxlama əhatəsidir.</a:t>
            </a:r>
          </a:p>
          <a:p xmlns:a="http://schemas.openxmlformats.org/drawingml/2006/main">
            <a:r>
              <a:t/>
            </a:r>
          </a:p>
          <a:p xmlns:a="http://schemas.openxmlformats.org/drawingml/2006/main">
            <a:r>
              <a:t>Praktiki əmr və əlavə məlumat:</a:t>
            </a:r>
          </a:p>
          <a:p xmlns:a="http://schemas.openxmlformats.org/drawingml/2006/main">
            <a:r>
              <a:t>8 layihə data endirmədən işləyir.</a:t>
            </a:r>
          </a:p>
          <a:p xmlns:a="http://schemas.openxmlformats.org/drawingml/2006/main">
            <a:r>
              <a:t>4 layihə xarici girişlər tələb edir.</a:t>
            </a:r>
          </a:p>
          <a:p xmlns:a="http://schemas.openxmlformats.org/drawingml/2006/main">
            <a:r>
              <a:t>4 PDF kitab və Azərbaycan dilində praktikum var.</a:t>
            </a:r>
          </a:p>
          <a:p xmlns:a="http://schemas.openxmlformats.org/drawingml/2006/main">
            <a:r>
              <a:t>57 test və GitHub Actions yoxlamaları mövcuddur.</a:t>
            </a:r>
          </a:p>
          <a:p xmlns:a="http://schemas.openxmlformats.org/drawingml/2006/main">
            <a:r>
              <a:t/>
            </a:r>
          </a:p>
          <a:p xmlns:a="http://schemas.openxmlformats.org/drawingml/2006/main">
            <a:r>
              <a:t>Mənbələr: </a:t>
            </a:r>
          </a:p>
          <a:p xmlns:a="http://schemas.openxmlformats.org/drawingml/2006/main">
            <a:r>
              <a:t>https://github.com/ali-novruz/bioinformatics-lab/blob/43ebcd8/STATUS.md</a:t>
            </a:r>
          </a:p>
          <a:p xmlns:a="http://schemas.openxmlformats.org/drawingml/2006/main">
            <a:r>
              <a:t>https://github.com/ali-novruz/bioinformatics-lab/blob/43ebcd8/projects/registry.json</a:t>
            </a:r>
          </a:p>
          <a:p xmlns:a="http://schemas.openxmlformats.org/drawingml/2006/main">
            <a:r>
              <a:t>https://github.com/ali-novruz/bioinformatics-lab/blob/43ebcd8/notebooks/README.md</a:t>
            </a:r>
          </a:p>
          <a:p xmlns:a="http://schemas.openxmlformats.org/drawingml/2006/main">
            <a:r>
              <a:t>https://github.com/ali-novruz/bioinformatics-lab/blob/43ebcd8/resources/books/README.md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NW Needleman–Wunsch qlobal, SW Smith–Waterman lokal alignment-dir. Filogeniya Neighbor Joining ilə qurulur. Variant layihəsi variant çağırma dəqiqliyini ölçmür, hazır VCF-in kiçik hissəsini xülasə edir. Protein layihəsində insulin prekursorunun sequence-i ilə crambin strukturu ayrı nümunələrdir. Layihə adları ilə yanaşı dəqiq işlək ID-ləri göstərmək istifadəçinin ilk əmri rahat seçməsinə kömək edir.</a:t>
            </a:r>
          </a:p>
          <a:p xmlns:a="http://schemas.openxmlformats.org/drawingml/2006/main">
            <a:r>
              <a:t/>
            </a:r>
          </a:p>
          <a:p xmlns:a="http://schemas.openxmlformats.org/drawingml/2006/main">
            <a:r>
              <a:t>Praktiki əmr və əlavə məlumat:</a:t>
            </a:r>
          </a:p>
          <a:p xmlns:a="http://schemas.openxmlformats.org/drawingml/2006/main">
            <a:r>
              <a:t/>
            </a:r>
          </a:p>
          <a:p xmlns:a="http://schemas.openxmlformats.org/drawingml/2006/main">
            <a:r>
              <a:t/>
            </a:r>
          </a:p>
          <a:p xmlns:a="http://schemas.openxmlformats.org/drawingml/2006/main">
            <a:r>
              <a:t>Mənbələr: </a:t>
            </a:r>
          </a:p>
          <a:p xmlns:a="http://schemas.openxmlformats.org/drawingml/2006/main">
            <a:r>
              <a:t>https://github.com/ali-novruz/bioinformatics-lab/blob/43ebcd8/projects/registry.json</a:t>
            </a:r>
          </a:p>
          <a:p xmlns:a="http://schemas.openxmlformats.org/drawingml/2006/main">
            <a:r>
              <a:t>https://github.com/ali-novruz/bioinformatics-lab/blob/43ebcd8/projects/README.md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altı layihə müxtəlif statistik sualları öyrədir. Pasilla xətti dizaynı ilə qrupları müqayisə edir. Khan çoxsaylı probe ölçmələrindən sinif təxmin edir. SQLite eyni məlumatı sorğulana bilən formaya gətirir. Null simulyasiyası p-value həddinin çoxsaylı testdə niyə kifayət etmədiyini göstərir. GO nəticələri isə seçilmiş gen siyahısının ölçüsündən və universe seçimindən asılıdır.</a:t>
            </a:r>
          </a:p>
          <a:p xmlns:a="http://schemas.openxmlformats.org/drawingml/2006/main">
            <a:r>
              <a:t/>
            </a:r>
          </a:p>
          <a:p xmlns:a="http://schemas.openxmlformats.org/drawingml/2006/main">
            <a:r>
              <a:t>Praktiki əmr və əlavə məlumat:</a:t>
            </a:r>
          </a:p>
          <a:p xmlns:a="http://schemas.openxmlformats.org/drawingml/2006/main">
            <a:r>
              <a:t/>
            </a:r>
          </a:p>
          <a:p xmlns:a="http://schemas.openxmlformats.org/drawingml/2006/main">
            <a:r>
              <a:t/>
            </a:r>
          </a:p>
          <a:p xmlns:a="http://schemas.openxmlformats.org/drawingml/2006/main">
            <a:r>
              <a:t>Mənbələr: </a:t>
            </a:r>
          </a:p>
          <a:p xmlns:a="http://schemas.openxmlformats.org/drawingml/2006/main">
            <a:r>
              <a:t>https://github.com/ali-novruz/bioinformatics-lab/blob/43ebcd8/projects/registry.json</a:t>
            </a:r>
          </a:p>
          <a:p xmlns:a="http://schemas.openxmlformats.org/drawingml/2006/main">
            <a:r>
              <a:t>https://github.com/ali-novruz/bioinformatics-lab/blob/43ebcd8/projects/intermediate/gene-expression-ml/README.md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PCA log1p normallaşdırılmış sayımlar əsasında nümunələrin əsas dəyişmə istiqamətlərini göstərir. PCA nöqtələrinin ayrılması təkbaşına diferensial ifadə testi deyil. Dizayn texniki type amilini və condition qrupunu daxil edir. 1113 gen FDR həddini keçir, onlardan 232-si həm də mütləq log2 fold change 1-dən böyük şərtinə uyğundur. Fold change qiymətləri shrinkage tətbiq edilməmiş qiymətlərdir.</a:t>
            </a:r>
          </a:p>
          <a:p xmlns:a="http://schemas.openxmlformats.org/drawingml/2006/main">
            <a:r>
              <a:t/>
            </a:r>
          </a:p>
          <a:p xmlns:a="http://schemas.openxmlformats.org/drawingml/2006/main">
            <a:r>
              <a:t>Praktiki əmr və əlavə məlumat:</a:t>
            </a:r>
          </a:p>
          <a:p xmlns:a="http://schemas.openxmlformats.org/drawingml/2006/main">
            <a:r>
              <a:t>Pasilla dataset-i</a:t>
            </a:r>
          </a:p>
          <a:p xmlns:a="http://schemas.openxmlformats.org/drawingml/2006/main">
            <a:r>
              <a:t>9 921 filtrdən keçən gen</a:t>
            </a:r>
          </a:p>
          <a:p xmlns:a="http://schemas.openxmlformats.org/drawingml/2006/main">
            <a:r>
              <a:t>FDR &lt; 0.05: 1 113 gen</a:t>
            </a:r>
          </a:p>
          <a:p xmlns:a="http://schemas.openxmlformats.org/drawingml/2006/main">
            <a:r>
              <a:t>Dizayn: type + condition</a:t>
            </a:r>
          </a:p>
          <a:p xmlns:a="http://schemas.openxmlformats.org/drawingml/2006/main">
            <a:r>
              <a:t/>
            </a:r>
          </a:p>
          <a:p xmlns:a="http://schemas.openxmlformats.org/drawingml/2006/main">
            <a:r>
              <a:t>Mənbələr: </a:t>
            </a:r>
          </a:p>
          <a:p xmlns:a="http://schemas.openxmlformats.org/drawingml/2006/main">
            <a:r>
              <a:t>https://github.com/ali-novruz/bioinformatics-lab/blob/43ebcd8/projects/intermediate/rnaseq/README.md</a:t>
            </a:r>
          </a:p>
          <a:p xmlns:a="http://schemas.openxmlformats.org/drawingml/2006/main">
            <a:r>
              <a:t>https://github.com/ali-novruz/bioinformatics-lab/blob/43ebcd8/results/research-audit/projects/rnaseq/summary.json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AUROC modelin iki sinfi sıralama qabiliyyətini göstərir. Bu rəqəm 143 nümunəlik ayrılmış testdən alınır və başqa xəstəxanaya, populyasiyaya və ya skrininq şəraitinə avtomatik köçürülmür. Bootstrap nəticələri seçilmiş model və test nümunələrinə şərtlidir. Bu layihənin dərsi böyük score təqdim etməkdən çox, training və test ayrılmasını düzgün saxlamaqdır.</a:t>
            </a:r>
          </a:p>
          <a:p xmlns:a="http://schemas.openxmlformats.org/drawingml/2006/main">
            <a:r>
              <a:t/>
            </a:r>
          </a:p>
          <a:p xmlns:a="http://schemas.openxmlformats.org/drawingml/2006/main">
            <a:r>
              <a:t>Praktiki əmr və əlavə məlumat:</a:t>
            </a:r>
          </a:p>
          <a:p xmlns:a="http://schemas.openxmlformats.org/drawingml/2006/main">
            <a:r>
              <a:t>Test AUROC</a:t>
            </a:r>
          </a:p>
          <a:p xmlns:a="http://schemas.openxmlformats.org/drawingml/2006/main">
            <a:r>
              <a:t>569 nümunə, 30 əlamət</a:t>
            </a:r>
          </a:p>
          <a:p xmlns:a="http://schemas.openxmlformats.org/drawingml/2006/main">
            <a:r>
              <a:t>426 training, 143 test</a:t>
            </a:r>
          </a:p>
          <a:p xmlns:a="http://schemas.openxmlformats.org/drawingml/2006/main">
            <a:r>
              <a:t>Seçim training CV daxilində</a:t>
            </a:r>
          </a:p>
          <a:p xmlns:a="http://schemas.openxmlformats.org/drawingml/2006/main">
            <a:r>
              <a:t/>
            </a:r>
          </a:p>
          <a:p xmlns:a="http://schemas.openxmlformats.org/drawingml/2006/main">
            <a:r>
              <a:t>Mənbələr: </a:t>
            </a:r>
          </a:p>
          <a:p xmlns:a="http://schemas.openxmlformats.org/drawingml/2006/main">
            <a:r>
              <a:t>https://github.com/ali-novruz/bioinformatics-lab/blob/43ebcd8/projects/intermediate/disease-classification/README.md</a:t>
            </a:r>
          </a:p>
          <a:p xmlns:a="http://schemas.openxmlformats.org/drawingml/2006/main">
            <a:r>
              <a:t>https://github.com/ali-novruz/bioinformatics-lab/blob/43ebcd8/results/research-audit/projects/ml/summary.json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variance filter, ANOVA seçimi, miqyaslandırma və LinearSVC-dən ibarətdir. Addımlar training cross-validation daxilində tətbiq edilir. Tarixi benchmark testində accuracy 0.95, balanced accuracy təxminən 0.9583-dür. Bu nəticə müstəqil müasir cohort və ya prospektiv skrininq yoxlaması deyil. Upstream emalın və donor asılılığının bəzi detalları məlum deyil.</a:t>
            </a:r>
          </a:p>
          <a:p xmlns:a="http://schemas.openxmlformats.org/drawingml/2006/main">
            <a:r>
              <a:t/>
            </a:r>
          </a:p>
          <a:p xmlns:a="http://schemas.openxmlformats.org/drawingml/2006/main">
            <a:r>
              <a:t>Praktiki əmr və əlavə məlumat:</a:t>
            </a:r>
          </a:p>
          <a:p xmlns:a="http://schemas.openxmlformats.org/drawingml/2006/main">
            <a:r>
              <a:t>Testdə düzgün təsnifat</a:t>
            </a:r>
          </a:p>
          <a:p xmlns:a="http://schemas.openxmlformats.org/drawingml/2006/main">
            <a:r>
              <a:t>63 training nümunəsi</a:t>
            </a:r>
          </a:p>
          <a:p xmlns:a="http://schemas.openxmlformats.org/drawingml/2006/main">
            <a:r>
              <a:t>2 308 işlənmiş probe sütunu</a:t>
            </a:r>
          </a:p>
          <a:p xmlns:a="http://schemas.openxmlformats.org/drawingml/2006/main">
            <a:r>
              <a:t>4 tarixi toxuma sinfi</a:t>
            </a:r>
          </a:p>
          <a:p xmlns:a="http://schemas.openxmlformats.org/drawingml/2006/main">
            <a:r>
              <a:t/>
            </a:r>
          </a:p>
          <a:p xmlns:a="http://schemas.openxmlformats.org/drawingml/2006/main">
            <a:r>
              <a:t>Mənbələr: </a:t>
            </a:r>
          </a:p>
          <a:p xmlns:a="http://schemas.openxmlformats.org/drawingml/2006/main">
            <a:r>
              <a:t>https://github.com/ali-novruz/bioinformatics-lab/blob/43ebcd8/projects/intermediate/gene-expression-ml/README.md</a:t>
            </a:r>
          </a:p>
          <a:p xmlns:a="http://schemas.openxmlformats.org/drawingml/2006/main">
            <a:r>
              <a:t>https://github.com/ali-novruz/bioinformatics-lab/blob/43ebcd8/results/course-projects/gene-expression-ml/summary.json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Xarici 5 fold və daxili 3 fold quruluşu model seçimini qiymətləndirmədən ayırır. Hər etiket qarışdırılmasında bütün pipeline yenidən işləyir. Bu training-only, post-hoc robustness auditidir. Null interval klinik performans üçün confidence interval deyil. Seçilmiş probe-ların orta Jaccard uyğunluğu 0.257 olub, lakin müxtəlif k ölçüləri bu müqayisəyə təsir edir. Yüksək proqnoz sabit biomarker siyahısı demək deyil.</a:t>
            </a:r>
          </a:p>
          <a:p xmlns:a="http://schemas.openxmlformats.org/drawingml/2006/main">
            <a:r>
              <a:t/>
            </a:r>
          </a:p>
          <a:p xmlns:a="http://schemas.openxmlformats.org/drawingml/2006/main">
            <a:r>
              <a:t>Praktiki əmr və əlavə məlumat:</a:t>
            </a:r>
          </a:p>
          <a:p xmlns:a="http://schemas.openxmlformats.org/drawingml/2006/main">
            <a:r>
              <a:t>Nested balanced accuracy</a:t>
            </a:r>
          </a:p>
          <a:p xmlns:a="http://schemas.openxmlformats.org/drawingml/2006/main">
            <a:r>
              <a:t>99 permutation ortası: 0.242</a:t>
            </a:r>
          </a:p>
          <a:p xmlns:a="http://schemas.openxmlformats.org/drawingml/2006/main">
            <a:r>
              <a:t>Monte Carlo p: 0.01</a:t>
            </a:r>
          </a:p>
          <a:p xmlns:a="http://schemas.openxmlformats.org/drawingml/2006/main">
            <a:r>
              <a:t>Yalnız 63 training nümunəsi</a:t>
            </a:r>
          </a:p>
          <a:p xmlns:a="http://schemas.openxmlformats.org/drawingml/2006/main">
            <a:r>
              <a:t/>
            </a:r>
          </a:p>
          <a:p xmlns:a="http://schemas.openxmlformats.org/drawingml/2006/main">
            <a:r>
              <a:t>Mənbələr: </a:t>
            </a:r>
          </a:p>
          <a:p xmlns:a="http://schemas.openxmlformats.org/drawingml/2006/main">
            <a:r>
              <a:t>https://github.com/ali-novruz/bioinformatics-lab/blob/43ebcd8/experiments/controls/README.md</a:t>
            </a:r>
          </a:p>
          <a:p xmlns:a="http://schemas.openxmlformats.org/drawingml/2006/main">
            <a:r>
              <a:t>https://github.com/ali-novruz/bioinformatics-lab/blob/43ebcd8/results/research-audit/expression-control/summary.json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Yeast analizində yalnız bir gen seçildiyindən hər mümkün singleton ayrıca sınanıb. Universe 84 gen və term ailəsi 62 term olaraq sabit saxlanıb. Heç bir seçim əhəmiyyət həddinə çatmır. Deməli, bu konkret dizaynda sıfır əhəmiyyətli term müşahidəsi təəccüblü deyil. Nəticə ümumi power curve və ya bütün GO analizlərinə aid hökm kimi istifadə edilməməlidir.</a:t>
            </a:r>
          </a:p>
          <a:p xmlns:a="http://schemas.openxmlformats.org/drawingml/2006/main">
            <a:r>
              <a:t/>
            </a:r>
          </a:p>
          <a:p xmlns:a="http://schemas.openxmlformats.org/drawingml/2006/main">
            <a:r>
              <a:t>Praktiki əmr və əlavə məlumat:</a:t>
            </a:r>
          </a:p>
          <a:p xmlns:a="http://schemas.openxmlformats.org/drawingml/2006/main">
            <a:r>
              <a:t>Heç bir singleton seçim</a:t>
            </a:r>
          </a:p>
          <a:p xmlns:a="http://schemas.openxmlformats.org/drawingml/2006/main">
            <a:r>
              <a:t>BH &lt; 0.05 vermir.</a:t>
            </a:r>
          </a:p>
          <a:p xmlns:a="http://schemas.openxmlformats.org/drawingml/2006/main">
            <a:r>
              <a:t>62 sabit GO-slim termi</a:t>
            </a:r>
          </a:p>
          <a:p xmlns:a="http://schemas.openxmlformats.org/drawingml/2006/main">
            <a:r>
              <a:t>Minimum mümkün padj: 0.277</a:t>
            </a:r>
          </a:p>
          <a:p xmlns:a="http://schemas.openxmlformats.org/drawingml/2006/main">
            <a:r>
              <a:t/>
            </a:r>
          </a:p>
          <a:p xmlns:a="http://schemas.openxmlformats.org/drawingml/2006/main">
            <a:r>
              <a:t>Mənbələr: </a:t>
            </a:r>
          </a:p>
          <a:p xmlns:a="http://schemas.openxmlformats.org/drawingml/2006/main">
            <a:r>
              <a:t>https://github.com/ali-novruz/bioinformatics-lab/blob/43ebcd8/projects/intermediate/go-enrichment/README.md</a:t>
            </a:r>
          </a:p>
          <a:p xmlns:a="http://schemas.openxmlformats.org/drawingml/2006/main">
            <a:r>
              <a:t>https://github.com/ali-novruz/bioinformatics-lab/blob/43ebcd8/results/research-audit/enrichment-control/summary.json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Başlanğıc alignment 156 sütundur, complete ACGT filtrasiyasından sonra 146 qalır. P-distance məsafəsi əsasında köksüz ağac qurulur. Bootstrap sütunların təkrar nümunələnməsidir və eyni məhdud məlumat daxilində dəstəyi ölçür. Az sayda dəyişən mövqe olduğuna görə nəticəni genom miqyasında təkamül tarixi kimi şərh etmək olmaz.</a:t>
            </a:r>
          </a:p>
          <a:p xmlns:a="http://schemas.openxmlformats.org/drawingml/2006/main">
            <a:r>
              <a:t/>
            </a:r>
          </a:p>
          <a:p xmlns:a="http://schemas.openxmlformats.org/drawingml/2006/main">
            <a:r>
              <a:t>Praktiki əmr və əlavə məlumat:</a:t>
            </a:r>
          </a:p>
          <a:p xmlns:a="http://schemas.openxmlformats.org/drawingml/2006/main">
            <a:r>
              <a:t>Site bootstrap təkrarı</a:t>
            </a:r>
          </a:p>
          <a:p xmlns:a="http://schemas.openxmlformats.org/drawingml/2006/main">
            <a:r>
              <a:t>7 Opuntia fraqmenti</a:t>
            </a:r>
          </a:p>
          <a:p xmlns:a="http://schemas.openxmlformats.org/drawingml/2006/main">
            <a:r>
              <a:t>146 tam ACGT sütunu</a:t>
            </a:r>
          </a:p>
          <a:p xmlns:a="http://schemas.openxmlformats.org/drawingml/2006/main">
            <a:r>
              <a:t>8 dəyişən mövqe</a:t>
            </a:r>
          </a:p>
          <a:p xmlns:a="http://schemas.openxmlformats.org/drawingml/2006/main">
            <a:r>
              <a:t/>
            </a:r>
          </a:p>
          <a:p xmlns:a="http://schemas.openxmlformats.org/drawingml/2006/main">
            <a:r>
              <a:t>Mənbələr: </a:t>
            </a:r>
          </a:p>
          <a:p xmlns:a="http://schemas.openxmlformats.org/drawingml/2006/main">
            <a:r>
              <a:t>https://github.com/ali-novruz/bioinformatics-lab/blob/43ebcd8/projects/intermediate/phylogeny/README.md</a:t>
            </a:r>
          </a:p>
          <a:p xmlns:a="http://schemas.openxmlformats.org/drawingml/2006/main">
            <a:r>
              <a:t>https://github.com/ali-novruz/bioinformatics-lab/blob/43ebcd8/results/expanded-projects/phylogeny/summary.json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PhiX174 genomu dairəvi olduğu üçün koordinat başlanğıcını keçən namizədlər də saxlanır. Nested ORF-lər çıxarılmır. Ən uzun namizəd 522 amin turşusudur. Bu sadə qayda əsasında namizəd tapma məşqidir, eksperimental təsdiq və ya tam gen annotasiyası deyil. Parametr dəyişdikdə namizəd sayı dəyişə bilər.</a:t>
            </a:r>
          </a:p>
          <a:p xmlns:a="http://schemas.openxmlformats.org/drawingml/2006/main">
            <a:r>
              <a:t/>
            </a:r>
          </a:p>
          <a:p xmlns:a="http://schemas.openxmlformats.org/drawingml/2006/main">
            <a:r>
              <a:t>Praktiki əmr və əlavə məlumat:</a:t>
            </a:r>
          </a:p>
          <a:p xmlns:a="http://schemas.openxmlformats.org/drawingml/2006/main">
            <a:r>
              <a:t>Namizəd ORF</a:t>
            </a:r>
          </a:p>
          <a:p xmlns:a="http://schemas.openxmlformats.org/drawingml/2006/main">
            <a:r>
              <a:t>5 386 nukleotid</a:t>
            </a:r>
          </a:p>
          <a:p xmlns:a="http://schemas.openxmlformats.org/drawingml/2006/main">
            <a:r>
              <a:t>93 müsbət, 21 mənfi strand</a:t>
            </a:r>
          </a:p>
          <a:p xmlns:a="http://schemas.openxmlformats.org/drawingml/2006/main">
            <a:r>
              <a:t>24 namizəd başlanğıcı keçir</a:t>
            </a:r>
          </a:p>
          <a:p xmlns:a="http://schemas.openxmlformats.org/drawingml/2006/main">
            <a:r>
              <a:t/>
            </a:r>
          </a:p>
          <a:p xmlns:a="http://schemas.openxmlformats.org/drawingml/2006/main">
            <a:r>
              <a:t>Mənbələr: </a:t>
            </a:r>
          </a:p>
          <a:p xmlns:a="http://schemas.openxmlformats.org/drawingml/2006/main">
            <a:r>
              <a:t>https://github.com/ali-novruz/bioinformatics-lab/blob/43ebcd8/projects/beginner/orf-discovery/README.md</a:t>
            </a:r>
          </a:p>
          <a:p xmlns:a="http://schemas.openxmlformats.org/drawingml/2006/main">
            <a:r>
              <a:t>https://github.com/ali-novruz/bioinformatics-lab/blob/43ebcd8/results/expanded-projects/orf-discovery/summary.json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layihə iki ayrı data formatını öyrədir. UniProt P01308 sequence üzərində uzunluq və kompozisiya analizi üçündür. PDB 1CRN məkan koordinatları və contact map üçündür. Onların yanaşı göstərilməsi sequence-structure uyğunluğu iddiası yaratmamalıdır. Qrafik crambin C-alpha izini göstərir, yeni proqnozlaşdırılmış struktur deyil.</a:t>
            </a:r>
          </a:p>
          <a:p xmlns:a="http://schemas.openxmlformats.org/drawingml/2006/main">
            <a:r>
              <a:t/>
            </a:r>
          </a:p>
          <a:p xmlns:a="http://schemas.openxmlformats.org/drawingml/2006/main">
            <a:r>
              <a:t>Praktiki əmr və əlavə məlumat:</a:t>
            </a:r>
          </a:p>
          <a:p xmlns:a="http://schemas.openxmlformats.org/drawingml/2006/main">
            <a:r>
              <a:t>Crambin strukturu</a:t>
            </a:r>
          </a:p>
          <a:p xmlns:a="http://schemas.openxmlformats.org/drawingml/2006/main">
            <a:r>
              <a:t>46 Cα atomu</a:t>
            </a:r>
          </a:p>
          <a:p xmlns:a="http://schemas.openxmlformats.org/drawingml/2006/main">
            <a:r>
              <a:t>Ayrıca sequence nümunəsi:</a:t>
            </a:r>
          </a:p>
          <a:p xmlns:a="http://schemas.openxmlformats.org/drawingml/2006/main">
            <a:r>
              <a:t>P01308 insulin prekursoru</a:t>
            </a:r>
          </a:p>
          <a:p xmlns:a="http://schemas.openxmlformats.org/drawingml/2006/main">
            <a:r>
              <a:t/>
            </a:r>
          </a:p>
          <a:p xmlns:a="http://schemas.openxmlformats.org/drawingml/2006/main">
            <a:r>
              <a:t>Mənbələr: </a:t>
            </a:r>
          </a:p>
          <a:p xmlns:a="http://schemas.openxmlformats.org/drawingml/2006/main">
            <a:r>
              <a:t>https://github.com/ali-novruz/bioinformatics-lab/blob/43ebcd8/projects/intermediate/protein-analysis/README.md</a:t>
            </a:r>
          </a:p>
          <a:p xmlns:a="http://schemas.openxmlformats.org/drawingml/2006/main">
            <a:r>
              <a:t>https://github.com/ali-novruz/bioinformatics-lab/blob/43ebcd8/results/research-audit/projects/proteins/summary.json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RNA yolu FASTQ, FastQC, STAR, featureCounts və PyDESeq2 addımlarından keçir. FDR geni YAL005C-dir, log2 fold change 0.224 olduğundan böyük effekt həddini keçmir. DNA workflow-u BWA və variant calling mərhələlərini yoxlayır. Xarici fixture üçün donor truth məlum deyil, ona görə precision və recall iddiası yoxdur. Sintetik məlum müsbət nəzarət ayrıca işlədilib.</a:t>
            </a:r>
          </a:p>
          <a:p xmlns:a="http://schemas.openxmlformats.org/drawingml/2006/main">
            <a:r>
              <a:t/>
            </a:r>
          </a:p>
          <a:p xmlns:a="http://schemas.openxmlformats.org/drawingml/2006/main">
            <a:r>
              <a:t>Praktiki əmr və əlavə məlumat:</a:t>
            </a:r>
          </a:p>
          <a:p xmlns:a="http://schemas.openxmlformats.org/drawingml/2006/main">
            <a:r>
              <a:t/>
            </a:r>
          </a:p>
          <a:p xmlns:a="http://schemas.openxmlformats.org/drawingml/2006/main">
            <a:r>
              <a:t/>
            </a:r>
          </a:p>
          <a:p xmlns:a="http://schemas.openxmlformats.org/drawingml/2006/main">
            <a:r>
              <a:t>Mənbələr: </a:t>
            </a:r>
          </a:p>
          <a:p xmlns:a="http://schemas.openxmlformats.org/drawingml/2006/main">
            <a:r>
              <a:t>https://github.com/ali-novruz/bioinformatics-lab/blob/43ebcd8/results/raw-examples/README.md</a:t>
            </a:r>
          </a:p>
          <a:p xmlns:a="http://schemas.openxmlformats.org/drawingml/2006/main">
            <a:r>
              <a:t>https://github.com/ali-novruz/bioinformatics-lab/blob/43ebcd8/workflows/README.md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Hash faylın konkret baytlarını tanıdır, bioloji doğruluğunu təsdiq etmir. Ayrı nəticə qovluqları keçmiş icraların təsadüfən əvəz edilməsinin qarşısını alır. Tarixi source arxivləri köhnə nəticələrin hansı koddan yarandığını izləməyə imkan verir. Platforma uyğunluğu yalnız yoxlanmış dataset, seed və mühitlər daxilində göstərilib. Yeni mühit üçün eyni uyğunluğu əvvəlcədən zəmanət vermək olmaz.</a:t>
            </a:r>
          </a:p>
          <a:p xmlns:a="http://schemas.openxmlformats.org/drawingml/2006/main">
            <a:r>
              <a:t/>
            </a:r>
          </a:p>
          <a:p xmlns:a="http://schemas.openxmlformats.org/drawingml/2006/main">
            <a:r>
              <a:t>Praktiki əmr və əlavə məlumat:</a:t>
            </a:r>
          </a:p>
          <a:p xmlns:a="http://schemas.openxmlformats.org/drawingml/2006/main">
            <a:r>
              <a:t/>
            </a:r>
          </a:p>
          <a:p xmlns:a="http://schemas.openxmlformats.org/drawingml/2006/main">
            <a:r>
              <a:t/>
            </a:r>
          </a:p>
          <a:p xmlns:a="http://schemas.openxmlformats.org/drawingml/2006/main">
            <a:r>
              <a:t>Mənbələr: </a:t>
            </a:r>
          </a:p>
          <a:p xmlns:a="http://schemas.openxmlformats.org/drawingml/2006/main">
            <a:r>
              <a:t>https://github.com/ali-novruz/bioinformatics-lab/blob/43ebcd8/DATA_POLICY.md</a:t>
            </a:r>
          </a:p>
          <a:p xmlns:a="http://schemas.openxmlformats.org/drawingml/2006/main">
            <a:r>
              <a:t>https://github.com/ali-novruz/bioinformatics-lab/blob/43ebcd8/results/README.md</a:t>
            </a:r>
          </a:p>
          <a:p xmlns:a="http://schemas.openxmlformats.org/drawingml/2006/main">
            <a:r>
              <a:t>https://github.com/ali-novruz/bioinformatics-lab/blob/43ebcd8/results/research-audit/README.md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Göndərilmiş UNEC PDF, DOCX və PPTX faylları kataloqlaşdırılıb. Məqsəd bütün faylları kor şəkildə yığmaq əvəzinə, tədris mövzularını işə yarayan praktiki məşqlərlə əlaqələndirməkdir. Materialların mənşəyi kataloqda saxlanır. Dərslər və cavablar müstəqil öyrənməni asanlaşdırır, amma müəllimin qiymətləndirməsini avtomatik əvəz etmir.</a:t>
            </a:r>
          </a:p>
          <a:p xmlns:a="http://schemas.openxmlformats.org/drawingml/2006/main">
            <a:r>
              <a:t/>
            </a:r>
          </a:p>
          <a:p xmlns:a="http://schemas.openxmlformats.org/drawingml/2006/main">
            <a:r>
              <a:t>Praktiki əmr və əlavə məlumat:</a:t>
            </a:r>
          </a:p>
          <a:p xmlns:a="http://schemas.openxmlformats.org/drawingml/2006/main">
            <a:r>
              <a:t>61 unikal mənbə və 7 bayt səviyyəli dublikat</a:t>
            </a:r>
          </a:p>
          <a:p xmlns:a="http://schemas.openxmlformats.org/drawingml/2006/main">
            <a:r>
              <a:t>15 həftəlik öyrənmə proqramı</a:t>
            </a:r>
          </a:p>
          <a:p xmlns:a="http://schemas.openxmlformats.org/drawingml/2006/main">
            <a:r>
              <a:t>24 cavablı praktiki tapşırıq</a:t>
            </a:r>
          </a:p>
          <a:p xmlns:a="http://schemas.openxmlformats.org/drawingml/2006/main">
            <a:r>
              <a:t>14 səhifəlik Azərbaycan dilində PDF praktikum</a:t>
            </a:r>
          </a:p>
          <a:p xmlns:a="http://schemas.openxmlformats.org/drawingml/2006/main">
            <a:r>
              <a:t/>
            </a:r>
          </a:p>
          <a:p xmlns:a="http://schemas.openxmlformats.org/drawingml/2006/main">
            <a:r>
              <a:t>Mənbələr: </a:t>
            </a:r>
          </a:p>
          <a:p xmlns:a="http://schemas.openxmlformats.org/drawingml/2006/main">
            <a:r>
              <a:t>https://github.com/ali-novruz/bioinformatics-lab/blob/43ebcd8/docs/unec/README.md</a:t>
            </a:r>
          </a:p>
          <a:p xmlns:a="http://schemas.openxmlformats.org/drawingml/2006/main">
            <a:r>
              <a:t>https://github.com/ali-novruz/bioinformatics-lab/blob/43ebcd8/resources/unec/README.md</a:t>
            </a:r>
          </a:p>
          <a:p xmlns:a="http://schemas.openxmlformats.org/drawingml/2006/main">
            <a:r>
              <a:t>https://github.com/ali-novruz/bioinformatics-lab/blob/43ebcd8/resources/unec/bioinformatika-praktikum.pdf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Öyrənmə yolu biologiya və Python əsaslarından real analiz və tədqiqat sualına doğru gedir. Məqalə qeydləri systematic review deyil və orijinal məqalələrin bütün benchmark-larını təkrar etmir. Oxucu hər qeydin əhatəsini yoxlamalıdır. Kitab manifesti PDF mənbə ünvanlarını və istifadə qeydlərini göstərir. Yeni kitab əlavə edilərkən açıq və icazəli PDF mənbə üstün tutulur.</a:t>
            </a:r>
          </a:p>
          <a:p xmlns:a="http://schemas.openxmlformats.org/drawingml/2006/main">
            <a:r>
              <a:t/>
            </a:r>
          </a:p>
          <a:p xmlns:a="http://schemas.openxmlformats.org/drawingml/2006/main">
            <a:r>
              <a:t>Praktiki əmr və əlavə məlumat:</a:t>
            </a:r>
          </a:p>
          <a:p xmlns:a="http://schemas.openxmlformats.org/drawingml/2006/main">
            <a:r>
              <a:t/>
            </a:r>
          </a:p>
          <a:p xmlns:a="http://schemas.openxmlformats.org/drawingml/2006/main">
            <a:r>
              <a:t/>
            </a:r>
          </a:p>
          <a:p xmlns:a="http://schemas.openxmlformats.org/drawingml/2006/main">
            <a:r>
              <a:t>Mənbələr: </a:t>
            </a:r>
          </a:p>
          <a:p xmlns:a="http://schemas.openxmlformats.org/drawingml/2006/main">
            <a:r>
              <a:t>https://github.com/ali-novruz/bioinformatics-lab/blob/43ebcd8/roadmap/README.md</a:t>
            </a:r>
          </a:p>
          <a:p xmlns:a="http://schemas.openxmlformats.org/drawingml/2006/main">
            <a:r>
              <a:t>https://github.com/ali-novruz/bioinformatics-lab/blob/43ebcd8/resources/books/README.md</a:t>
            </a:r>
          </a:p>
          <a:p xmlns:a="http://schemas.openxmlformats.org/drawingml/2006/main">
            <a:r>
              <a:t>https://github.com/ali-novruz/bioinformatics-lab/blob/43ebcd8/research/papers/README.md</a:t>
            </a:r>
          </a:p>
          <a:p xmlns:a="http://schemas.openxmlformats.org/drawingml/2006/main">
            <a:r>
              <a:t>https://github.com/ali-novruz/bioinformatics-lab/blob/43ebcd8/research/literature-reviews/README.md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Şəxsi və ya həssas məlumat bu tədris nümunələrinin bir hissəsi deyil. Yeni dataset əlavə edən iştirakçı onun istifadə şərtini və mənbəyini yoxlamalıdır. PDF kitab istəyi icazəsiz nüsxə paylaşmaq kimi şərh edilmir. Manifestlər təkrar endirməni və dəyişikliyi izləməyi asanlaşdırır. Repo hazırda private-dır, GitHub linkləri səlahiyyətli hesabla açılır.</a:t>
            </a:r>
          </a:p>
          <a:p xmlns:a="http://schemas.openxmlformats.org/drawingml/2006/main">
            <a:r>
              <a:t/>
            </a:r>
          </a:p>
          <a:p xmlns:a="http://schemas.openxmlformats.org/drawingml/2006/main">
            <a:r>
              <a:t>Praktiki əmr və əlavə məlumat:</a:t>
            </a:r>
          </a:p>
          <a:p xmlns:a="http://schemas.openxmlformats.org/drawingml/2006/main">
            <a:r>
              <a:t/>
            </a:r>
          </a:p>
          <a:p xmlns:a="http://schemas.openxmlformats.org/drawingml/2006/main">
            <a:r>
              <a:t/>
            </a:r>
          </a:p>
          <a:p xmlns:a="http://schemas.openxmlformats.org/drawingml/2006/main">
            <a:r>
              <a:t>Mənbələr: </a:t>
            </a:r>
          </a:p>
          <a:p xmlns:a="http://schemas.openxmlformats.org/drawingml/2006/main">
            <a:r>
              <a:t>https://github.com/ali-novruz/bioinformatics-lab/blob/43ebcd8/DATA_POLICY.md</a:t>
            </a:r>
          </a:p>
          <a:p xmlns:a="http://schemas.openxmlformats.org/drawingml/2006/main">
            <a:r>
              <a:t>https://github.com/ali-novruz/bioinformatics-lab/blob/43ebcd8/resources/books/README.md</a:t>
            </a:r>
          </a:p>
          <a:p xmlns:a="http://schemas.openxmlformats.org/drawingml/2006/main">
            <a:r>
              <a:t>https://github.com/ali-novruz/bioinformatics-lab/blob/43ebcd8/datasets/README.md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WDBC və Khan nəticələri tədris benchmark-larıdır. Gene-level biomarker iddiası üçün probe identifikasiyası, sabitlik və müstəqil doğrulama lazımdır. GO-da sıfır əhəmiyyətli term pathway fəaliyyətsizliyi demək deyil. ORF namizədi gen annotasiyası deyil. Variant sayları calling accuracy deyil. Bu fərqlər təqdimat və videoda da qorunmalıdır.</a:t>
            </a:r>
          </a:p>
          <a:p xmlns:a="http://schemas.openxmlformats.org/drawingml/2006/main">
            <a:r>
              <a:t/>
            </a:r>
          </a:p>
          <a:p xmlns:a="http://schemas.openxmlformats.org/drawingml/2006/main">
            <a:r>
              <a:t>Praktiki əmr və əlavə məlumat:</a:t>
            </a:r>
          </a:p>
          <a:p xmlns:a="http://schemas.openxmlformats.org/drawingml/2006/main">
            <a:r>
              <a:t>Kiçik test nümunəsi, texniki dizayn və məlumatın mənşəyi nəticəni məhdudlaşdırır. Klinik fayda və sabit biomarker üçün ayrıca sübut lazımdır.</a:t>
            </a:r>
          </a:p>
          <a:p xmlns:a="http://schemas.openxmlformats.org/drawingml/2006/main">
            <a:r>
              <a:t/>
            </a:r>
          </a:p>
          <a:p xmlns:a="http://schemas.openxmlformats.org/drawingml/2006/main">
            <a:r>
              <a:t>Mənbələr: </a:t>
            </a:r>
          </a:p>
          <a:p xmlns:a="http://schemas.openxmlformats.org/drawingml/2006/main">
            <a:r>
              <a:t>https://github.com/ali-novruz/bioinformatics-lab/blob/43ebcd8/docs/RESEARCH_AUDIT.md</a:t>
            </a:r>
          </a:p>
          <a:p xmlns:a="http://schemas.openxmlformats.org/drawingml/2006/main">
            <a:r>
              <a:t>https://github.com/ali-novruz/bioinformatics-lab/blob/43ebcd8/experiments/controls/README.md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İnkişaf prioriteti yeni nəticə sayını artırmaqdan əvvəl mövcud iddiaları daha sərt yoxlamaqdır. Sabit k Jaccard şərhində seçilmiş siyahı ölçüsü qarışıqlığını azaldar. GO həssaslıq analizi cari singleton attainability təcrübəsindən fərqli sualdır. Variant workflow-u üçün məlum truth olmadan dəqiqlik benchmark-ı qurmaq olmaz. Hər yeni layihə əvvəlcə sual, giriş, metod və qəbul meyarı ilə yazılmalıdır.</a:t>
            </a:r>
          </a:p>
          <a:p xmlns:a="http://schemas.openxmlformats.org/drawingml/2006/main">
            <a:r>
              <a:t/>
            </a:r>
          </a:p>
          <a:p xmlns:a="http://schemas.openxmlformats.org/drawingml/2006/main">
            <a:r>
              <a:t>Praktiki əmr və əlavə məlumat:</a:t>
            </a:r>
          </a:p>
          <a:p xmlns:a="http://schemas.openxmlformats.org/drawingml/2006/main">
            <a:r>
              <a:t/>
            </a:r>
          </a:p>
          <a:p xmlns:a="http://schemas.openxmlformats.org/drawingml/2006/main">
            <a:r>
              <a:t/>
            </a:r>
          </a:p>
          <a:p xmlns:a="http://schemas.openxmlformats.org/drawingml/2006/main">
            <a:r>
              <a:t>Mənbələr: </a:t>
            </a:r>
          </a:p>
          <a:p xmlns:a="http://schemas.openxmlformats.org/drawingml/2006/main">
            <a:r>
              <a:t>https://github.com/ali-novruz/bioinformatics-lab/blob/43ebcd8/docs/RESEARCH_AUDIT.md</a:t>
            </a:r>
          </a:p>
          <a:p xmlns:a="http://schemas.openxmlformats.org/drawingml/2006/main">
            <a:r>
              <a:t>https://github.com/ali-novruz/bioinformatics-lab/blob/43ebcd8/projects/IDEAS.md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 üz qabığından sonra başlanğıc keçidini açın. START_HERE oxucu məqsədinə uyğun yolu göstərir. SETUP mühit qurulmasını izah edir. STATUS mövcud icra əhatəsini bildirir. Layihəni seçərkən offline və download fərqini yoxlayın. Şəkilli bələdçinin bu səhifəsi GitHub interfeysinin saxta screenshot-u deyil, fayl xəritəsidir.</a:t>
            </a:r>
          </a:p>
          <a:p xmlns:a="http://schemas.openxmlformats.org/drawingml/2006/main">
            <a:r>
              <a:t/>
            </a:r>
          </a:p>
          <a:p xmlns:a="http://schemas.openxmlformats.org/drawingml/2006/main">
            <a:r>
              <a:t>Praktiki əmr və əlavə məlumat:</a:t>
            </a:r>
          </a:p>
          <a:p xmlns:a="http://schemas.openxmlformats.org/drawingml/2006/main">
            <a:r>
              <a:t>docs/START_HERE.md</a:t>
            </a:r>
          </a:p>
          <a:p xmlns:a="http://schemas.openxmlformats.org/drawingml/2006/main">
            <a:r>
              <a:t>SETUP.md</a:t>
            </a:r>
          </a:p>
          <a:p xmlns:a="http://schemas.openxmlformats.org/drawingml/2006/main">
            <a:r>
              <a:t>projects/README.md</a:t>
            </a:r>
          </a:p>
          <a:p xmlns:a="http://schemas.openxmlformats.org/drawingml/2006/main">
            <a:r>
              <a:t>STATUS.md</a:t>
            </a:r>
          </a:p>
          <a:p xmlns:a="http://schemas.openxmlformats.org/drawingml/2006/main">
            <a:r>
              <a:t/>
            </a:r>
          </a:p>
          <a:p xmlns:a="http://schemas.openxmlformats.org/drawingml/2006/main">
            <a:r>
              <a:t>Mənbələr: </a:t>
            </a:r>
          </a:p>
          <a:p xmlns:a="http://schemas.openxmlformats.org/drawingml/2006/main">
            <a:r>
              <a:t>https://github.com/ali-novruz/bioinformatics-lab/blob/43ebcd8/docs/START_HERE.md</a:t>
            </a:r>
          </a:p>
          <a:p xmlns:a="http://schemas.openxmlformats.org/drawingml/2006/main">
            <a:r>
              <a:t>https://github.com/ali-novruz/bioinformatics-lab/blob/43ebcd8/SETUP.md</a:t>
            </a:r>
          </a:p>
          <a:p xmlns:a="http://schemas.openxmlformats.org/drawingml/2006/main">
            <a:r>
              <a:t>https://github.com/ali-novruz/bioinformatics-lab/blob/43ebcd8/STATUS.md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əvvəlcə lokal kompüterə clone və ya ZIP vasitəsilə alınmalıdır. Bu əmrlər repo kökündə yerinə yetirilir. PowerShell activation məhdud olarsa siyasəti dəyişmədən .venv/Scripts/python.exe yolunu birbaşa işlətmək olar. RNA-seq daxil tam suite üçün dev ilə yanaşı research extra-sı da lazımdır. Python 3.11 də əsas paket və CI-də dəstəklənir.</a:t>
            </a:r>
          </a:p>
          <a:p xmlns:a="http://schemas.openxmlformats.org/drawingml/2006/main">
            <a:r>
              <a:t/>
            </a:r>
          </a:p>
          <a:p xmlns:a="http://schemas.openxmlformats.org/drawingml/2006/main">
            <a:r>
              <a:t>Praktiki əmr və əlavə məlumat:</a:t>
            </a:r>
          </a:p>
          <a:p xmlns:a="http://schemas.openxmlformats.org/drawingml/2006/main">
            <a:r>
              <a:t>python -m venv .venv</a:t>
            </a:r>
          </a:p>
          <a:p xmlns:a="http://schemas.openxmlformats.org/drawingml/2006/main">
            <a:r>
              <a:t>.venv\Scripts\Activate.ps1</a:t>
            </a:r>
          </a:p>
          <a:p xmlns:a="http://schemas.openxmlformats.org/drawingml/2006/main">
            <a:r>
              <a:t>python -m pip install -e ".[dev]"</a:t>
            </a:r>
          </a:p>
          <a:p xmlns:a="http://schemas.openxmlformats.org/drawingml/2006/main">
            <a:r>
              <a:t/>
            </a:r>
          </a:p>
          <a:p xmlns:a="http://schemas.openxmlformats.org/drawingml/2006/main">
            <a:r>
              <a:t>Mənbələr: </a:t>
            </a:r>
          </a:p>
          <a:p xmlns:a="http://schemas.openxmlformats.org/drawingml/2006/main">
            <a:r>
              <a:t>https://github.com/ali-novruz/bioinformatics-lab/blob/43ebcd8/SETUP.md</a:t>
            </a:r>
          </a:p>
          <a:p xmlns:a="http://schemas.openxmlformats.org/drawingml/2006/main">
            <a:r>
              <a:t>https://github.com/ali-novruz/bioinformatics-lab/blob/43ebcd8/README.md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Alignment layihəsi kiçik sintetik sequence cütləri ilə qlobal və lokal hizalamanı göstərir. İşləyən prosesin yaratdığı qovluq yolunu saxlayın. Uğursuz icrada output-u uğurlu nəticə kimi təqdim etməyin. Bu əmrlər video çəkilişində qısa, real və təkrarlana bilən nümayiş üçün uyğundur. Nəticə qovluqlarının vaxt və ID hissələri hər icrada dəyişir.</a:t>
            </a:r>
          </a:p>
          <a:p xmlns:a="http://schemas.openxmlformats.org/drawingml/2006/main">
            <a:r>
              <a:t/>
            </a:r>
          </a:p>
          <a:p xmlns:a="http://schemas.openxmlformats.org/drawingml/2006/main">
            <a:r>
              <a:t>Praktiki əmr və əlavə məlumat:</a:t>
            </a:r>
          </a:p>
          <a:p xmlns:a="http://schemas.openxmlformats.org/drawingml/2006/main">
            <a:r>
              <a:t>python scripts/lab.py list</a:t>
            </a:r>
          </a:p>
          <a:p xmlns:a="http://schemas.openxmlformats.org/drawingml/2006/main">
            <a:r>
              <a:t>python scripts/lab.py run alignment --offline</a:t>
            </a:r>
          </a:p>
          <a:p xmlns:a="http://schemas.openxmlformats.org/drawingml/2006/main">
            <a:r>
              <a:t/>
            </a:r>
          </a:p>
          <a:p xmlns:a="http://schemas.openxmlformats.org/drawingml/2006/main">
            <a:r>
              <a:t>Çıxış: results/runs/ daxilində yeni qovluq</a:t>
            </a:r>
          </a:p>
          <a:p xmlns:a="http://schemas.openxmlformats.org/drawingml/2006/main">
            <a:r>
              <a:t/>
            </a:r>
          </a:p>
          <a:p xmlns:a="http://schemas.openxmlformats.org/drawingml/2006/main">
            <a:r>
              <a:t>Mənbələr: </a:t>
            </a:r>
          </a:p>
          <a:p xmlns:a="http://schemas.openxmlformats.org/drawingml/2006/main">
            <a:r>
              <a:t>https://github.com/ali-novruz/bioinformatics-lab/blob/43ebcd8/scripts/lab.py</a:t>
            </a:r>
          </a:p>
          <a:p xmlns:a="http://schemas.openxmlformats.org/drawingml/2006/main">
            <a:r>
              <a:t>https://github.com/ali-novruz/bioinformatics-lab/blob/43ebcd8/projects/beginner/sequence-alignment/README.md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Suite qovluğu çoxlu layihənin idarəetmə hesabatını saxlayır, elmi nəticələrin hamısı həmin qovluğun içində olmaya bilər. projects daxilindəki run_paths faktiki layihə qovluqlarına işarə edir. Run metadata-si girişlər və icra haqqında məlumat verir. Saxlanmış nəşr edilmiş nəticələrin bütövlüyü check_all_results.py ilə ayrıca yoxlanır. Status complete olması bioloji şərhin avtomatik düzgün olması deyil.</a:t>
            </a:r>
          </a:p>
          <a:p xmlns:a="http://schemas.openxmlformats.org/drawingml/2006/main">
            <a:r>
              <a:t/>
            </a:r>
          </a:p>
          <a:p xmlns:a="http://schemas.openxmlformats.org/drawingml/2006/main">
            <a:r>
              <a:t>Praktiki əmr və əlavə məlumat:</a:t>
            </a:r>
          </a:p>
          <a:p xmlns:a="http://schemas.openxmlformats.org/drawingml/2006/main">
            <a:r>
              <a:t>suite.json  → status və run_paths</a:t>
            </a:r>
          </a:p>
          <a:p xmlns:a="http://schemas.openxmlformats.org/drawingml/2006/main">
            <a:r>
              <a:t>alignment.log  → icranın gedişi</a:t>
            </a:r>
          </a:p>
          <a:p xmlns:a="http://schemas.openxmlformats.org/drawingml/2006/main">
            <a:r>
              <a:t>run.json  → parametr və mənşə</a:t>
            </a:r>
          </a:p>
          <a:p xmlns:a="http://schemas.openxmlformats.org/drawingml/2006/main">
            <a:r>
              <a:t>Layihə qovluğu  → cədvəl və digər çıxışlar</a:t>
            </a:r>
          </a:p>
          <a:p xmlns:a="http://schemas.openxmlformats.org/drawingml/2006/main">
            <a:r>
              <a:t/>
            </a:r>
          </a:p>
          <a:p xmlns:a="http://schemas.openxmlformats.org/drawingml/2006/main">
            <a:r>
              <a:t>Mənbələr: </a:t>
            </a:r>
          </a:p>
          <a:p xmlns:a="http://schemas.openxmlformats.org/drawingml/2006/main">
            <a:r>
              <a:t>https://github.com/ali-novruz/bioinformatics-lab/blob/43ebcd8/scripts/lab.py</a:t>
            </a:r>
          </a:p>
          <a:p xmlns:a="http://schemas.openxmlformats.org/drawingml/2006/main">
            <a:r>
              <a:t>https://github.com/ali-novruz/bioinformatics-lab/blob/43ebcd8/src/biolab/reporting.py</a:t>
            </a:r>
          </a:p>
          <a:p xmlns:a="http://schemas.openxmlformats.org/drawingml/2006/main">
            <a:r>
              <a:t>https://github.com/ali-novruz/bioinformatics-lab/blob/43ebcd8/results/README.md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suite download tələb edən dörd layihəni buraxır və skipped siyahısını saxlayır. Tam suite dataset fetch addımlarını icra edir. Endirmə xətası baş verdikdə səbəbi log-dan yoxlamaq lazımdır. Notebook-ların yenidən icrası real girişləri əvvəlcədən tələb edə bilər. Xam sequencing üçün workflows/README və SETUP-da ayrıca quraşdırma yolu verilir.</a:t>
            </a:r>
          </a:p>
          <a:p xmlns:a="http://schemas.openxmlformats.org/drawingml/2006/main">
            <a:r>
              <a:t/>
            </a:r>
          </a:p>
          <a:p xmlns:a="http://schemas.openxmlformats.org/drawingml/2006/main">
            <a:r>
              <a:t>Praktiki əmr və əlavə məlumat:</a:t>
            </a:r>
          </a:p>
          <a:p xmlns:a="http://schemas.openxmlformats.org/drawingml/2006/main">
            <a:r>
              <a:t>python scripts/lab.py run all --offline</a:t>
            </a:r>
          </a:p>
          <a:p xmlns:a="http://schemas.openxmlformats.org/drawingml/2006/main">
            <a:r>
              <a:t/>
            </a:r>
          </a:p>
          <a:p xmlns:a="http://schemas.openxmlformats.org/drawingml/2006/main">
            <a:r>
              <a:t>python -m pip install -e ".[dev,research]"</a:t>
            </a:r>
          </a:p>
          <a:p xmlns:a="http://schemas.openxmlformats.org/drawingml/2006/main">
            <a:r>
              <a:t>python scripts/lab.py run all</a:t>
            </a:r>
          </a:p>
          <a:p xmlns:a="http://schemas.openxmlformats.org/drawingml/2006/main">
            <a:r>
              <a:t/>
            </a:r>
          </a:p>
          <a:p xmlns:a="http://schemas.openxmlformats.org/drawingml/2006/main">
            <a:r>
              <a:t>Mənbələr: </a:t>
            </a:r>
          </a:p>
          <a:p xmlns:a="http://schemas.openxmlformats.org/drawingml/2006/main">
            <a:r>
              <a:t>https://github.com/ali-novruz/bioinformatics-lab/blob/43ebcd8/SETUP.md</a:t>
            </a:r>
          </a:p>
          <a:p xmlns:a="http://schemas.openxmlformats.org/drawingml/2006/main">
            <a:r>
              <a:t>https://github.com/ali-novruz/bioinformatics-lab/blob/43ebcd8/scripts/lab.py</a:t>
            </a:r>
          </a:p>
          <a:p xmlns:a="http://schemas.openxmlformats.org/drawingml/2006/main">
            <a:r>
              <a:t>https://github.com/ali-novruz/bioinformatics-lab/blob/43ebcd8/workflows/README.md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Yeni layihə qeydiyyatı, sənədləşmə və testlər birlikdə dəyişməlidir. Tarixi nəticələri yeni kodla səssizcə əvəz etməyin. README və lokal link yoxlamaları yeni sənədlərin tapılmasını təmin edir. Testlərdən keçmək tədqiqatın tam doğrulanması deyil, mühəndislik yoxlamasıdır. Təqdimatı bağlayarkən konkret çağırış verin: alignment nümunəsini işlədib nəticə qovluğundan istifadə olunan metod və input-u tapmaq.</a:t>
            </a:r>
          </a:p>
          <a:p xmlns:a="http://schemas.openxmlformats.org/drawingml/2006/main">
            <a:r>
              <a:t/>
            </a:r>
          </a:p>
          <a:p xmlns:a="http://schemas.openxmlformats.org/drawingml/2006/main">
            <a:r>
              <a:t>Praktiki əmr və əlavə məlumat:</a:t>
            </a:r>
          </a:p>
          <a:p xmlns:a="http://schemas.openxmlformats.org/drawingml/2006/main">
            <a:r>
              <a:t>python -m pytest</a:t>
            </a:r>
          </a:p>
          <a:p xmlns:a="http://schemas.openxmlformats.org/drawingml/2006/main">
            <a:r>
              <a:t>python scripts/check_repository.py</a:t>
            </a:r>
          </a:p>
          <a:p xmlns:a="http://schemas.openxmlformats.org/drawingml/2006/main">
            <a:r>
              <a:t>python scripts/check_all_results.py</a:t>
            </a:r>
          </a:p>
          <a:p xmlns:a="http://schemas.openxmlformats.org/drawingml/2006/main">
            <a:r>
              <a:t/>
            </a:r>
          </a:p>
          <a:p xmlns:a="http://schemas.openxmlformats.org/drawingml/2006/main">
            <a:r>
              <a:t>Töhfə qaydaları: CONTRIBUTING.md</a:t>
            </a:r>
          </a:p>
          <a:p xmlns:a="http://schemas.openxmlformats.org/drawingml/2006/main">
            <a:r>
              <a:t/>
            </a:r>
          </a:p>
          <a:p xmlns:a="http://schemas.openxmlformats.org/drawingml/2006/main">
            <a:r>
              <a:t>Mənbələr: </a:t>
            </a:r>
          </a:p>
          <a:p xmlns:a="http://schemas.openxmlformats.org/drawingml/2006/main">
            <a:r>
              <a:t>https://github.com/ali-novruz/bioinformatics-lab/blob/43ebcd8/CONTRIBUTING.md</a:t>
            </a:r>
          </a:p>
          <a:p xmlns:a="http://schemas.openxmlformats.org/drawingml/2006/main">
            <a:r>
              <a:t>https://github.com/ali-novruz/bioinformatics-lab/blob/43ebcd8/scripts/check_repository.py</a:t>
            </a:r>
          </a:p>
          <a:p xmlns:a="http://schemas.openxmlformats.org/drawingml/2006/main">
            <a:r>
              <a:t>https://github.com/ali-novruz/bioinformatics-lab/blob/43ebcd8/scripts/check_all_results.py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9d16a7088e44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306e3afad643c3" /><Relationship Type="http://schemas.openxmlformats.org/officeDocument/2006/relationships/slideLayout" Target="/ppt/slideLayouts/slideLayout1.xml" Id="Rb128bde9350148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28bde9350148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9e75b860144cbc" /><Relationship Type="http://schemas.openxmlformats.org/officeDocument/2006/relationships/image" Target="/ppt/media/image.png" Id="Rde40f4ee1b4d4278" /><Relationship Type="http://schemas.openxmlformats.org/officeDocument/2006/relationships/notesSlide" Target="/ppt/notesSlides/notesSlide1.xml" Id="R4b8cb94011d54d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7e3de49ce24114" /><Relationship Type="http://schemas.openxmlformats.org/officeDocument/2006/relationships/notesSlide" Target="/ppt/notesSlides/notesSlide2.xml" Id="Rb7aab85d918449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2ddd351d3f4b2c" /><Relationship Type="http://schemas.openxmlformats.org/officeDocument/2006/relationships/chart" Target="/ppt/slides/charts/chart1.xml" Id="R439288139abb4f4b" /><Relationship Type="http://schemas.openxmlformats.org/officeDocument/2006/relationships/notesSlide" Target="/ppt/notesSlides/notesSlide3.xml" Id="R1d9912d017f94c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db2ca7558043a2" /><Relationship Type="http://schemas.openxmlformats.org/officeDocument/2006/relationships/notesSlide" Target="/ppt/notesSlides/notesSlide4.xml" Id="R200fc2d1f8ae46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683881bc8345ce" /><Relationship Type="http://schemas.openxmlformats.org/officeDocument/2006/relationships/notesSlide" Target="/ppt/notesSlides/notesSlide5.xml" Id="R6ee18dd404d64c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d755af50464192" /><Relationship Type="http://schemas.openxmlformats.org/officeDocument/2006/relationships/image" Target="/ppt/media/image2.png" Id="Rec29fc41d9ff4c19" /><Relationship Type="http://schemas.openxmlformats.org/officeDocument/2006/relationships/notesSlide" Target="/ppt/notesSlides/notesSlide6.xml" Id="Rf065b535d9c34f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cf87c5f4e742dc" /><Relationship Type="http://schemas.openxmlformats.org/officeDocument/2006/relationships/image" Target="/ppt/media/image3.png" Id="R56cc1cb8421a42c4" /><Relationship Type="http://schemas.openxmlformats.org/officeDocument/2006/relationships/notesSlide" Target="/ppt/notesSlides/notesSlide7.xml" Id="Ra53036a2dcb542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73145f474e4be1" /><Relationship Type="http://schemas.openxmlformats.org/officeDocument/2006/relationships/image" Target="/ppt/media/image4.png" Id="R6fdc0d17eee348eb" /><Relationship Type="http://schemas.openxmlformats.org/officeDocument/2006/relationships/notesSlide" Target="/ppt/notesSlides/notesSlide8.xml" Id="R5eca98c87e384a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96a88ce561454d" /><Relationship Type="http://schemas.openxmlformats.org/officeDocument/2006/relationships/image" Target="/ppt/media/image5.png" Id="R4b4d48ab67ab47d5" /><Relationship Type="http://schemas.openxmlformats.org/officeDocument/2006/relationships/notesSlide" Target="/ppt/notesSlides/notesSlide9.xml" Id="Rbdb00dc4abd24d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ad1df154194274" /><Relationship Type="http://schemas.openxmlformats.org/officeDocument/2006/relationships/image" Target="/ppt/media/image6.png" Id="R82c74f4e15b54074" /><Relationship Type="http://schemas.openxmlformats.org/officeDocument/2006/relationships/notesSlide" Target="/ppt/notesSlides/notesSlide10.xml" Id="R8d71d7fb34b843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5d029b554d24ed1" /><Relationship Type="http://schemas.openxmlformats.org/officeDocument/2006/relationships/image" Target="/ppt/media/image7.png" Id="R987084e279844ecf" /><Relationship Type="http://schemas.openxmlformats.org/officeDocument/2006/relationships/notesSlide" Target="/ppt/notesSlides/notesSlide11.xml" Id="R9cb55a93d0ff48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84d89ca30e4ced" /><Relationship Type="http://schemas.openxmlformats.org/officeDocument/2006/relationships/image" Target="/ppt/media/image8.png" Id="R8e2723513d354e41" /><Relationship Type="http://schemas.openxmlformats.org/officeDocument/2006/relationships/notesSlide" Target="/ppt/notesSlides/notesSlide12.xml" Id="Rd6046ae8621643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dd45fcc78db4b63" /><Relationship Type="http://schemas.openxmlformats.org/officeDocument/2006/relationships/image" Target="/ppt/media/image9.png" Id="Rd313725d2fc44486" /><Relationship Type="http://schemas.openxmlformats.org/officeDocument/2006/relationships/notesSlide" Target="/ppt/notesSlides/notesSlide13.xml" Id="R90d5853f47454f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5cae47eb9e4f7b" /><Relationship Type="http://schemas.openxmlformats.org/officeDocument/2006/relationships/notesSlide" Target="/ppt/notesSlides/notesSlide14.xml" Id="R904101425bef411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b370c5440594c95" /><Relationship Type="http://schemas.openxmlformats.org/officeDocument/2006/relationships/notesSlide" Target="/ppt/notesSlides/notesSlide15.xml" Id="R13a97007fe5a45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75ccfda28424e53" /><Relationship Type="http://schemas.openxmlformats.org/officeDocument/2006/relationships/notesSlide" Target="/ppt/notesSlides/notesSlide16.xml" Id="R29073d2b44f543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1fc2a2225b74e37" /><Relationship Type="http://schemas.openxmlformats.org/officeDocument/2006/relationships/notesSlide" Target="/ppt/notesSlides/notesSlide17.xml" Id="R1842fcc0153b4a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ab389c5e9ea4410" /><Relationship Type="http://schemas.openxmlformats.org/officeDocument/2006/relationships/notesSlide" Target="/ppt/notesSlides/notesSlide18.xml" Id="Rf02a70b34e33436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1bfcc1b14784ec9" /><Relationship Type="http://schemas.openxmlformats.org/officeDocument/2006/relationships/notesSlide" Target="/ppt/notesSlides/notesSlide19.xml" Id="Rd727a76f05ee4b5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79132fe0dda4ddc" /><Relationship Type="http://schemas.openxmlformats.org/officeDocument/2006/relationships/notesSlide" Target="/ppt/notesSlides/notesSlide20.xml" Id="Ra810f08cc04649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cdf35f99d5e4956" /><Relationship Type="http://schemas.openxmlformats.org/officeDocument/2006/relationships/notesSlide" Target="/ppt/notesSlides/notesSlide21.xml" Id="Ra876a0ffeeb048c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16df13f09f24d4d" /><Relationship Type="http://schemas.openxmlformats.org/officeDocument/2006/relationships/notesSlide" Target="/ppt/notesSlides/notesSlide22.xml" Id="R692bbf0daa9e41a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ef06ad831394769" /><Relationship Type="http://schemas.openxmlformats.org/officeDocument/2006/relationships/notesSlide" Target="/ppt/notesSlides/notesSlide23.xml" Id="Re246c481e07e481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d2b9d867c1949d4" /><Relationship Type="http://schemas.openxmlformats.org/officeDocument/2006/relationships/notesSlide" Target="/ppt/notesSlides/notesSlide24.xml" Id="R185c0324e0a04a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bdc620570ef4070" /><Relationship Type="http://schemas.openxmlformats.org/officeDocument/2006/relationships/notesSlide" Target="/ppt/notesSlides/notesSlide25.xml" Id="R61d85a74d820463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e1acb01143d4cef" /><Relationship Type="http://schemas.openxmlformats.org/officeDocument/2006/relationships/notesSlide" Target="/ppt/notesSlides/notesSlide26.xml" Id="Reb8213671dc0417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doughnutChart>
        <c:ser>
          <c:idx val="0"/>
          <c:order val="0"/>
          <c:tx>
            <c:v>Layihə sayı</c:v>
          </c:tx>
          <c:dPt>
            <c:idx val="0"/>
            <c:spPr>
              <a:solidFill xmlns:a="http://schemas.openxmlformats.org/drawingml/2006/main">
                <a:srgbClr val="087F83"/>
              </a:solidFill>
            </c:spPr>
          </c:dPt>
          <c:dPt>
            <c:idx val="1"/>
            <c:spPr>
              <a:solidFill xmlns:a="http://schemas.openxmlformats.org/drawingml/2006/main">
                <a:srgbClr val="D77A52"/>
              </a:solidFill>
            </c:spPr>
          </c:dPt>
          <c:cat>
            <c:strRef>
              <c:f>'Chart Data'!$A$2:$A$3</c:f>
              <c:strCache>
                <c:ptCount val="2"/>
                <c:pt idx="0">
                  <c:v>Offline</c:v>
                </c:pt>
                <c:pt idx="1">
                  <c:v>Endirmə</c:v>
                </c:pt>
              </c:strCache>
            </c:strRef>
          </c:cat>
          <c:val>
            <c:numRef>
              <c:f>'Chart Data'!$B$2:$B$3</c:f>
              <c:numCache>
                <c:formatCode>General</c:formatCode>
                <c:ptCount val="2"/>
                <c:pt idx="0">
                  <c:v>8</c:v>
                </c:pt>
                <c:pt idx="1">
                  <c:v>4</c:v>
                </c:pt>
              </c:numCache>
            </c:numRef>
          </c:val>
        </c:ser>
        <c:dLbls>
          <c:txPr>
            <a:bodyPr xmlns:a="http://schemas.openxmlformats.org/drawingml/2006/main" anchorCtr="1"/>
            <a:lstStyle xmlns:a="http://schemas.openxmlformats.org/drawingml/2006/main"/>
            <a:p xmlns:a="http://schemas.openxmlformats.org/drawingml/2006/main">
              <a:pPr>
                <a:defRPr sz="2175" b="1">
                  <a:solidFill>
                    <a:srgbClr val="FFFFFF"/>
                  </a:solidFill>
                  <a:latin typeface="Arial"/>
                  <a:ea typeface="Arial"/>
                  <a:cs typeface="Arial"/>
                </a:defRPr>
              </a:pPr>
            </a:p>
          </c:txPr>
          <c:showLegendKey val="0"/>
          <c:showVal val="1"/>
          <c:showCatName val="0"/>
          <c:showSerName val="0"/>
          <c:showPercent val="0"/>
          <c:showBubbleSize val="0"/>
          <c:showLeaderLines val="0"/>
        </c:dLbls>
        <c:holeSize val="67"/>
      </c:doughnutChart>
      <c:spPr>
        <a:solidFill xmlns:a="http://schemas.openxmlformats.org/drawingml/2006/main">
          <a:srgbClr val="F4F8F7"/>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3343"/>
              </a:solidFill>
              <a:latin typeface="Arial"/>
              <a:ea typeface="Arial"/>
              <a:cs typeface="Arial"/>
            </a:defRPr>
          </a:pPr>
        </a:p>
      </c:txPr>
    </c:legend>
    <c:plotVisOnly val="1"/>
  </c:chart>
  <c:spPr>
    <a:solidFill xmlns:a="http://schemas.openxmlformats.org/drawingml/2006/main">
      <a:srgbClr val="F4F8F7"/>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2333"/>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de40f4ee1b4d4278"/>
          <a:stretch xmlns:a="http://schemas.openxmlformats.org/drawingml/2006/main"/>
        </p:blipFill>
        <p:spPr>
          <a:xfrm xmlns:a="http://schemas.openxmlformats.org/drawingml/2006/main">
            <a:off x="0" y="554037"/>
            <a:ext cx="12192000" cy="4064000"/>
          </a:xfrm>
          <a:prstGeom xmlns:a="http://schemas.openxmlformats.org/drawingml/2006/main" prst="rect">
            <a:avLst/>
          </a:prstGeom>
        </p:spPr>
      </p:pic>
      <p:sp>
        <p:nvSpPr>
          <p:cNvPr id="2" name="reveal-2::shape-0">
            <a:extLst xmlns:a="http://schemas.openxmlformats.org/drawingml/2006/main">
              <a:ext uri="{FF2B5EF4-FFF2-40B4-BE49-F238E27FC236}">
                <a16:creationId xmlns:a16="http://schemas.microsoft.com/office/drawing/2014/main" id="{9BDD1F8C-2CF1-45F1-B9B6-129B220CB82D}"/>
              </a:ext>
            </a:extLst>
          </p:cNvPr>
          <p:cNvSpPr>
            <a:spLocks xmlns:a="http://schemas.openxmlformats.org/drawingml/2006/main" noGrp="1"/>
          </p:cNvSpPr>
          <p:nvPr/>
        </p:nvSpPr>
        <p:spPr>
          <a:xfrm xmlns:a="http://schemas.openxmlformats.org/drawingml/2006/main">
            <a:off x="571500" y="49053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Bioloji sualdan nəticəyə</a:t>
            </a:r>
          </a:p>
        </p:txBody>
      </p:sp>
      <p:sp>
        <p:nvSpPr>
          <p:cNvPr id="3" name="reveal-3::shape-1">
            <a:extLst xmlns:a="http://schemas.openxmlformats.org/drawingml/2006/main">
              <a:ext uri="{FF2B5EF4-FFF2-40B4-BE49-F238E27FC236}">
                <a16:creationId xmlns:a16="http://schemas.microsoft.com/office/drawing/2014/main" id="{D8B1C20A-8B02-43D4-94DF-4E1C6CDFDD3C}"/>
              </a:ext>
            </a:extLst>
          </p:cNvPr>
          <p:cNvSpPr>
            <a:spLocks xmlns:a="http://schemas.openxmlformats.org/drawingml/2006/main" noGrp="1"/>
          </p:cNvSpPr>
          <p:nvPr/>
        </p:nvSpPr>
        <p:spPr>
          <a:xfrm xmlns:a="http://schemas.openxmlformats.org/drawingml/2006/main">
            <a:off x="571500" y="58864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79DEC5"/>
                </a:solidFill>
                <a:latin typeface="Arial"/>
                <a:ea typeface="Arial"/>
                <a:cs typeface="Arial"/>
              </a:defRPr>
            </a:pPr>
            <a:r>
              <a:rPr sz="2025" b="0">
                <a:solidFill>
                  <a:srgbClr val="79DEC5"/>
                </a:solidFill>
                <a:latin typeface="Arial"/>
                <a:ea typeface="Arial"/>
                <a:cs typeface="Arial"/>
              </a:rPr>
              <a:t>Layihənin imkanları və praktiki istifadə bələdçisi</a:t>
            </a:r>
          </a:p>
        </p:txBody>
      </p:sp>
      <p:sp>
        <p:nvSpPr>
          <p:cNvPr id="4" name="reveal-0::shape-2">
            <a:extLst xmlns:a="http://schemas.openxmlformats.org/drawingml/2006/main">
              <a:ext uri="{FF2B5EF4-FFF2-40B4-BE49-F238E27FC236}">
                <a16:creationId xmlns:a16="http://schemas.microsoft.com/office/drawing/2014/main" id="{9E634B7B-A899-48CA-A634-07434C55E7AC}"/>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2B2BB"/>
                </a:solidFill>
                <a:latin typeface="Arial"/>
                <a:ea typeface="Arial"/>
                <a:cs typeface="Arial"/>
              </a:defRPr>
            </a:pPr>
            <a:r>
              <a:rPr sz="1050" b="0">
                <a:solidFill>
                  <a:srgbClr val="92B2BB"/>
                </a:solidFill>
                <a:latin typeface="Arial"/>
                <a:ea typeface="Arial"/>
                <a:cs typeface="Arial"/>
              </a:rPr>
              <a:t>01</a:t>
            </a:r>
          </a:p>
        </p:txBody>
      </p:sp>
    </p:spTree>
    <p:extLst>
      <p:ext uri="{BB962C8B-B14F-4D97-AF65-F5344CB8AC3E}">
        <p14:creationId xmlns:p14="http://schemas.microsoft.com/office/powerpoint/2010/main" val="1608825623"/>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260"/>
                            </p:stCondLst>
                            <p:childTnList>
                              <p:set>
                                <p:cBhvr>
                                  <p:cTn id="5" dur="1" fill="hold">
                                    <p:stCondLst>
                                      <p:cond delay="0"/>
                                    </p:stCondLst>
                                  </p:cTn>
                                  <p:tgtEl>
                                    <p:spTgt spid="2"/>
                                  </p:tgtEl>
                                  <p:attrNameLst>
                                    <p:attrName>style.visibility</p:attrName>
                                  </p:attrNameLst>
                                </p:cBhvr>
                                <p:to>
                                  <p:strVal val="visible"/>
                                </p:to>
                              </p:set>
                              <p:animEffect transition="in" filter="fade">
                                <p:cBhvr>
                                  <p:cTn id="6" dur="550" fill="hold"/>
                                  <p:tgtEl>
                                    <p:spTgt spid="2"/>
                                  </p:tgtEl>
                                </p:cBhvr>
                              </p:animEffect>
                            </p:childTnList>
                          </p:cTn>
                        </p:par>
                        <p:par>
                          <p:cTn id="7" presetID="10" presetClass="entr" presetSubtype="0" fill="hold" grpId="0" nodeType="withEffect">
                            <p:stCondLst>
                              <p:cond delay="520"/>
                            </p:stCondLst>
                            <p:childTnList>
                              <p:set>
                                <p:cBhvr>
                                  <p:cTn id="8" dur="1" fill="hold">
                                    <p:stCondLst>
                                      <p:cond delay="0"/>
                                    </p:stCondLst>
                                  </p:cTn>
                                  <p:tgtEl>
                                    <p:spTgt spid="3"/>
                                  </p:tgtEl>
                                  <p:attrNameLst>
                                    <p:attrName>style.visibility</p:attrName>
                                  </p:attrNameLst>
                                </p:cBhvr>
                                <p:to>
                                  <p:strVal val="visible"/>
                                </p:to>
                              </p:set>
                              <p:animEffect transition="in" filter="fade">
                                <p:cBhvr>
                                  <p:cTn id="9" dur="550" fill="hold"/>
                                  <p:tgtEl>
                                    <p:spTgt spid="3"/>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3" name="reveal-1::shape-3">
            <a:extLst xmlns:a="http://schemas.openxmlformats.org/drawingml/2006/main">
              <a:ext uri="{FF2B5EF4-FFF2-40B4-BE49-F238E27FC236}">
                <a16:creationId xmlns:a16="http://schemas.microsoft.com/office/drawing/2014/main" id="{F04288C8-688A-456A-9D0B-C0D116AD57B1}"/>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Bir sualın laboratoriyada keçdiyi yol</a:t>
            </a:r>
          </a:p>
        </p:txBody>
      </p:sp>
      <p:sp>
        <p:nvSpPr>
          <p:cNvPr id="2" name="reveal-2::shape-4">
            <a:extLst xmlns:a="http://schemas.openxmlformats.org/drawingml/2006/main">
              <a:ext uri="{FF2B5EF4-FFF2-40B4-BE49-F238E27FC236}">
                <a16:creationId xmlns:a16="http://schemas.microsoft.com/office/drawing/2014/main" id="{2CB9A491-9BA0-4C90-830E-940A22887C8B}"/>
              </a:ext>
            </a:extLst>
          </p:cNvPr>
          <p:cNvSpPr>
            <a:spLocks xmlns:a="http://schemas.openxmlformats.org/drawingml/2006/main" noGrp="1"/>
          </p:cNvSpPr>
          <p:nvPr/>
        </p:nvSpPr>
        <p:spPr>
          <a:xfrm xmlns:a="http://schemas.openxmlformats.org/drawingml/2006/main">
            <a:off x="619125" y="2238375"/>
            <a:ext cx="495300" cy="495300"/>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3" name="reveal-2::shape-5">
            <a:extLst xmlns:a="http://schemas.openxmlformats.org/drawingml/2006/main">
              <a:ext uri="{FF2B5EF4-FFF2-40B4-BE49-F238E27FC236}">
                <a16:creationId xmlns:a16="http://schemas.microsoft.com/office/drawing/2014/main" id="{4CD80FF5-588E-498E-864E-DE9843F0B482}"/>
              </a:ext>
            </a:extLst>
          </p:cNvPr>
          <p:cNvSpPr>
            <a:spLocks xmlns:a="http://schemas.openxmlformats.org/drawingml/2006/main" noGrp="1"/>
          </p:cNvSpPr>
          <p:nvPr/>
        </p:nvSpPr>
        <p:spPr>
          <a:xfrm xmlns:a="http://schemas.openxmlformats.org/drawingml/2006/main">
            <a:off x="704850" y="2295525"/>
            <a:ext cx="38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1</a:t>
            </a:r>
          </a:p>
        </p:txBody>
      </p:sp>
      <p:sp>
        <p:nvSpPr>
          <p:cNvPr id="4" name="reveal-2::shape-6">
            <a:extLst xmlns:a="http://schemas.openxmlformats.org/drawingml/2006/main">
              <a:ext uri="{FF2B5EF4-FFF2-40B4-BE49-F238E27FC236}">
                <a16:creationId xmlns:a16="http://schemas.microsoft.com/office/drawing/2014/main" id="{8D856259-DD6D-4561-86A2-E71B28BF6753}"/>
              </a:ext>
            </a:extLst>
          </p:cNvPr>
          <p:cNvSpPr>
            <a:spLocks xmlns:a="http://schemas.openxmlformats.org/drawingml/2006/main" noGrp="1"/>
          </p:cNvSpPr>
          <p:nvPr/>
        </p:nvSpPr>
        <p:spPr>
          <a:xfrm xmlns:a="http://schemas.openxmlformats.org/drawingml/2006/main">
            <a:off x="619125" y="2962275"/>
            <a:ext cx="2247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Sual</a:t>
            </a:r>
          </a:p>
        </p:txBody>
      </p:sp>
      <p:sp>
        <p:nvSpPr>
          <p:cNvPr id="5" name="reveal-2::shape-7">
            <a:extLst xmlns:a="http://schemas.openxmlformats.org/drawingml/2006/main">
              <a:ext uri="{FF2B5EF4-FFF2-40B4-BE49-F238E27FC236}">
                <a16:creationId xmlns:a16="http://schemas.microsoft.com/office/drawing/2014/main" id="{DB5BF2B4-6471-4938-BAF1-1801A3503B29}"/>
              </a:ext>
            </a:extLst>
          </p:cNvPr>
          <p:cNvSpPr>
            <a:spLocks xmlns:a="http://schemas.openxmlformats.org/drawingml/2006/main" noGrp="1"/>
          </p:cNvSpPr>
          <p:nvPr/>
        </p:nvSpPr>
        <p:spPr>
          <a:xfrm xmlns:a="http://schemas.openxmlformats.org/drawingml/2006/main">
            <a:off x="619125" y="3619500"/>
            <a:ext cx="2247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Nəyi öyrənmək</a:t>
            </a:r>
          </a:p>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istəyirik?</a:t>
            </a:r>
          </a:p>
        </p:txBody>
      </p:sp>
      <p:sp>
        <p:nvSpPr>
          <p:cNvPr id="6" name="reveal-2::shape-8">
            <a:extLst xmlns:a="http://schemas.openxmlformats.org/drawingml/2006/main">
              <a:ext uri="{FF2B5EF4-FFF2-40B4-BE49-F238E27FC236}">
                <a16:creationId xmlns:a16="http://schemas.microsoft.com/office/drawing/2014/main" id="{30C63DF7-E228-45C8-9708-ECE6EBB45B0A}"/>
              </a:ext>
            </a:extLst>
          </p:cNvPr>
          <p:cNvSpPr>
            <a:spLocks xmlns:a="http://schemas.openxmlformats.org/drawingml/2006/main" noGrp="1"/>
          </p:cNvSpPr>
          <p:nvPr/>
        </p:nvSpPr>
        <p:spPr>
          <a:xfrm xmlns:a="http://schemas.openxmlformats.org/drawingml/2006/main">
            <a:off x="2428875" y="2419350"/>
            <a:ext cx="800100"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7" name="reveal-3::shape-9">
            <a:extLst xmlns:a="http://schemas.openxmlformats.org/drawingml/2006/main">
              <a:ext uri="{FF2B5EF4-FFF2-40B4-BE49-F238E27FC236}">
                <a16:creationId xmlns:a16="http://schemas.microsoft.com/office/drawing/2014/main" id="{955177CD-113C-4678-B701-AB1443D6F8A2}"/>
              </a:ext>
            </a:extLst>
          </p:cNvPr>
          <p:cNvSpPr>
            <a:spLocks xmlns:a="http://schemas.openxmlformats.org/drawingml/2006/main" noGrp="1"/>
          </p:cNvSpPr>
          <p:nvPr/>
        </p:nvSpPr>
        <p:spPr>
          <a:xfrm xmlns:a="http://schemas.openxmlformats.org/drawingml/2006/main">
            <a:off x="3476625" y="2238375"/>
            <a:ext cx="495300" cy="495300"/>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8" name="reveal-3::shape-10">
            <a:extLst xmlns:a="http://schemas.openxmlformats.org/drawingml/2006/main">
              <a:ext uri="{FF2B5EF4-FFF2-40B4-BE49-F238E27FC236}">
                <a16:creationId xmlns:a16="http://schemas.microsoft.com/office/drawing/2014/main" id="{85C9B0B5-A6B2-449A-8AFF-E84C053F4076}"/>
              </a:ext>
            </a:extLst>
          </p:cNvPr>
          <p:cNvSpPr>
            <a:spLocks xmlns:a="http://schemas.openxmlformats.org/drawingml/2006/main" noGrp="1"/>
          </p:cNvSpPr>
          <p:nvPr/>
        </p:nvSpPr>
        <p:spPr>
          <a:xfrm xmlns:a="http://schemas.openxmlformats.org/drawingml/2006/main">
            <a:off x="3562350" y="2295525"/>
            <a:ext cx="38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2</a:t>
            </a:r>
          </a:p>
        </p:txBody>
      </p:sp>
      <p:sp>
        <p:nvSpPr>
          <p:cNvPr id="9" name="reveal-3::shape-11">
            <a:extLst xmlns:a="http://schemas.openxmlformats.org/drawingml/2006/main">
              <a:ext uri="{FF2B5EF4-FFF2-40B4-BE49-F238E27FC236}">
                <a16:creationId xmlns:a16="http://schemas.microsoft.com/office/drawing/2014/main" id="{9DEFE8E1-0DB2-42A6-967F-10D93EA7D9DB}"/>
              </a:ext>
            </a:extLst>
          </p:cNvPr>
          <p:cNvSpPr>
            <a:spLocks xmlns:a="http://schemas.openxmlformats.org/drawingml/2006/main" noGrp="1"/>
          </p:cNvSpPr>
          <p:nvPr/>
        </p:nvSpPr>
        <p:spPr>
          <a:xfrm xmlns:a="http://schemas.openxmlformats.org/drawingml/2006/main">
            <a:off x="3476625" y="2962275"/>
            <a:ext cx="2247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Məlumat</a:t>
            </a:r>
          </a:p>
        </p:txBody>
      </p:sp>
      <p:sp>
        <p:nvSpPr>
          <p:cNvPr id="10" name="reveal-3::shape-12">
            <a:extLst xmlns:a="http://schemas.openxmlformats.org/drawingml/2006/main">
              <a:ext uri="{FF2B5EF4-FFF2-40B4-BE49-F238E27FC236}">
                <a16:creationId xmlns:a16="http://schemas.microsoft.com/office/drawing/2014/main" id="{5D832557-1EE9-456F-BF73-7D4D9BC5E655}"/>
              </a:ext>
            </a:extLst>
          </p:cNvPr>
          <p:cNvSpPr>
            <a:spLocks xmlns:a="http://schemas.openxmlformats.org/drawingml/2006/main" noGrp="1"/>
          </p:cNvSpPr>
          <p:nvPr/>
        </p:nvSpPr>
        <p:spPr>
          <a:xfrm xmlns:a="http://schemas.openxmlformats.org/drawingml/2006/main">
            <a:off x="3476625" y="3619500"/>
            <a:ext cx="2247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Dataset və onun</a:t>
            </a:r>
          </a:p>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istifadə sərhədi</a:t>
            </a:r>
          </a:p>
        </p:txBody>
      </p:sp>
      <p:sp>
        <p:nvSpPr>
          <p:cNvPr id="11" name="reveal-3::shape-13">
            <a:extLst xmlns:a="http://schemas.openxmlformats.org/drawingml/2006/main">
              <a:ext uri="{FF2B5EF4-FFF2-40B4-BE49-F238E27FC236}">
                <a16:creationId xmlns:a16="http://schemas.microsoft.com/office/drawing/2014/main" id="{B5AFDC25-144B-4527-93B5-4A36BEE0E9C2}"/>
              </a:ext>
            </a:extLst>
          </p:cNvPr>
          <p:cNvSpPr>
            <a:spLocks xmlns:a="http://schemas.openxmlformats.org/drawingml/2006/main" noGrp="1"/>
          </p:cNvSpPr>
          <p:nvPr/>
        </p:nvSpPr>
        <p:spPr>
          <a:xfrm xmlns:a="http://schemas.openxmlformats.org/drawingml/2006/main">
            <a:off x="5286375" y="2419350"/>
            <a:ext cx="800100"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12" name="reveal-4::shape-14">
            <a:extLst xmlns:a="http://schemas.openxmlformats.org/drawingml/2006/main">
              <a:ext uri="{FF2B5EF4-FFF2-40B4-BE49-F238E27FC236}">
                <a16:creationId xmlns:a16="http://schemas.microsoft.com/office/drawing/2014/main" id="{C6339101-4060-4D9D-BF7D-BD87CB682F1B}"/>
              </a:ext>
            </a:extLst>
          </p:cNvPr>
          <p:cNvSpPr>
            <a:spLocks xmlns:a="http://schemas.openxmlformats.org/drawingml/2006/main" noGrp="1"/>
          </p:cNvSpPr>
          <p:nvPr/>
        </p:nvSpPr>
        <p:spPr>
          <a:xfrm xmlns:a="http://schemas.openxmlformats.org/drawingml/2006/main">
            <a:off x="6334125" y="2238375"/>
            <a:ext cx="495300" cy="495300"/>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13" name="reveal-4::shape-15">
            <a:extLst xmlns:a="http://schemas.openxmlformats.org/drawingml/2006/main">
              <a:ext uri="{FF2B5EF4-FFF2-40B4-BE49-F238E27FC236}">
                <a16:creationId xmlns:a16="http://schemas.microsoft.com/office/drawing/2014/main" id="{F9BF6E1B-644A-400D-8D1C-F140C246DD5D}"/>
              </a:ext>
            </a:extLst>
          </p:cNvPr>
          <p:cNvSpPr>
            <a:spLocks xmlns:a="http://schemas.openxmlformats.org/drawingml/2006/main" noGrp="1"/>
          </p:cNvSpPr>
          <p:nvPr/>
        </p:nvSpPr>
        <p:spPr>
          <a:xfrm xmlns:a="http://schemas.openxmlformats.org/drawingml/2006/main">
            <a:off x="6419850" y="2295525"/>
            <a:ext cx="38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3</a:t>
            </a:r>
          </a:p>
        </p:txBody>
      </p:sp>
      <p:sp>
        <p:nvSpPr>
          <p:cNvPr id="14" name="reveal-4::shape-16">
            <a:extLst xmlns:a="http://schemas.openxmlformats.org/drawingml/2006/main">
              <a:ext uri="{FF2B5EF4-FFF2-40B4-BE49-F238E27FC236}">
                <a16:creationId xmlns:a16="http://schemas.microsoft.com/office/drawing/2014/main" id="{4119EBBE-1A16-4C02-918A-F18D68E7383E}"/>
              </a:ext>
            </a:extLst>
          </p:cNvPr>
          <p:cNvSpPr>
            <a:spLocks xmlns:a="http://schemas.openxmlformats.org/drawingml/2006/main" noGrp="1"/>
          </p:cNvSpPr>
          <p:nvPr/>
        </p:nvSpPr>
        <p:spPr>
          <a:xfrm xmlns:a="http://schemas.openxmlformats.org/drawingml/2006/main">
            <a:off x="6334125" y="2962275"/>
            <a:ext cx="2247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Analiz</a:t>
            </a:r>
          </a:p>
        </p:txBody>
      </p:sp>
      <p:sp>
        <p:nvSpPr>
          <p:cNvPr id="15" name="reveal-4::shape-17">
            <a:extLst xmlns:a="http://schemas.openxmlformats.org/drawingml/2006/main">
              <a:ext uri="{FF2B5EF4-FFF2-40B4-BE49-F238E27FC236}">
                <a16:creationId xmlns:a16="http://schemas.microsoft.com/office/drawing/2014/main" id="{E67F538E-6A77-4BA6-84F0-4262D9634625}"/>
              </a:ext>
            </a:extLst>
          </p:cNvPr>
          <p:cNvSpPr>
            <a:spLocks xmlns:a="http://schemas.openxmlformats.org/drawingml/2006/main" noGrp="1"/>
          </p:cNvSpPr>
          <p:nvPr/>
        </p:nvSpPr>
        <p:spPr>
          <a:xfrm xmlns:a="http://schemas.openxmlformats.org/drawingml/2006/main">
            <a:off x="6334125" y="3619500"/>
            <a:ext cx="2247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Metod, parametr</a:t>
            </a:r>
          </a:p>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və çıxışlar</a:t>
            </a:r>
          </a:p>
        </p:txBody>
      </p:sp>
      <p:sp>
        <p:nvSpPr>
          <p:cNvPr id="16" name="reveal-4::shape-18">
            <a:extLst xmlns:a="http://schemas.openxmlformats.org/drawingml/2006/main">
              <a:ext uri="{FF2B5EF4-FFF2-40B4-BE49-F238E27FC236}">
                <a16:creationId xmlns:a16="http://schemas.microsoft.com/office/drawing/2014/main" id="{686C3D69-D3BF-4337-8D01-1E932DB35581}"/>
              </a:ext>
            </a:extLst>
          </p:cNvPr>
          <p:cNvSpPr>
            <a:spLocks xmlns:a="http://schemas.openxmlformats.org/drawingml/2006/main" noGrp="1"/>
          </p:cNvSpPr>
          <p:nvPr/>
        </p:nvSpPr>
        <p:spPr>
          <a:xfrm xmlns:a="http://schemas.openxmlformats.org/drawingml/2006/main">
            <a:off x="8143875" y="2419350"/>
            <a:ext cx="800100"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17" name="reveal-5::shape-19">
            <a:extLst xmlns:a="http://schemas.openxmlformats.org/drawingml/2006/main">
              <a:ext uri="{FF2B5EF4-FFF2-40B4-BE49-F238E27FC236}">
                <a16:creationId xmlns:a16="http://schemas.microsoft.com/office/drawing/2014/main" id="{E27310D1-2C8C-4A32-9A22-E4A8E2103140}"/>
              </a:ext>
            </a:extLst>
          </p:cNvPr>
          <p:cNvSpPr>
            <a:spLocks xmlns:a="http://schemas.openxmlformats.org/drawingml/2006/main" noGrp="1"/>
          </p:cNvSpPr>
          <p:nvPr/>
        </p:nvSpPr>
        <p:spPr>
          <a:xfrm xmlns:a="http://schemas.openxmlformats.org/drawingml/2006/main">
            <a:off x="9191625" y="2238375"/>
            <a:ext cx="495300" cy="495300"/>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18" name="reveal-5::shape-20">
            <a:extLst xmlns:a="http://schemas.openxmlformats.org/drawingml/2006/main">
              <a:ext uri="{FF2B5EF4-FFF2-40B4-BE49-F238E27FC236}">
                <a16:creationId xmlns:a16="http://schemas.microsoft.com/office/drawing/2014/main" id="{DA2E5521-B934-4ABE-A4E9-047984495F79}"/>
              </a:ext>
            </a:extLst>
          </p:cNvPr>
          <p:cNvSpPr>
            <a:spLocks xmlns:a="http://schemas.openxmlformats.org/drawingml/2006/main" noGrp="1"/>
          </p:cNvSpPr>
          <p:nvPr/>
        </p:nvSpPr>
        <p:spPr>
          <a:xfrm xmlns:a="http://schemas.openxmlformats.org/drawingml/2006/main">
            <a:off x="9277350" y="2295525"/>
            <a:ext cx="38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4</a:t>
            </a:r>
          </a:p>
        </p:txBody>
      </p:sp>
      <p:sp>
        <p:nvSpPr>
          <p:cNvPr id="19" name="reveal-5::shape-21">
            <a:extLst xmlns:a="http://schemas.openxmlformats.org/drawingml/2006/main">
              <a:ext uri="{FF2B5EF4-FFF2-40B4-BE49-F238E27FC236}">
                <a16:creationId xmlns:a16="http://schemas.microsoft.com/office/drawing/2014/main" id="{9A455E2A-F848-4B7A-A034-2D4D0AC91D8E}"/>
              </a:ext>
            </a:extLst>
          </p:cNvPr>
          <p:cNvSpPr>
            <a:spLocks xmlns:a="http://schemas.openxmlformats.org/drawingml/2006/main" noGrp="1"/>
          </p:cNvSpPr>
          <p:nvPr/>
        </p:nvSpPr>
        <p:spPr>
          <a:xfrm xmlns:a="http://schemas.openxmlformats.org/drawingml/2006/main">
            <a:off x="9191625" y="2962275"/>
            <a:ext cx="2247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Nəzarət</a:t>
            </a:r>
          </a:p>
        </p:txBody>
      </p:sp>
      <p:sp>
        <p:nvSpPr>
          <p:cNvPr id="20" name="reveal-5::shape-22">
            <a:extLst xmlns:a="http://schemas.openxmlformats.org/drawingml/2006/main">
              <a:ext uri="{FF2B5EF4-FFF2-40B4-BE49-F238E27FC236}">
                <a16:creationId xmlns:a16="http://schemas.microsoft.com/office/drawing/2014/main" id="{9E0E4DC0-C8D7-4896-AA42-76491A361028}"/>
              </a:ext>
            </a:extLst>
          </p:cNvPr>
          <p:cNvSpPr>
            <a:spLocks xmlns:a="http://schemas.openxmlformats.org/drawingml/2006/main" noGrp="1"/>
          </p:cNvSpPr>
          <p:nvPr/>
        </p:nvSpPr>
        <p:spPr>
          <a:xfrm xmlns:a="http://schemas.openxmlformats.org/drawingml/2006/main">
            <a:off x="9191625" y="3619500"/>
            <a:ext cx="2247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Nəticə nə qədər</a:t>
            </a:r>
          </a:p>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etibarlıdır?</a:t>
            </a:r>
          </a:p>
        </p:txBody>
      </p:sp>
      <p:sp>
        <p:nvSpPr>
          <p:cNvPr id="21" name="reveal-6::shape-23">
            <a:extLst xmlns:a="http://schemas.openxmlformats.org/drawingml/2006/main">
              <a:ext uri="{FF2B5EF4-FFF2-40B4-BE49-F238E27FC236}">
                <a16:creationId xmlns:a16="http://schemas.microsoft.com/office/drawing/2014/main" id="{E8D09645-02B8-45C8-9955-4DBD52072C68}"/>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Yekun şərh növbəti tədqiqat sualının başlanğıcı olur.</a:t>
            </a:r>
          </a:p>
        </p:txBody>
      </p:sp>
      <p:sp>
        <p:nvSpPr>
          <p:cNvPr id="22" name="reveal-0::shape-24">
            <a:extLst xmlns:a="http://schemas.openxmlformats.org/drawingml/2006/main">
              <a:ext uri="{FF2B5EF4-FFF2-40B4-BE49-F238E27FC236}">
                <a16:creationId xmlns:a16="http://schemas.microsoft.com/office/drawing/2014/main" id="{83462DCC-5240-4AAE-B052-F6EA3FA5F6D6}"/>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02</a:t>
            </a:r>
          </a:p>
        </p:txBody>
      </p:sp>
    </p:spTree>
    <p:extLst>
      <p:ext uri="{BB962C8B-B14F-4D97-AF65-F5344CB8AC3E}">
        <p14:creationId xmlns:p14="http://schemas.microsoft.com/office/powerpoint/2010/main" val="18251779"/>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23"/>
                                  </p:tgtEl>
                                  <p:attrNameLst>
                                    <p:attrName>style.visibility</p:attrName>
                                  </p:attrNameLst>
                                </p:cBhvr>
                                <p:to>
                                  <p:strVal val="visible"/>
                                </p:to>
                              </p:set>
                              <p:animEffect transition="in" filter="fade">
                                <p:cBhvr>
                                  <p:cTn id="6" dur="550" fill="hold"/>
                                  <p:tgtEl>
                                    <p:spTgt spid="23"/>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26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260"/>
                            </p:stCondLst>
                            <p:childTnList>
                              <p:set>
                                <p:cBhvr>
                                  <p:cTn id="17" dur="1" fill="hold">
                                    <p:stCondLst>
                                      <p:cond delay="0"/>
                                    </p:stCondLst>
                                  </p:cTn>
                                  <p:tgtEl>
                                    <p:spTgt spid="5"/>
                                  </p:tgtEl>
                                  <p:attrNameLst>
                                    <p:attrName>style.visibility</p:attrName>
                                  </p:attrNameLst>
                                </p:cBhvr>
                                <p:to>
                                  <p:strVal val="visible"/>
                                </p:to>
                              </p:set>
                              <p:animEffect transition="in" filter="fade">
                                <p:cBhvr>
                                  <p:cTn id="18" dur="550" fill="hold"/>
                                  <p:tgtEl>
                                    <p:spTgt spid="5"/>
                                  </p:tgtEl>
                                </p:cBhvr>
                              </p:animEffect>
                            </p:childTnList>
                          </p:cTn>
                        </p:par>
                        <p:par>
                          <p:cTn id="19" presetID="10" presetClass="entr" presetSubtype="0" fill="hold" grpId="0" nodeType="withEffect">
                            <p:stCondLst>
                              <p:cond delay="260"/>
                            </p:stCondLst>
                            <p:childTnList>
                              <p:set>
                                <p:cBhvr>
                                  <p:cTn id="20" dur="1" fill="hold">
                                    <p:stCondLst>
                                      <p:cond delay="0"/>
                                    </p:stCondLst>
                                  </p:cTn>
                                  <p:tgtEl>
                                    <p:spTgt spid="6"/>
                                  </p:tgtEl>
                                  <p:attrNameLst>
                                    <p:attrName>style.visibility</p:attrName>
                                  </p:attrNameLst>
                                </p:cBhvr>
                                <p:to>
                                  <p:strVal val="visible"/>
                                </p:to>
                              </p:set>
                              <p:animEffect transition="in" filter="fade">
                                <p:cBhvr>
                                  <p:cTn id="21" dur="550" fill="hold"/>
                                  <p:tgtEl>
                                    <p:spTgt spid="6"/>
                                  </p:tgtEl>
                                </p:cBhvr>
                              </p:animEffect>
                            </p:childTnList>
                          </p:cTn>
                        </p:par>
                        <p:par>
                          <p:cTn id="22" presetID="10" presetClass="entr" presetSubtype="0" fill="hold" grpId="0" nodeType="withEffect">
                            <p:stCondLst>
                              <p:cond delay="520"/>
                            </p:stCondLst>
                            <p:childTnList>
                              <p:set>
                                <p:cBhvr>
                                  <p:cTn id="23" dur="1" fill="hold">
                                    <p:stCondLst>
                                      <p:cond delay="0"/>
                                    </p:stCondLst>
                                  </p:cTn>
                                  <p:tgtEl>
                                    <p:spTgt spid="10"/>
                                  </p:tgtEl>
                                  <p:attrNameLst>
                                    <p:attrName>style.visibility</p:attrName>
                                  </p:attrNameLst>
                                </p:cBhvr>
                                <p:to>
                                  <p:strVal val="visible"/>
                                </p:to>
                              </p:set>
                              <p:animEffect transition="in" filter="fade">
                                <p:cBhvr>
                                  <p:cTn id="24" dur="550" fill="hold"/>
                                  <p:tgtEl>
                                    <p:spTgt spid="10"/>
                                  </p:tgtEl>
                                </p:cBhvr>
                              </p:animEffect>
                            </p:childTnList>
                          </p:cTn>
                        </p:par>
                        <p:par>
                          <p:cTn id="25" presetID="10" presetClass="entr" presetSubtype="0" fill="hold" grpId="0" nodeType="withEffect">
                            <p:stCondLst>
                              <p:cond delay="520"/>
                            </p:stCondLst>
                            <p:childTnList>
                              <p:set>
                                <p:cBhvr>
                                  <p:cTn id="26" dur="1" fill="hold">
                                    <p:stCondLst>
                                      <p:cond delay="0"/>
                                    </p:stCondLst>
                                  </p:cTn>
                                  <p:tgtEl>
                                    <p:spTgt spid="11"/>
                                  </p:tgtEl>
                                  <p:attrNameLst>
                                    <p:attrName>style.visibility</p:attrName>
                                  </p:attrNameLst>
                                </p:cBhvr>
                                <p:to>
                                  <p:strVal val="visible"/>
                                </p:to>
                              </p:set>
                              <p:animEffect transition="in" filter="fade">
                                <p:cBhvr>
                                  <p:cTn id="27" dur="550" fill="hold"/>
                                  <p:tgtEl>
                                    <p:spTgt spid="11"/>
                                  </p:tgtEl>
                                </p:cBhvr>
                              </p:animEffect>
                            </p:childTnList>
                          </p:cTn>
                        </p:par>
                        <p:par>
                          <p:cTn id="28" presetID="10" presetClass="entr" presetSubtype="0" fill="hold" grpId="0" nodeType="withEffect">
                            <p:stCondLst>
                              <p:cond delay="520"/>
                            </p:stCondLst>
                            <p:childTnList>
                              <p:set>
                                <p:cBhvr>
                                  <p:cTn id="29" dur="1" fill="hold">
                                    <p:stCondLst>
                                      <p:cond delay="0"/>
                                    </p:stCondLst>
                                  </p:cTn>
                                  <p:tgtEl>
                                    <p:spTgt spid="7"/>
                                  </p:tgtEl>
                                  <p:attrNameLst>
                                    <p:attrName>style.visibility</p:attrName>
                                  </p:attrNameLst>
                                </p:cBhvr>
                                <p:to>
                                  <p:strVal val="visible"/>
                                </p:to>
                              </p:set>
                              <p:animEffect transition="in" filter="fade">
                                <p:cBhvr>
                                  <p:cTn id="30" dur="550" fill="hold"/>
                                  <p:tgtEl>
                                    <p:spTgt spid="7"/>
                                  </p:tgtEl>
                                </p:cBhvr>
                              </p:animEffect>
                            </p:childTnList>
                          </p:cTn>
                        </p:par>
                        <p:par>
                          <p:cTn id="31" presetID="10" presetClass="entr" presetSubtype="0" fill="hold" grpId="0" nodeType="withEffect">
                            <p:stCondLst>
                              <p:cond delay="520"/>
                            </p:stCondLst>
                            <p:childTnList>
                              <p:set>
                                <p:cBhvr>
                                  <p:cTn id="32" dur="1" fill="hold">
                                    <p:stCondLst>
                                      <p:cond delay="0"/>
                                    </p:stCondLst>
                                  </p:cTn>
                                  <p:tgtEl>
                                    <p:spTgt spid="8"/>
                                  </p:tgtEl>
                                  <p:attrNameLst>
                                    <p:attrName>style.visibility</p:attrName>
                                  </p:attrNameLst>
                                </p:cBhvr>
                                <p:to>
                                  <p:strVal val="visible"/>
                                </p:to>
                              </p:set>
                              <p:animEffect transition="in" filter="fade">
                                <p:cBhvr>
                                  <p:cTn id="33" dur="550" fill="hold"/>
                                  <p:tgtEl>
                                    <p:spTgt spid="8"/>
                                  </p:tgtEl>
                                </p:cBhvr>
                              </p:animEffect>
                            </p:childTnList>
                          </p:cTn>
                        </p:par>
                        <p:par>
                          <p:cTn id="34" presetID="10" presetClass="entr" presetSubtype="0" fill="hold" grpId="0" nodeType="withEffect">
                            <p:stCondLst>
                              <p:cond delay="520"/>
                            </p:stCondLst>
                            <p:childTnList>
                              <p:set>
                                <p:cBhvr>
                                  <p:cTn id="35" dur="1" fill="hold">
                                    <p:stCondLst>
                                      <p:cond delay="0"/>
                                    </p:stCondLst>
                                  </p:cTn>
                                  <p:tgtEl>
                                    <p:spTgt spid="9"/>
                                  </p:tgtEl>
                                  <p:attrNameLst>
                                    <p:attrName>style.visibility</p:attrName>
                                  </p:attrNameLst>
                                </p:cBhvr>
                                <p:to>
                                  <p:strVal val="visible"/>
                                </p:to>
                              </p:set>
                              <p:animEffect transition="in" filter="fade">
                                <p:cBhvr>
                                  <p:cTn id="36" dur="550" fill="hold"/>
                                  <p:tgtEl>
                                    <p:spTgt spid="9"/>
                                  </p:tgtEl>
                                </p:cBhvr>
                              </p:animEffect>
                            </p:childTnList>
                          </p:cTn>
                        </p:par>
                        <p:par>
                          <p:cTn id="37" presetID="10" presetClass="entr" presetSubtype="0" fill="hold" grpId="0" nodeType="withEffect">
                            <p:stCondLst>
                              <p:cond delay="780"/>
                            </p:stCondLst>
                            <p:childTnList>
                              <p:set>
                                <p:cBhvr>
                                  <p:cTn id="38" dur="1" fill="hold">
                                    <p:stCondLst>
                                      <p:cond delay="0"/>
                                    </p:stCondLst>
                                  </p:cTn>
                                  <p:tgtEl>
                                    <p:spTgt spid="12"/>
                                  </p:tgtEl>
                                  <p:attrNameLst>
                                    <p:attrName>style.visibility</p:attrName>
                                  </p:attrNameLst>
                                </p:cBhvr>
                                <p:to>
                                  <p:strVal val="visible"/>
                                </p:to>
                              </p:set>
                              <p:animEffect transition="in" filter="fade">
                                <p:cBhvr>
                                  <p:cTn id="39" dur="550" fill="hold"/>
                                  <p:tgtEl>
                                    <p:spTgt spid="12"/>
                                  </p:tgtEl>
                                </p:cBhvr>
                              </p:animEffect>
                            </p:childTnList>
                          </p:cTn>
                        </p:par>
                        <p:par>
                          <p:cTn id="40" presetID="10" presetClass="entr" presetSubtype="0" fill="hold" grpId="0" nodeType="withEffect">
                            <p:stCondLst>
                              <p:cond delay="780"/>
                            </p:stCondLst>
                            <p:childTnList>
                              <p:set>
                                <p:cBhvr>
                                  <p:cTn id="41" dur="1" fill="hold">
                                    <p:stCondLst>
                                      <p:cond delay="0"/>
                                    </p:stCondLst>
                                  </p:cTn>
                                  <p:tgtEl>
                                    <p:spTgt spid="13"/>
                                  </p:tgtEl>
                                  <p:attrNameLst>
                                    <p:attrName>style.visibility</p:attrName>
                                  </p:attrNameLst>
                                </p:cBhvr>
                                <p:to>
                                  <p:strVal val="visible"/>
                                </p:to>
                              </p:set>
                              <p:animEffect transition="in" filter="fade">
                                <p:cBhvr>
                                  <p:cTn id="42" dur="550" fill="hold"/>
                                  <p:tgtEl>
                                    <p:spTgt spid="13"/>
                                  </p:tgtEl>
                                </p:cBhvr>
                              </p:animEffect>
                            </p:childTnList>
                          </p:cTn>
                        </p:par>
                        <p:par>
                          <p:cTn id="43" presetID="10" presetClass="entr" presetSubtype="0" fill="hold" grpId="0" nodeType="withEffect">
                            <p:stCondLst>
                              <p:cond delay="780"/>
                            </p:stCondLst>
                            <p:childTnList>
                              <p:set>
                                <p:cBhvr>
                                  <p:cTn id="44" dur="1" fill="hold">
                                    <p:stCondLst>
                                      <p:cond delay="0"/>
                                    </p:stCondLst>
                                  </p:cTn>
                                  <p:tgtEl>
                                    <p:spTgt spid="14"/>
                                  </p:tgtEl>
                                  <p:attrNameLst>
                                    <p:attrName>style.visibility</p:attrName>
                                  </p:attrNameLst>
                                </p:cBhvr>
                                <p:to>
                                  <p:strVal val="visible"/>
                                </p:to>
                              </p:set>
                              <p:animEffect transition="in" filter="fade">
                                <p:cBhvr>
                                  <p:cTn id="45" dur="550" fill="hold"/>
                                  <p:tgtEl>
                                    <p:spTgt spid="14"/>
                                  </p:tgtEl>
                                </p:cBhvr>
                              </p:animEffect>
                            </p:childTnList>
                          </p:cTn>
                        </p:par>
                        <p:par>
                          <p:cTn id="46" presetID="10" presetClass="entr" presetSubtype="0" fill="hold" grpId="0" nodeType="withEffect">
                            <p:stCondLst>
                              <p:cond delay="780"/>
                            </p:stCondLst>
                            <p:childTnList>
                              <p:set>
                                <p:cBhvr>
                                  <p:cTn id="47" dur="1" fill="hold">
                                    <p:stCondLst>
                                      <p:cond delay="0"/>
                                    </p:stCondLst>
                                  </p:cTn>
                                  <p:tgtEl>
                                    <p:spTgt spid="15"/>
                                  </p:tgtEl>
                                  <p:attrNameLst>
                                    <p:attrName>style.visibility</p:attrName>
                                  </p:attrNameLst>
                                </p:cBhvr>
                                <p:to>
                                  <p:strVal val="visible"/>
                                </p:to>
                              </p:set>
                              <p:animEffect transition="in" filter="fade">
                                <p:cBhvr>
                                  <p:cTn id="48" dur="550" fill="hold"/>
                                  <p:tgtEl>
                                    <p:spTgt spid="15"/>
                                  </p:tgtEl>
                                </p:cBhvr>
                              </p:animEffect>
                            </p:childTnList>
                          </p:cTn>
                        </p:par>
                        <p:par>
                          <p:cTn id="49" presetID="10" presetClass="entr" presetSubtype="0" fill="hold" grpId="0" nodeType="withEffect">
                            <p:stCondLst>
                              <p:cond delay="780"/>
                            </p:stCondLst>
                            <p:childTnList>
                              <p:set>
                                <p:cBhvr>
                                  <p:cTn id="50" dur="1" fill="hold">
                                    <p:stCondLst>
                                      <p:cond delay="0"/>
                                    </p:stCondLst>
                                  </p:cTn>
                                  <p:tgtEl>
                                    <p:spTgt spid="16"/>
                                  </p:tgtEl>
                                  <p:attrNameLst>
                                    <p:attrName>style.visibility</p:attrName>
                                  </p:attrNameLst>
                                </p:cBhvr>
                                <p:to>
                                  <p:strVal val="visible"/>
                                </p:to>
                              </p:set>
                              <p:animEffect transition="in" filter="fade">
                                <p:cBhvr>
                                  <p:cTn id="51" dur="550" fill="hold"/>
                                  <p:tgtEl>
                                    <p:spTgt spid="16"/>
                                  </p:tgtEl>
                                </p:cBhvr>
                              </p:animEffect>
                            </p:childTnList>
                          </p:cTn>
                        </p:par>
                        <p:par>
                          <p:cTn id="52" presetID="10" presetClass="entr" presetSubtype="0" fill="hold" grpId="0" nodeType="withEffect">
                            <p:stCondLst>
                              <p:cond delay="1040"/>
                            </p:stCondLst>
                            <p:childTnList>
                              <p:set>
                                <p:cBhvr>
                                  <p:cTn id="53" dur="1" fill="hold">
                                    <p:stCondLst>
                                      <p:cond delay="0"/>
                                    </p:stCondLst>
                                  </p:cTn>
                                  <p:tgtEl>
                                    <p:spTgt spid="17"/>
                                  </p:tgtEl>
                                  <p:attrNameLst>
                                    <p:attrName>style.visibility</p:attrName>
                                  </p:attrNameLst>
                                </p:cBhvr>
                                <p:to>
                                  <p:strVal val="visible"/>
                                </p:to>
                              </p:set>
                              <p:animEffect transition="in" filter="fade">
                                <p:cBhvr>
                                  <p:cTn id="54" dur="550" fill="hold"/>
                                  <p:tgtEl>
                                    <p:spTgt spid="17"/>
                                  </p:tgtEl>
                                </p:cBhvr>
                              </p:animEffect>
                            </p:childTnList>
                          </p:cTn>
                        </p:par>
                        <p:par>
                          <p:cTn id="55" presetID="10" presetClass="entr" presetSubtype="0" fill="hold" grpId="0" nodeType="withEffect">
                            <p:stCondLst>
                              <p:cond delay="1040"/>
                            </p:stCondLst>
                            <p:childTnList>
                              <p:set>
                                <p:cBhvr>
                                  <p:cTn id="56" dur="1" fill="hold">
                                    <p:stCondLst>
                                      <p:cond delay="0"/>
                                    </p:stCondLst>
                                  </p:cTn>
                                  <p:tgtEl>
                                    <p:spTgt spid="18"/>
                                  </p:tgtEl>
                                  <p:attrNameLst>
                                    <p:attrName>style.visibility</p:attrName>
                                  </p:attrNameLst>
                                </p:cBhvr>
                                <p:to>
                                  <p:strVal val="visible"/>
                                </p:to>
                              </p:set>
                              <p:animEffect transition="in" filter="fade">
                                <p:cBhvr>
                                  <p:cTn id="57" dur="550" fill="hold"/>
                                  <p:tgtEl>
                                    <p:spTgt spid="18"/>
                                  </p:tgtEl>
                                </p:cBhvr>
                              </p:animEffect>
                            </p:childTnList>
                          </p:cTn>
                        </p:par>
                        <p:par>
                          <p:cTn id="58" presetID="10" presetClass="entr" presetSubtype="0" fill="hold" grpId="0" nodeType="withEffect">
                            <p:stCondLst>
                              <p:cond delay="1040"/>
                            </p:stCondLst>
                            <p:childTnList>
                              <p:set>
                                <p:cBhvr>
                                  <p:cTn id="59" dur="1" fill="hold">
                                    <p:stCondLst>
                                      <p:cond delay="0"/>
                                    </p:stCondLst>
                                  </p:cTn>
                                  <p:tgtEl>
                                    <p:spTgt spid="19"/>
                                  </p:tgtEl>
                                  <p:attrNameLst>
                                    <p:attrName>style.visibility</p:attrName>
                                  </p:attrNameLst>
                                </p:cBhvr>
                                <p:to>
                                  <p:strVal val="visible"/>
                                </p:to>
                              </p:set>
                              <p:animEffect transition="in" filter="fade">
                                <p:cBhvr>
                                  <p:cTn id="60" dur="550" fill="hold"/>
                                  <p:tgtEl>
                                    <p:spTgt spid="19"/>
                                  </p:tgtEl>
                                </p:cBhvr>
                              </p:animEffect>
                            </p:childTnList>
                          </p:cTn>
                        </p:par>
                        <p:par>
                          <p:cTn id="61" presetID="10" presetClass="entr" presetSubtype="0" fill="hold" grpId="0" nodeType="withEffect">
                            <p:stCondLst>
                              <p:cond delay="1040"/>
                            </p:stCondLst>
                            <p:childTnList>
                              <p:set>
                                <p:cBhvr>
                                  <p:cTn id="62" dur="1" fill="hold">
                                    <p:stCondLst>
                                      <p:cond delay="0"/>
                                    </p:stCondLst>
                                  </p:cTn>
                                  <p:tgtEl>
                                    <p:spTgt spid="20"/>
                                  </p:tgtEl>
                                  <p:attrNameLst>
                                    <p:attrName>style.visibility</p:attrName>
                                  </p:attrNameLst>
                                </p:cBhvr>
                                <p:to>
                                  <p:strVal val="visible"/>
                                </p:to>
                              </p:set>
                              <p:animEffect transition="in" filter="fade">
                                <p:cBhvr>
                                  <p:cTn id="63" dur="550" fill="hold"/>
                                  <p:tgtEl>
                                    <p:spTgt spid="20"/>
                                  </p:tgtEl>
                                </p:cBhvr>
                              </p:animEffect>
                            </p:childTnList>
                          </p:cTn>
                        </p:par>
                        <p:par>
                          <p:cTn id="64" presetID="10" presetClass="entr" presetSubtype="0" fill="hold" grpId="0" nodeType="withEffect">
                            <p:stCondLst>
                              <p:cond delay="1300"/>
                            </p:stCondLst>
                            <p:childTnList>
                              <p:set>
                                <p:cBhvr>
                                  <p:cTn id="65" dur="1" fill="hold">
                                    <p:stCondLst>
                                      <p:cond delay="0"/>
                                    </p:stCondLst>
                                  </p:cTn>
                                  <p:tgtEl>
                                    <p:spTgt spid="21"/>
                                  </p:tgtEl>
                                  <p:attrNameLst>
                                    <p:attrName>style.visibility</p:attrName>
                                  </p:attrNameLst>
                                </p:cBhvr>
                                <p:to>
                                  <p:strVal val="visible"/>
                                </p:to>
                              </p:set>
                              <p:animEffect transition="in" filter="fade">
                                <p:cBhvr>
                                  <p:cTn id="66" dur="550" fill="hold"/>
                                  <p:tgtEl>
                                    <p:spTgt spid="21"/>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3.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9" name="reveal-1::shape-25">
            <a:extLst xmlns:a="http://schemas.openxmlformats.org/drawingml/2006/main">
              <a:ext uri="{FF2B5EF4-FFF2-40B4-BE49-F238E27FC236}">
                <a16:creationId xmlns:a16="http://schemas.microsoft.com/office/drawing/2014/main" id="{1084BBC2-AE44-4012-8DC8-90B5FA17A776}"/>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Mövcud laboratoriyanın ölçüsü</a:t>
            </a:r>
          </a:p>
        </p:txBody>
      </p:sp>
      <p:sp>
        <p:nvSpPr>
          <p:cNvPr id="2" name="reveal-2::shape-26">
            <a:extLst xmlns:a="http://schemas.openxmlformats.org/drawingml/2006/main">
              <a:ext uri="{FF2B5EF4-FFF2-40B4-BE49-F238E27FC236}">
                <a16:creationId xmlns:a16="http://schemas.microsoft.com/office/drawing/2014/main" id="{70C4D928-D6DC-4F79-82AC-FA42AA050C07}"/>
              </a:ext>
            </a:extLst>
          </p:cNvPr>
          <p:cNvSpPr>
            <a:spLocks xmlns:a="http://schemas.openxmlformats.org/drawingml/2006/main" noGrp="1"/>
          </p:cNvSpPr>
          <p:nvPr/>
        </p:nvSpPr>
        <p:spPr>
          <a:xfrm xmlns:a="http://schemas.openxmlformats.org/drawingml/2006/main">
            <a:off x="619125" y="1790700"/>
            <a:ext cx="3143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087F83"/>
                </a:solidFill>
                <a:latin typeface="Arial"/>
                <a:ea typeface="Arial"/>
                <a:cs typeface="Arial"/>
              </a:defRPr>
            </a:pPr>
            <a:r>
              <a:rPr sz="6525" b="1">
                <a:solidFill>
                  <a:srgbClr val="087F83"/>
                </a:solidFill>
                <a:latin typeface="Arial"/>
                <a:ea typeface="Arial"/>
                <a:cs typeface="Arial"/>
              </a:rPr>
              <a:t>12</a:t>
            </a:r>
          </a:p>
        </p:txBody>
      </p:sp>
      <p:sp>
        <p:nvSpPr>
          <p:cNvPr id="3" name="reveal-2::shape-27">
            <a:extLst xmlns:a="http://schemas.openxmlformats.org/drawingml/2006/main">
              <a:ext uri="{FF2B5EF4-FFF2-40B4-BE49-F238E27FC236}">
                <a16:creationId xmlns:a16="http://schemas.microsoft.com/office/drawing/2014/main" id="{62709C4C-C951-4406-AD4B-1CD5ED3CB26F}"/>
              </a:ext>
            </a:extLst>
          </p:cNvPr>
          <p:cNvSpPr>
            <a:spLocks xmlns:a="http://schemas.openxmlformats.org/drawingml/2006/main" noGrp="1"/>
          </p:cNvSpPr>
          <p:nvPr/>
        </p:nvSpPr>
        <p:spPr>
          <a:xfrm xmlns:a="http://schemas.openxmlformats.org/drawingml/2006/main">
            <a:off x="619125" y="3009900"/>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343"/>
                </a:solidFill>
                <a:latin typeface="Arial"/>
                <a:ea typeface="Arial"/>
                <a:cs typeface="Arial"/>
              </a:defRPr>
            </a:pPr>
            <a:r>
              <a:rPr sz="1950" b="0">
                <a:solidFill>
                  <a:srgbClr val="173343"/>
                </a:solidFill>
                <a:latin typeface="Arial"/>
                <a:ea typeface="Arial"/>
                <a:cs typeface="Arial"/>
              </a:rPr>
              <a:t>işlək layihə</a:t>
            </a:r>
          </a:p>
        </p:txBody>
      </p:sp>
      <p:sp>
        <p:nvSpPr>
          <p:cNvPr id="4" name="reveal-3::shape-28">
            <a:extLst xmlns:a="http://schemas.openxmlformats.org/drawingml/2006/main">
              <a:ext uri="{FF2B5EF4-FFF2-40B4-BE49-F238E27FC236}">
                <a16:creationId xmlns:a16="http://schemas.microsoft.com/office/drawing/2014/main" id="{34A337DC-B56F-4009-9488-F77353FCA4A8}"/>
              </a:ext>
            </a:extLst>
          </p:cNvPr>
          <p:cNvSpPr>
            <a:spLocks xmlns:a="http://schemas.openxmlformats.org/drawingml/2006/main" noGrp="1"/>
          </p:cNvSpPr>
          <p:nvPr/>
        </p:nvSpPr>
        <p:spPr>
          <a:xfrm xmlns:a="http://schemas.openxmlformats.org/drawingml/2006/main">
            <a:off x="619125" y="4000500"/>
            <a:ext cx="3143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087F83"/>
                </a:solidFill>
                <a:latin typeface="Arial"/>
                <a:ea typeface="Arial"/>
                <a:cs typeface="Arial"/>
              </a:defRPr>
            </a:pPr>
            <a:r>
              <a:rPr sz="6525" b="1">
                <a:solidFill>
                  <a:srgbClr val="087F83"/>
                </a:solidFill>
                <a:latin typeface="Arial"/>
                <a:ea typeface="Arial"/>
                <a:cs typeface="Arial"/>
              </a:rPr>
              <a:t>8</a:t>
            </a:r>
          </a:p>
        </p:txBody>
      </p:sp>
      <p:sp>
        <p:nvSpPr>
          <p:cNvPr id="5" name="reveal-3::shape-29">
            <a:extLst xmlns:a="http://schemas.openxmlformats.org/drawingml/2006/main">
              <a:ext uri="{FF2B5EF4-FFF2-40B4-BE49-F238E27FC236}">
                <a16:creationId xmlns:a16="http://schemas.microsoft.com/office/drawing/2014/main" id="{1A61C350-F50F-447C-BCEA-F2314460E463}"/>
              </a:ext>
            </a:extLst>
          </p:cNvPr>
          <p:cNvSpPr>
            <a:spLocks xmlns:a="http://schemas.openxmlformats.org/drawingml/2006/main" noGrp="1"/>
          </p:cNvSpPr>
          <p:nvPr/>
        </p:nvSpPr>
        <p:spPr>
          <a:xfrm xmlns:a="http://schemas.openxmlformats.org/drawingml/2006/main">
            <a:off x="619125" y="5219700"/>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343"/>
                </a:solidFill>
                <a:latin typeface="Arial"/>
                <a:ea typeface="Arial"/>
                <a:cs typeface="Arial"/>
              </a:defRPr>
            </a:pPr>
            <a:r>
              <a:rPr sz="1950" b="0">
                <a:solidFill>
                  <a:srgbClr val="173343"/>
                </a:solidFill>
                <a:latin typeface="Arial"/>
                <a:ea typeface="Arial"/>
                <a:cs typeface="Arial"/>
              </a:rPr>
              <a:t>notebook</a:t>
            </a:r>
          </a:p>
        </p:txBody>
      </p:sp>
      <p:graphicFrame>
        <p:nvGraphicFramePr>
          <p:cNvPr id="14" name="Chart"/>
          <p:cNvGraphicFramePr/>
          <p:nvPr/>
        </p:nvGraphicFramePr>
        <p:xfrm>
          <a:off xmlns:a="http://schemas.openxmlformats.org/drawingml/2006/main" x="4905375" y="1504950"/>
          <a:ext xmlns:a="http://schemas.openxmlformats.org/drawingml/2006/main" cx="6286500" cy="4095750"/>
        </p:xfrm>
        <a:graphic xmlns:a="http://schemas.openxmlformats.org/drawingml/2006/main">
          <a:graphicData uri="http://schemas.openxmlformats.org/drawingml/2006/chart">
            <c:chart xmlns:r="http://schemas.openxmlformats.org/officeDocument/2006/relationships" xmlns:c="http://schemas.openxmlformats.org/drawingml/2006/chart" r:id="R439288139abb4f4b"/>
          </a:graphicData>
        </a:graphic>
      </p:graphicFrame>
      <p:sp>
        <p:nvSpPr>
          <p:cNvPr id="7" name="reveal-6::shape-30">
            <a:extLst xmlns:a="http://schemas.openxmlformats.org/drawingml/2006/main">
              <a:ext uri="{FF2B5EF4-FFF2-40B4-BE49-F238E27FC236}">
                <a16:creationId xmlns:a16="http://schemas.microsoft.com/office/drawing/2014/main" id="{E6555FCE-9067-40F5-94BE-38AD372A9DAF}"/>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4 PDF kitab, praktikum və 57 test. Saylar 16 sentyabr 2026 auditinə aiddir.</a:t>
            </a:r>
          </a:p>
        </p:txBody>
      </p:sp>
      <p:sp>
        <p:nvSpPr>
          <p:cNvPr id="8" name="reveal-0::shape-31">
            <a:extLst xmlns:a="http://schemas.openxmlformats.org/drawingml/2006/main">
              <a:ext uri="{FF2B5EF4-FFF2-40B4-BE49-F238E27FC236}">
                <a16:creationId xmlns:a16="http://schemas.microsoft.com/office/drawing/2014/main" id="{9FB3F87A-F271-46D8-8038-A362A96C6FDB}"/>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03</a:t>
            </a:r>
          </a:p>
        </p:txBody>
      </p:sp>
    </p:spTree>
    <p:extLst>
      <p:ext uri="{BB962C8B-B14F-4D97-AF65-F5344CB8AC3E}">
        <p14:creationId xmlns:p14="http://schemas.microsoft.com/office/powerpoint/2010/main" val="146390956"/>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9"/>
                                  </p:tgtEl>
                                  <p:attrNameLst>
                                    <p:attrName>style.visibility</p:attrName>
                                  </p:attrNameLst>
                                </p:cBhvr>
                                <p:to>
                                  <p:strVal val="visible"/>
                                </p:to>
                              </p:set>
                              <p:animEffect transition="in" filter="fade">
                                <p:cBhvr>
                                  <p:cTn id="6" dur="550" fill="hold"/>
                                  <p:tgtEl>
                                    <p:spTgt spid="9"/>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14"/>
                                  </p:tgtEl>
                                  <p:attrNameLst>
                                    <p:attrName>style.visibility</p:attrName>
                                  </p:attrNameLst>
                                </p:cBhvr>
                                <p:to>
                                  <p:strVal val="visible"/>
                                </p:to>
                              </p:set>
                              <p:animEffect transition="in" filter="fade">
                                <p:cBhvr>
                                  <p:cTn id="9" dur="550" fill="hold"/>
                                  <p:tgtEl>
                                    <p:spTgt spid="14"/>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2"/>
                                  </p:tgtEl>
                                  <p:attrNameLst>
                                    <p:attrName>style.visibility</p:attrName>
                                  </p:attrNameLst>
                                </p:cBhvr>
                                <p:to>
                                  <p:strVal val="visible"/>
                                </p:to>
                              </p:set>
                              <p:animEffect transition="in" filter="fade">
                                <p:cBhvr>
                                  <p:cTn id="12" dur="550" fill="hold"/>
                                  <p:tgtEl>
                                    <p:spTgt spid="2"/>
                                  </p:tgtEl>
                                </p:cBhvr>
                              </p:animEffect>
                            </p:childTnList>
                          </p:cTn>
                        </p:par>
                        <p:par>
                          <p:cTn id="13" presetID="10" presetClass="entr" presetSubtype="0" fill="hold" grpId="0" nodeType="withEffect">
                            <p:stCondLst>
                              <p:cond delay="260"/>
                            </p:stCondLst>
                            <p:childTnList>
                              <p:set>
                                <p:cBhvr>
                                  <p:cTn id="14" dur="1" fill="hold">
                                    <p:stCondLst>
                                      <p:cond delay="0"/>
                                    </p:stCondLst>
                                  </p:cTn>
                                  <p:tgtEl>
                                    <p:spTgt spid="3"/>
                                  </p:tgtEl>
                                  <p:attrNameLst>
                                    <p:attrName>style.visibility</p:attrName>
                                  </p:attrNameLst>
                                </p:cBhvr>
                                <p:to>
                                  <p:strVal val="visible"/>
                                </p:to>
                              </p:set>
                              <p:animEffect transition="in" filter="fade">
                                <p:cBhvr>
                                  <p:cTn id="15" dur="550" fill="hold"/>
                                  <p:tgtEl>
                                    <p:spTgt spid="3"/>
                                  </p:tgtEl>
                                </p:cBhvr>
                              </p:animEffect>
                            </p:childTnList>
                          </p:cTn>
                        </p:par>
                        <p:par>
                          <p:cTn id="16" presetID="10" presetClass="entr" presetSubtype="0" fill="hold" grpId="0" nodeType="withEffect">
                            <p:stCondLst>
                              <p:cond delay="520"/>
                            </p:stCondLst>
                            <p:childTnList>
                              <p:set>
                                <p:cBhvr>
                                  <p:cTn id="17" dur="1" fill="hold">
                                    <p:stCondLst>
                                      <p:cond delay="0"/>
                                    </p:stCondLst>
                                  </p:cTn>
                                  <p:tgtEl>
                                    <p:spTgt spid="4"/>
                                  </p:tgtEl>
                                  <p:attrNameLst>
                                    <p:attrName>style.visibility</p:attrName>
                                  </p:attrNameLst>
                                </p:cBhvr>
                                <p:to>
                                  <p:strVal val="visible"/>
                                </p:to>
                              </p:set>
                              <p:animEffect transition="in" filter="fade">
                                <p:cBhvr>
                                  <p:cTn id="18" dur="550" fill="hold"/>
                                  <p:tgtEl>
                                    <p:spTgt spid="4"/>
                                  </p:tgtEl>
                                </p:cBhvr>
                              </p:animEffect>
                            </p:childTnList>
                          </p:cTn>
                        </p:par>
                        <p:par>
                          <p:cTn id="19" presetID="10" presetClass="entr" presetSubtype="0" fill="hold" grpId="0" nodeType="withEffect">
                            <p:stCondLst>
                              <p:cond delay="520"/>
                            </p:stCondLst>
                            <p:childTnList>
                              <p:set>
                                <p:cBhvr>
                                  <p:cTn id="20" dur="1" fill="hold">
                                    <p:stCondLst>
                                      <p:cond delay="0"/>
                                    </p:stCondLst>
                                  </p:cTn>
                                  <p:tgtEl>
                                    <p:spTgt spid="5"/>
                                  </p:tgtEl>
                                  <p:attrNameLst>
                                    <p:attrName>style.visibility</p:attrName>
                                  </p:attrNameLst>
                                </p:cBhvr>
                                <p:to>
                                  <p:strVal val="visible"/>
                                </p:to>
                              </p:set>
                              <p:animEffect transition="in" filter="fade">
                                <p:cBhvr>
                                  <p:cTn id="21" dur="550" fill="hold"/>
                                  <p:tgtEl>
                                    <p:spTgt spid="5"/>
                                  </p:tgtEl>
                                </p:cBhvr>
                              </p:animEffect>
                            </p:childTnList>
                          </p:cTn>
                        </p:par>
                        <p:par>
                          <p:cTn id="22" presetID="10" presetClass="entr" presetSubtype="0" fill="hold" grpId="0" nodeType="withEffect">
                            <p:stCondLst>
                              <p:cond delay="1300"/>
                            </p:stCondLst>
                            <p:childTnList>
                              <p:set>
                                <p:cBhvr>
                                  <p:cTn id="23" dur="1" fill="hold">
                                    <p:stCondLst>
                                      <p:cond delay="0"/>
                                    </p:stCondLst>
                                  </p:cTn>
                                  <p:tgtEl>
                                    <p:spTgt spid="7"/>
                                  </p:tgtEl>
                                  <p:attrNameLst>
                                    <p:attrName>style.visibility</p:attrName>
                                  </p:attrNameLst>
                                </p:cBhvr>
                                <p:to>
                                  <p:strVal val="visible"/>
                                </p:to>
                              </p:set>
                              <p:animEffect transition="in" filter="fade">
                                <p:cBhvr>
                                  <p:cTn id="24" dur="550" fill="hold"/>
                                  <p:tgtEl>
                                    <p:spTgt spid="7"/>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5" name="reveal-1::shape-32">
            <a:extLst xmlns:a="http://schemas.openxmlformats.org/drawingml/2006/main">
              <a:ext uri="{FF2B5EF4-FFF2-40B4-BE49-F238E27FC236}">
                <a16:creationId xmlns:a16="http://schemas.microsoft.com/office/drawing/2014/main" id="{2852CEA3-04CA-4418-9D0E-A404AF0F8B02}"/>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Ardıcıllıq və genom layihələri</a:t>
            </a:r>
          </a:p>
        </p:txBody>
      </p:sp>
      <p:graphicFrame>
        <p:nvGraphicFramePr>
          <p:cNvPr id="6" name=""/>
          <p:cNvGraphicFramePr/>
          <p:nvPr/>
        </p:nvGraphicFramePr>
        <p:xfrm>
          <a:off xmlns:a="http://schemas.openxmlformats.org/drawingml/2006/main" x="571500" y="1695450"/>
          <a:ext xmlns:a="http://schemas.openxmlformats.org/drawingml/2006/main" cx="11049000" cy="3867150"/>
        </p:xfrm>
        <a:graphic xmlns:a="http://schemas.openxmlformats.org/drawingml/2006/main">
          <a:graphicData uri="http://schemas.openxmlformats.org/drawingml/2006/table">
            <a:tbl>
              <a:tblPr/>
              <a:tblGrid>
                <a:gridCol w="2571750"/>
                <a:gridCol w="4000500"/>
                <a:gridCol w="4476750"/>
              </a:tblGrid>
              <a:tr h="552450">
                <a:tc>
                  <a:txBody>
                    <a:bodyPr/>
                    <a:lstStyle/>
                    <a:p>
                      <a:r>
                        <a:rPr sz="1725" b="1">
                          <a:solidFill>
                            <a:srgbClr val="FFFFFF"/>
                          </a:solidFill>
                          <a:latin typeface="Arial"/>
                          <a:ea typeface="Arial"/>
                          <a:cs typeface="Arial"/>
                        </a:rPr>
                        <a:t>Layihə ID-si</a:t>
                      </a:r>
                    </a:p>
                  </a:txBody>
                  <a:tcPr marL="91440" marR="91440" marT="45720" marB="45720">
                    <a:solidFill>
                      <a:srgbClr val="092333"/>
                    </a:solidFill>
                  </a:tcPr>
                </a:tc>
                <a:tc>
                  <a:txBody>
                    <a:bodyPr/>
                    <a:lstStyle/>
                    <a:p>
                      <a:r>
                        <a:rPr sz="1725" b="1">
                          <a:solidFill>
                            <a:srgbClr val="FFFFFF"/>
                          </a:solidFill>
                          <a:latin typeface="Arial"/>
                          <a:ea typeface="Arial"/>
                          <a:cs typeface="Arial"/>
                        </a:rPr>
                        <a:t>Giriş və metod</a:t>
                      </a:r>
                    </a:p>
                  </a:txBody>
                  <a:tcPr marL="91440" marR="91440" marT="45720" marB="45720">
                    <a:solidFill>
                      <a:srgbClr val="092333"/>
                    </a:solidFill>
                  </a:tcPr>
                </a:tc>
                <a:tc>
                  <a:txBody>
                    <a:bodyPr/>
                    <a:lstStyle/>
                    <a:p>
                      <a:r>
                        <a:rPr sz="1725" b="1">
                          <a:solidFill>
                            <a:srgbClr val="FFFFFF"/>
                          </a:solidFill>
                          <a:latin typeface="Arial"/>
                          <a:ea typeface="Arial"/>
                          <a:cs typeface="Arial"/>
                        </a:rPr>
                        <a:t>Çıxış</a:t>
                      </a:r>
                    </a:p>
                  </a:txBody>
                  <a:tcPr marL="91440" marR="91440" marT="45720" marB="45720">
                    <a:solidFill>
                      <a:srgbClr val="092333"/>
                    </a:solidFill>
                  </a:tcPr>
                </a:tc>
              </a:tr>
              <a:tr h="552450">
                <a:tc>
                  <a:txBody>
                    <a:bodyPr/>
                    <a:lstStyle/>
                    <a:p>
                      <a:r>
                        <a:rPr sz="1650" b="0">
                          <a:solidFill>
                            <a:srgbClr val="173343"/>
                          </a:solidFill>
                          <a:latin typeface="Arial"/>
                          <a:ea typeface="Arial"/>
                          <a:cs typeface="Arial"/>
                        </a:rPr>
                        <a:t>dna</a:t>
                      </a:r>
                    </a:p>
                  </a:txBody>
                  <a:tcPr marL="91440" marR="91440" marT="45720" marB="45720">
                    <a:solidFill>
                      <a:srgbClr val="FFFFFF"/>
                    </a:solidFill>
                  </a:tcPr>
                </a:tc>
                <a:tc>
                  <a:txBody>
                    <a:bodyPr/>
                    <a:lstStyle/>
                    <a:p>
                      <a:r>
                        <a:rPr sz="1650" b="0">
                          <a:solidFill>
                            <a:srgbClr val="173343"/>
                          </a:solidFill>
                          <a:latin typeface="Arial"/>
                          <a:ea typeface="Arial"/>
                          <a:cs typeface="Arial"/>
                        </a:rPr>
                        <a:t>PhiX174 və ya işarələnmiş toy</a:t>
                      </a:r>
                    </a:p>
                  </a:txBody>
                  <a:tcPr marL="91440" marR="91440" marT="45720" marB="45720">
                    <a:solidFill>
                      <a:srgbClr val="FFFFFF"/>
                    </a:solidFill>
                  </a:tcPr>
                </a:tc>
                <a:tc>
                  <a:txBody>
                    <a:bodyPr/>
                    <a:lstStyle/>
                    <a:p>
                      <a:r>
                        <a:rPr sz="1650" b="0">
                          <a:solidFill>
                            <a:srgbClr val="173343"/>
                          </a:solidFill>
                          <a:latin typeface="Arial"/>
                          <a:ea typeface="Arial"/>
                          <a:cs typeface="Arial"/>
                        </a:rPr>
                        <a:t>Sequence kompozisiyası</a:t>
                      </a:r>
                    </a:p>
                  </a:txBody>
                  <a:tcPr marL="91440" marR="91440" marT="45720" marB="45720">
                    <a:solidFill>
                      <a:srgbClr val="FFFFFF"/>
                    </a:solidFill>
                  </a:tcPr>
                </a:tc>
              </a:tr>
              <a:tr h="552450">
                <a:tc>
                  <a:txBody>
                    <a:bodyPr/>
                    <a:lstStyle/>
                    <a:p>
                      <a:r>
                        <a:rPr sz="1650" b="0">
                          <a:solidFill>
                            <a:srgbClr val="173343"/>
                          </a:solidFill>
                          <a:latin typeface="Arial"/>
                          <a:ea typeface="Arial"/>
                          <a:cs typeface="Arial"/>
                        </a:rPr>
                        <a:t>alignment</a:t>
                      </a:r>
                    </a:p>
                  </a:txBody>
                  <a:tcPr marL="91440" marR="91440" marT="45720" marB="45720">
                    <a:solidFill>
                      <a:srgbClr val="E7F1ED"/>
                    </a:solidFill>
                  </a:tcPr>
                </a:tc>
                <a:tc>
                  <a:txBody>
                    <a:bodyPr/>
                    <a:lstStyle/>
                    <a:p>
                      <a:r>
                        <a:rPr sz="1650" b="0">
                          <a:solidFill>
                            <a:srgbClr val="173343"/>
                          </a:solidFill>
                          <a:latin typeface="Arial"/>
                          <a:ea typeface="Arial"/>
                          <a:cs typeface="Arial"/>
                        </a:rPr>
                        <a:t>Sintetik sequence, NW və SW</a:t>
                      </a:r>
                    </a:p>
                  </a:txBody>
                  <a:tcPr marL="91440" marR="91440" marT="45720" marB="45720">
                    <a:solidFill>
                      <a:srgbClr val="E7F1ED"/>
                    </a:solidFill>
                  </a:tcPr>
                </a:tc>
                <a:tc>
                  <a:txBody>
                    <a:bodyPr/>
                    <a:lstStyle/>
                    <a:p>
                      <a:r>
                        <a:rPr sz="1650" b="0">
                          <a:solidFill>
                            <a:srgbClr val="173343"/>
                          </a:solidFill>
                          <a:latin typeface="Arial"/>
                          <a:ea typeface="Arial"/>
                          <a:cs typeface="Arial"/>
                        </a:rPr>
                        <a:t>Hizalama və score müqayisəsi</a:t>
                      </a:r>
                    </a:p>
                  </a:txBody>
                  <a:tcPr marL="91440" marR="91440" marT="45720" marB="45720">
                    <a:solidFill>
                      <a:srgbClr val="E7F1ED"/>
                    </a:solidFill>
                  </a:tcPr>
                </a:tc>
              </a:tr>
              <a:tr h="552450">
                <a:tc>
                  <a:txBody>
                    <a:bodyPr/>
                    <a:lstStyle/>
                    <a:p>
                      <a:r>
                        <a:rPr sz="1650" b="0">
                          <a:solidFill>
                            <a:srgbClr val="173343"/>
                          </a:solidFill>
                          <a:latin typeface="Arial"/>
                          <a:ea typeface="Arial"/>
                          <a:cs typeface="Arial"/>
                        </a:rPr>
                        <a:t>variants</a:t>
                      </a:r>
                    </a:p>
                  </a:txBody>
                  <a:tcPr marL="91440" marR="91440" marT="45720" marB="45720">
                    <a:solidFill>
                      <a:srgbClr val="FFFFFF"/>
                    </a:solidFill>
                  </a:tcPr>
                </a:tc>
                <a:tc>
                  <a:txBody>
                    <a:bodyPr/>
                    <a:lstStyle/>
                    <a:p>
                      <a:r>
                        <a:rPr sz="1650" b="0">
                          <a:solidFill>
                            <a:srgbClr val="173343"/>
                          </a:solidFill>
                          <a:latin typeface="Arial"/>
                          <a:ea typeface="Arial"/>
                          <a:cs typeface="Arial"/>
                        </a:rPr>
                        <a:t>GIAB HG001 VCF prefix-i</a:t>
                      </a:r>
                    </a:p>
                  </a:txBody>
                  <a:tcPr marL="91440" marR="91440" marT="45720" marB="45720">
                    <a:solidFill>
                      <a:srgbClr val="FFFFFF"/>
                    </a:solidFill>
                  </a:tcPr>
                </a:tc>
                <a:tc>
                  <a:txBody>
                    <a:bodyPr/>
                    <a:lstStyle/>
                    <a:p>
                      <a:r>
                        <a:rPr sz="1650" b="0">
                          <a:solidFill>
                            <a:srgbClr val="173343"/>
                          </a:solidFill>
                          <a:latin typeface="Arial"/>
                          <a:ea typeface="Arial"/>
                          <a:cs typeface="Arial"/>
                        </a:rPr>
                        <a:t>SNV, indel, Ti/Tv xülasəsi</a:t>
                      </a:r>
                    </a:p>
                  </a:txBody>
                  <a:tcPr marL="91440" marR="91440" marT="45720" marB="45720">
                    <a:solidFill>
                      <a:srgbClr val="FFFFFF"/>
                    </a:solidFill>
                  </a:tcPr>
                </a:tc>
              </a:tr>
              <a:tr h="552450">
                <a:tc>
                  <a:txBody>
                    <a:bodyPr/>
                    <a:lstStyle/>
                    <a:p>
                      <a:r>
                        <a:rPr sz="1650" b="0">
                          <a:solidFill>
                            <a:srgbClr val="173343"/>
                          </a:solidFill>
                          <a:latin typeface="Arial"/>
                          <a:ea typeface="Arial"/>
                          <a:cs typeface="Arial"/>
                        </a:rPr>
                        <a:t>phylogeny</a:t>
                      </a:r>
                    </a:p>
                  </a:txBody>
                  <a:tcPr marL="91440" marR="91440" marT="45720" marB="45720">
                    <a:solidFill>
                      <a:srgbClr val="E7F1ED"/>
                    </a:solidFill>
                  </a:tcPr>
                </a:tc>
                <a:tc>
                  <a:txBody>
                    <a:bodyPr/>
                    <a:lstStyle/>
                    <a:p>
                      <a:r>
                        <a:rPr sz="1650" b="0">
                          <a:solidFill>
                            <a:srgbClr val="173343"/>
                          </a:solidFill>
                          <a:latin typeface="Arial"/>
                          <a:ea typeface="Arial"/>
                          <a:cs typeface="Arial"/>
                        </a:rPr>
                        <a:t>7 Opuntia fraqmenti, NJ</a:t>
                      </a:r>
                    </a:p>
                  </a:txBody>
                  <a:tcPr marL="91440" marR="91440" marT="45720" marB="45720">
                    <a:solidFill>
                      <a:srgbClr val="E7F1ED"/>
                    </a:solidFill>
                  </a:tcPr>
                </a:tc>
                <a:tc>
                  <a:txBody>
                    <a:bodyPr/>
                    <a:lstStyle/>
                    <a:p>
                      <a:r>
                        <a:rPr sz="1650" b="0">
                          <a:solidFill>
                            <a:srgbClr val="173343"/>
                          </a:solidFill>
                          <a:latin typeface="Arial"/>
                          <a:ea typeface="Arial"/>
                          <a:cs typeface="Arial"/>
                        </a:rPr>
                        <a:t>Bootstrap dəstəkli ağac</a:t>
                      </a:r>
                    </a:p>
                  </a:txBody>
                  <a:tcPr marL="91440" marR="91440" marT="45720" marB="45720">
                    <a:solidFill>
                      <a:srgbClr val="E7F1ED"/>
                    </a:solidFill>
                  </a:tcPr>
                </a:tc>
              </a:tr>
              <a:tr h="552450">
                <a:tc>
                  <a:txBody>
                    <a:bodyPr/>
                    <a:lstStyle/>
                    <a:p>
                      <a:r>
                        <a:rPr sz="1650" b="0">
                          <a:solidFill>
                            <a:srgbClr val="173343"/>
                          </a:solidFill>
                          <a:latin typeface="Arial"/>
                          <a:ea typeface="Arial"/>
                          <a:cs typeface="Arial"/>
                        </a:rPr>
                        <a:t>orfs</a:t>
                      </a:r>
                    </a:p>
                  </a:txBody>
                  <a:tcPr marL="91440" marR="91440" marT="45720" marB="45720">
                    <a:solidFill>
                      <a:srgbClr val="FFFFFF"/>
                    </a:solidFill>
                  </a:tcPr>
                </a:tc>
                <a:tc>
                  <a:txBody>
                    <a:bodyPr/>
                    <a:lstStyle/>
                    <a:p>
                      <a:r>
                        <a:rPr sz="1650" b="0">
                          <a:solidFill>
                            <a:srgbClr val="173343"/>
                          </a:solidFill>
                          <a:latin typeface="Arial"/>
                          <a:ea typeface="Arial"/>
                          <a:cs typeface="Arial"/>
                        </a:rPr>
                        <a:t>Dairəvi PhiX174 genomu</a:t>
                      </a:r>
                    </a:p>
                  </a:txBody>
                  <a:tcPr marL="91440" marR="91440" marT="45720" marB="45720">
                    <a:solidFill>
                      <a:srgbClr val="FFFFFF"/>
                    </a:solidFill>
                  </a:tcPr>
                </a:tc>
                <a:tc>
                  <a:txBody>
                    <a:bodyPr/>
                    <a:lstStyle/>
                    <a:p>
                      <a:r>
                        <a:rPr sz="1650" b="0">
                          <a:solidFill>
                            <a:srgbClr val="173343"/>
                          </a:solidFill>
                          <a:latin typeface="Arial"/>
                          <a:ea typeface="Arial"/>
                          <a:cs typeface="Arial"/>
                        </a:rPr>
                        <a:t>ORF namizədləri və koordinatlar</a:t>
                      </a:r>
                    </a:p>
                  </a:txBody>
                  <a:tcPr marL="91440" marR="91440" marT="45720" marB="45720">
                    <a:solidFill>
                      <a:srgbClr val="FFFFFF"/>
                    </a:solidFill>
                  </a:tcPr>
                </a:tc>
              </a:tr>
              <a:tr h="552450">
                <a:tc>
                  <a:txBody>
                    <a:bodyPr/>
                    <a:lstStyle/>
                    <a:p>
                      <a:r>
                        <a:rPr sz="1650" b="0">
                          <a:solidFill>
                            <a:srgbClr val="173343"/>
                          </a:solidFill>
                          <a:latin typeface="Arial"/>
                          <a:ea typeface="Arial"/>
                          <a:cs typeface="Arial"/>
                        </a:rPr>
                        <a:t>proteins</a:t>
                      </a:r>
                    </a:p>
                  </a:txBody>
                  <a:tcPr marL="91440" marR="91440" marT="45720" marB="45720">
                    <a:solidFill>
                      <a:srgbClr val="E7F1ED"/>
                    </a:solidFill>
                  </a:tcPr>
                </a:tc>
                <a:tc>
                  <a:txBody>
                    <a:bodyPr/>
                    <a:lstStyle/>
                    <a:p>
                      <a:r>
                        <a:rPr sz="1650" b="0">
                          <a:solidFill>
                            <a:srgbClr val="173343"/>
                          </a:solidFill>
                          <a:latin typeface="Arial"/>
                          <a:ea typeface="Arial"/>
                          <a:cs typeface="Arial"/>
                        </a:rPr>
                        <a:t>UniProt sequence və PDB</a:t>
                      </a:r>
                    </a:p>
                  </a:txBody>
                  <a:tcPr marL="91440" marR="91440" marT="45720" marB="45720">
                    <a:solidFill>
                      <a:srgbClr val="E7F1ED"/>
                    </a:solidFill>
                  </a:tcPr>
                </a:tc>
                <a:tc>
                  <a:txBody>
                    <a:bodyPr/>
                    <a:lstStyle/>
                    <a:p>
                      <a:r>
                        <a:rPr sz="1650" b="0">
                          <a:solidFill>
                            <a:srgbClr val="173343"/>
                          </a:solidFill>
                          <a:latin typeface="Arial"/>
                          <a:ea typeface="Arial"/>
                          <a:cs typeface="Arial"/>
                        </a:rPr>
                        <a:t>Sequence xülasəsi, contact map</a:t>
                      </a:r>
                    </a:p>
                  </a:txBody>
                  <a:tcPr marL="91440" marR="91440" marT="45720" marB="45720">
                    <a:solidFill>
                      <a:srgbClr val="E7F1ED"/>
                    </a:solidFill>
                  </a:tcPr>
                </a:tc>
              </a:tr>
            </a:tbl>
          </a:graphicData>
        </a:graphic>
      </p:graphicFrame>
      <p:sp>
        <p:nvSpPr>
          <p:cNvPr id="3" name="reveal-6::shape-33">
            <a:extLst xmlns:a="http://schemas.openxmlformats.org/drawingml/2006/main">
              <a:ext uri="{FF2B5EF4-FFF2-40B4-BE49-F238E27FC236}">
                <a16:creationId xmlns:a16="http://schemas.microsoft.com/office/drawing/2014/main" id="{B458CDB6-FA6E-420F-AB0E-EE48F58FF3C7}"/>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ID-lər vahid başladıcıda işlənir: python scripts/lab.py run &lt;id&gt;</a:t>
            </a:r>
          </a:p>
        </p:txBody>
      </p:sp>
      <p:sp>
        <p:nvSpPr>
          <p:cNvPr id="4" name="reveal-0::shape-34">
            <a:extLst xmlns:a="http://schemas.openxmlformats.org/drawingml/2006/main">
              <a:ext uri="{FF2B5EF4-FFF2-40B4-BE49-F238E27FC236}">
                <a16:creationId xmlns:a16="http://schemas.microsoft.com/office/drawing/2014/main" id="{32FDD584-5A57-4491-96EB-9E65F8E4C6A7}"/>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04</a:t>
            </a:r>
          </a:p>
        </p:txBody>
      </p:sp>
    </p:spTree>
    <p:extLst>
      <p:ext uri="{BB962C8B-B14F-4D97-AF65-F5344CB8AC3E}">
        <p14:creationId xmlns:p14="http://schemas.microsoft.com/office/powerpoint/2010/main" val="1577800366"/>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5"/>
                                  </p:tgtEl>
                                  <p:attrNameLst>
                                    <p:attrName>style.visibility</p:attrName>
                                  </p:attrNameLst>
                                </p:cBhvr>
                                <p:to>
                                  <p:strVal val="visible"/>
                                </p:to>
                              </p:set>
                              <p:animEffect transition="in" filter="fade">
                                <p:cBhvr>
                                  <p:cTn id="6" dur="550" fill="hold"/>
                                  <p:tgtEl>
                                    <p:spTgt spid="5"/>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6"/>
                                  </p:tgtEl>
                                  <p:attrNameLst>
                                    <p:attrName>style.visibility</p:attrName>
                                  </p:attrNameLst>
                                </p:cBhvr>
                                <p:to>
                                  <p:strVal val="visible"/>
                                </p:to>
                              </p:set>
                              <p:animEffect transition="in" filter="fade">
                                <p:cBhvr>
                                  <p:cTn id="9" dur="550" fill="hold"/>
                                  <p:tgtEl>
                                    <p:spTgt spid="6"/>
                                  </p:tgtEl>
                                </p:cBhvr>
                              </p:animEffect>
                            </p:childTnList>
                          </p:cTn>
                        </p:par>
                        <p:par>
                          <p:cTn id="10" presetID="10" presetClass="entr" presetSubtype="0" fill="hold" grpId="0" nodeType="withEffect">
                            <p:stCondLst>
                              <p:cond delay="130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5" name="reveal-1::shape-35">
            <a:extLst xmlns:a="http://schemas.openxmlformats.org/drawingml/2006/main">
              <a:ext uri="{FF2B5EF4-FFF2-40B4-BE49-F238E27FC236}">
                <a16:creationId xmlns:a16="http://schemas.microsoft.com/office/drawing/2014/main" id="{AF0700C5-7B48-405A-BDCF-B686549E9A50}"/>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İfadə və model layihələri</a:t>
            </a:r>
          </a:p>
        </p:txBody>
      </p:sp>
      <p:graphicFrame>
        <p:nvGraphicFramePr>
          <p:cNvPr id="6" name=""/>
          <p:cNvGraphicFramePr/>
          <p:nvPr/>
        </p:nvGraphicFramePr>
        <p:xfrm>
          <a:off xmlns:a="http://schemas.openxmlformats.org/drawingml/2006/main" x="571500" y="1695450"/>
          <a:ext xmlns:a="http://schemas.openxmlformats.org/drawingml/2006/main" cx="11049000" cy="3867150"/>
        </p:xfrm>
        <a:graphic xmlns:a="http://schemas.openxmlformats.org/drawingml/2006/main">
          <a:graphicData uri="http://schemas.openxmlformats.org/drawingml/2006/table">
            <a:tbl>
              <a:tblPr/>
              <a:tblGrid>
                <a:gridCol w="2952750"/>
                <a:gridCol w="4000500"/>
                <a:gridCol w="4095750"/>
              </a:tblGrid>
              <a:tr h="552450">
                <a:tc>
                  <a:txBody>
                    <a:bodyPr/>
                    <a:lstStyle/>
                    <a:p>
                      <a:r>
                        <a:rPr sz="1725" b="1">
                          <a:solidFill>
                            <a:srgbClr val="FFFFFF"/>
                          </a:solidFill>
                          <a:latin typeface="Arial"/>
                          <a:ea typeface="Arial"/>
                          <a:cs typeface="Arial"/>
                        </a:rPr>
                        <a:t>Layihə ID-si</a:t>
                      </a:r>
                    </a:p>
                  </a:txBody>
                  <a:tcPr marL="91440" marR="91440" marT="45720" marB="45720">
                    <a:solidFill>
                      <a:srgbClr val="092333"/>
                    </a:solidFill>
                  </a:tcPr>
                </a:tc>
                <a:tc>
                  <a:txBody>
                    <a:bodyPr/>
                    <a:lstStyle/>
                    <a:p>
                      <a:r>
                        <a:rPr sz="1725" b="1">
                          <a:solidFill>
                            <a:srgbClr val="FFFFFF"/>
                          </a:solidFill>
                          <a:latin typeface="Arial"/>
                          <a:ea typeface="Arial"/>
                          <a:cs typeface="Arial"/>
                        </a:rPr>
                        <a:t>Giriş və metod</a:t>
                      </a:r>
                    </a:p>
                  </a:txBody>
                  <a:tcPr marL="91440" marR="91440" marT="45720" marB="45720">
                    <a:solidFill>
                      <a:srgbClr val="092333"/>
                    </a:solidFill>
                  </a:tcPr>
                </a:tc>
                <a:tc>
                  <a:txBody>
                    <a:bodyPr/>
                    <a:lstStyle/>
                    <a:p>
                      <a:r>
                        <a:rPr sz="1725" b="1">
                          <a:solidFill>
                            <a:srgbClr val="FFFFFF"/>
                          </a:solidFill>
                          <a:latin typeface="Arial"/>
                          <a:ea typeface="Arial"/>
                          <a:cs typeface="Arial"/>
                        </a:rPr>
                        <a:t>Çıxış</a:t>
                      </a:r>
                    </a:p>
                  </a:txBody>
                  <a:tcPr marL="91440" marR="91440" marT="45720" marB="45720">
                    <a:solidFill>
                      <a:srgbClr val="092333"/>
                    </a:solidFill>
                  </a:tcPr>
                </a:tc>
              </a:tr>
              <a:tr h="552450">
                <a:tc>
                  <a:txBody>
                    <a:bodyPr/>
                    <a:lstStyle/>
                    <a:p>
                      <a:r>
                        <a:rPr sz="1650" b="0">
                          <a:solidFill>
                            <a:srgbClr val="173343"/>
                          </a:solidFill>
                          <a:latin typeface="Arial"/>
                          <a:ea typeface="Arial"/>
                          <a:cs typeface="Arial"/>
                        </a:rPr>
                        <a:t>rnaseq</a:t>
                      </a:r>
                    </a:p>
                  </a:txBody>
                  <a:tcPr marL="91440" marR="91440" marT="45720" marB="45720">
                    <a:solidFill>
                      <a:srgbClr val="FFFFFF"/>
                    </a:solidFill>
                  </a:tcPr>
                </a:tc>
                <a:tc>
                  <a:txBody>
                    <a:bodyPr/>
                    <a:lstStyle/>
                    <a:p>
                      <a:r>
                        <a:rPr sz="1650" b="0">
                          <a:solidFill>
                            <a:srgbClr val="173343"/>
                          </a:solidFill>
                          <a:latin typeface="Arial"/>
                          <a:ea typeface="Arial"/>
                          <a:cs typeface="Arial"/>
                        </a:rPr>
                        <a:t>Pasilla, PyDESeq2</a:t>
                      </a:r>
                    </a:p>
                  </a:txBody>
                  <a:tcPr marL="91440" marR="91440" marT="45720" marB="45720">
                    <a:solidFill>
                      <a:srgbClr val="FFFFFF"/>
                    </a:solidFill>
                  </a:tcPr>
                </a:tc>
                <a:tc>
                  <a:txBody>
                    <a:bodyPr/>
                    <a:lstStyle/>
                    <a:p>
                      <a:r>
                        <a:rPr sz="1650" b="0">
                          <a:solidFill>
                            <a:srgbClr val="173343"/>
                          </a:solidFill>
                          <a:latin typeface="Arial"/>
                          <a:ea typeface="Arial"/>
                          <a:cs typeface="Arial"/>
                        </a:rPr>
                        <a:t>Diferensial ifadə və PCA</a:t>
                      </a:r>
                    </a:p>
                  </a:txBody>
                  <a:tcPr marL="91440" marR="91440" marT="45720" marB="45720">
                    <a:solidFill>
                      <a:srgbClr val="FFFFFF"/>
                    </a:solidFill>
                  </a:tcPr>
                </a:tc>
              </a:tr>
              <a:tr h="552450">
                <a:tc>
                  <a:txBody>
                    <a:bodyPr/>
                    <a:lstStyle/>
                    <a:p>
                      <a:r>
                        <a:rPr sz="1650" b="0">
                          <a:solidFill>
                            <a:srgbClr val="173343"/>
                          </a:solidFill>
                          <a:latin typeface="Arial"/>
                          <a:ea typeface="Arial"/>
                          <a:cs typeface="Arial"/>
                        </a:rPr>
                        <a:t>ml</a:t>
                      </a:r>
                    </a:p>
                  </a:txBody>
                  <a:tcPr marL="91440" marR="91440" marT="45720" marB="45720">
                    <a:solidFill>
                      <a:srgbClr val="E7F1ED"/>
                    </a:solidFill>
                  </a:tcPr>
                </a:tc>
                <a:tc>
                  <a:txBody>
                    <a:bodyPr/>
                    <a:lstStyle/>
                    <a:p>
                      <a:r>
                        <a:rPr sz="1650" b="0">
                          <a:solidFill>
                            <a:srgbClr val="173343"/>
                          </a:solidFill>
                          <a:latin typeface="Arial"/>
                          <a:ea typeface="Arial"/>
                          <a:cs typeface="Arial"/>
                        </a:rPr>
                        <a:t>WDBC morfoloji əlamətləri</a:t>
                      </a:r>
                    </a:p>
                  </a:txBody>
                  <a:tcPr marL="91440" marR="91440" marT="45720" marB="45720">
                    <a:solidFill>
                      <a:srgbClr val="E7F1ED"/>
                    </a:solidFill>
                  </a:tcPr>
                </a:tc>
                <a:tc>
                  <a:txBody>
                    <a:bodyPr/>
                    <a:lstStyle/>
                    <a:p>
                      <a:r>
                        <a:rPr sz="1650" b="0">
                          <a:solidFill>
                            <a:srgbClr val="173343"/>
                          </a:solidFill>
                          <a:latin typeface="Arial"/>
                          <a:ea typeface="Arial"/>
                          <a:cs typeface="Arial"/>
                        </a:rPr>
                        <a:t>Təsnifat və test metrikləri</a:t>
                      </a:r>
                    </a:p>
                  </a:txBody>
                  <a:tcPr marL="91440" marR="91440" marT="45720" marB="45720">
                    <a:solidFill>
                      <a:srgbClr val="E7F1ED"/>
                    </a:solidFill>
                  </a:tcPr>
                </a:tc>
              </a:tr>
              <a:tr h="552450">
                <a:tc>
                  <a:txBody>
                    <a:bodyPr/>
                    <a:lstStyle/>
                    <a:p>
                      <a:r>
                        <a:rPr sz="1650" b="0">
                          <a:solidFill>
                            <a:srgbClr val="173343"/>
                          </a:solidFill>
                          <a:latin typeface="Arial"/>
                          <a:ea typeface="Arial"/>
                          <a:cs typeface="Arial"/>
                        </a:rPr>
                        <a:t>expression-ml</a:t>
                      </a:r>
                    </a:p>
                  </a:txBody>
                  <a:tcPr marL="91440" marR="91440" marT="45720" marB="45720">
                    <a:solidFill>
                      <a:srgbClr val="FFFFFF"/>
                    </a:solidFill>
                  </a:tcPr>
                </a:tc>
                <a:tc>
                  <a:txBody>
                    <a:bodyPr/>
                    <a:lstStyle/>
                    <a:p>
                      <a:r>
                        <a:rPr sz="1650" b="0">
                          <a:solidFill>
                            <a:srgbClr val="173343"/>
                          </a:solidFill>
                          <a:latin typeface="Arial"/>
                          <a:ea typeface="Arial"/>
                          <a:cs typeface="Arial"/>
                        </a:rPr>
                        <a:t>Khan microarray, LinearSVC</a:t>
                      </a:r>
                    </a:p>
                  </a:txBody>
                  <a:tcPr marL="91440" marR="91440" marT="45720" marB="45720">
                    <a:solidFill>
                      <a:srgbClr val="FFFFFF"/>
                    </a:solidFill>
                  </a:tcPr>
                </a:tc>
                <a:tc>
                  <a:txBody>
                    <a:bodyPr/>
                    <a:lstStyle/>
                    <a:p>
                      <a:r>
                        <a:rPr sz="1650" b="0">
                          <a:solidFill>
                            <a:srgbClr val="173343"/>
                          </a:solidFill>
                          <a:latin typeface="Arial"/>
                          <a:ea typeface="Arial"/>
                          <a:cs typeface="Arial"/>
                        </a:rPr>
                        <a:t>4 sinif üzrə proqnoz</a:t>
                      </a:r>
                    </a:p>
                  </a:txBody>
                  <a:tcPr marL="91440" marR="91440" marT="45720" marB="45720">
                    <a:solidFill>
                      <a:srgbClr val="FFFFFF"/>
                    </a:solidFill>
                  </a:tcPr>
                </a:tc>
              </a:tr>
              <a:tr h="552450">
                <a:tc>
                  <a:txBody>
                    <a:bodyPr/>
                    <a:lstStyle/>
                    <a:p>
                      <a:r>
                        <a:rPr sz="1650" b="0">
                          <a:solidFill>
                            <a:srgbClr val="173343"/>
                          </a:solidFill>
                          <a:latin typeface="Arial"/>
                          <a:ea typeface="Arial"/>
                          <a:cs typeface="Arial"/>
                        </a:rPr>
                        <a:t>database</a:t>
                      </a:r>
                    </a:p>
                  </a:txBody>
                  <a:tcPr marL="91440" marR="91440" marT="45720" marB="45720">
                    <a:solidFill>
                      <a:srgbClr val="E7F1ED"/>
                    </a:solidFill>
                  </a:tcPr>
                </a:tc>
                <a:tc>
                  <a:txBody>
                    <a:bodyPr/>
                    <a:lstStyle/>
                    <a:p>
                      <a:r>
                        <a:rPr sz="1650" b="0">
                          <a:solidFill>
                            <a:srgbClr val="173343"/>
                          </a:solidFill>
                          <a:latin typeface="Arial"/>
                          <a:ea typeface="Arial"/>
                          <a:cs typeface="Arial"/>
                        </a:rPr>
                        <a:t>Yeast sayımları, SQLite</a:t>
                      </a:r>
                    </a:p>
                  </a:txBody>
                  <a:tcPr marL="91440" marR="91440" marT="45720" marB="45720">
                    <a:solidFill>
                      <a:srgbClr val="E7F1ED"/>
                    </a:solidFill>
                  </a:tcPr>
                </a:tc>
                <a:tc>
                  <a:txBody>
                    <a:bodyPr/>
                    <a:lstStyle/>
                    <a:p>
                      <a:r>
                        <a:rPr sz="1650" b="0">
                          <a:solidFill>
                            <a:srgbClr val="173343"/>
                          </a:solidFill>
                          <a:latin typeface="Arial"/>
                          <a:ea typeface="Arial"/>
                          <a:cs typeface="Arial"/>
                        </a:rPr>
                        <a:t>Sorğulana bilən kataloq</a:t>
                      </a:r>
                    </a:p>
                  </a:txBody>
                  <a:tcPr marL="91440" marR="91440" marT="45720" marB="45720">
                    <a:solidFill>
                      <a:srgbClr val="E7F1ED"/>
                    </a:solidFill>
                  </a:tcPr>
                </a:tc>
              </a:tr>
              <a:tr h="552450">
                <a:tc>
                  <a:txBody>
                    <a:bodyPr/>
                    <a:lstStyle/>
                    <a:p>
                      <a:r>
                        <a:rPr sz="1650" b="0">
                          <a:solidFill>
                            <a:srgbClr val="173343"/>
                          </a:solidFill>
                          <a:latin typeface="Arial"/>
                          <a:ea typeface="Arial"/>
                          <a:cs typeface="Arial"/>
                        </a:rPr>
                        <a:t>statistics</a:t>
                      </a:r>
                    </a:p>
                  </a:txBody>
                  <a:tcPr marL="91440" marR="91440" marT="45720" marB="45720">
                    <a:solidFill>
                      <a:srgbClr val="FFFFFF"/>
                    </a:solidFill>
                  </a:tcPr>
                </a:tc>
                <a:tc>
                  <a:txBody>
                    <a:bodyPr/>
                    <a:lstStyle/>
                    <a:p>
                      <a:r>
                        <a:rPr sz="1650" b="0">
                          <a:solidFill>
                            <a:srgbClr val="173343"/>
                          </a:solidFill>
                          <a:latin typeface="Arial"/>
                          <a:ea typeface="Arial"/>
                          <a:cs typeface="Arial"/>
                        </a:rPr>
                        <a:t>Sintetik null simulyasiyası</a:t>
                      </a:r>
                    </a:p>
                  </a:txBody>
                  <a:tcPr marL="91440" marR="91440" marT="45720" marB="45720">
                    <a:solidFill>
                      <a:srgbClr val="FFFFFF"/>
                    </a:solidFill>
                  </a:tcPr>
                </a:tc>
                <a:tc>
                  <a:txBody>
                    <a:bodyPr/>
                    <a:lstStyle/>
                    <a:p>
                      <a:r>
                        <a:rPr sz="1650" b="0">
                          <a:solidFill>
                            <a:srgbClr val="173343"/>
                          </a:solidFill>
                          <a:latin typeface="Arial"/>
                          <a:ea typeface="Arial"/>
                          <a:cs typeface="Arial"/>
                        </a:rPr>
                        <a:t>Çoxsaylı test və BH düzəlişi</a:t>
                      </a:r>
                    </a:p>
                  </a:txBody>
                  <a:tcPr marL="91440" marR="91440" marT="45720" marB="45720">
                    <a:solidFill>
                      <a:srgbClr val="FFFFFF"/>
                    </a:solidFill>
                  </a:tcPr>
                </a:tc>
              </a:tr>
              <a:tr h="552450">
                <a:tc>
                  <a:txBody>
                    <a:bodyPr/>
                    <a:lstStyle/>
                    <a:p>
                      <a:r>
                        <a:rPr sz="1650" b="0">
                          <a:solidFill>
                            <a:srgbClr val="173343"/>
                          </a:solidFill>
                          <a:latin typeface="Arial"/>
                          <a:ea typeface="Arial"/>
                          <a:cs typeface="Arial"/>
                        </a:rPr>
                        <a:t>enrichment</a:t>
                      </a:r>
                    </a:p>
                  </a:txBody>
                  <a:tcPr marL="91440" marR="91440" marT="45720" marB="45720">
                    <a:solidFill>
                      <a:srgbClr val="E7F1ED"/>
                    </a:solidFill>
                  </a:tcPr>
                </a:tc>
                <a:tc>
                  <a:txBody>
                    <a:bodyPr/>
                    <a:lstStyle/>
                    <a:p>
                      <a:r>
                        <a:rPr sz="1650" b="0">
                          <a:solidFill>
                            <a:srgbClr val="173343"/>
                          </a:solidFill>
                          <a:latin typeface="Arial"/>
                          <a:ea typeface="Arial"/>
                          <a:cs typeface="Arial"/>
                        </a:rPr>
                        <a:t>Yeast və SGD GO-slim</a:t>
                      </a:r>
                    </a:p>
                  </a:txBody>
                  <a:tcPr marL="91440" marR="91440" marT="45720" marB="45720">
                    <a:solidFill>
                      <a:srgbClr val="E7F1ED"/>
                    </a:solidFill>
                  </a:tcPr>
                </a:tc>
                <a:tc>
                  <a:txBody>
                    <a:bodyPr/>
                    <a:lstStyle/>
                    <a:p>
                      <a:r>
                        <a:rPr sz="1650" b="0">
                          <a:solidFill>
                            <a:srgbClr val="173343"/>
                          </a:solidFill>
                          <a:latin typeface="Arial"/>
                          <a:ea typeface="Arial"/>
                          <a:cs typeface="Arial"/>
                        </a:rPr>
                        <a:t>Term üzrə zənginləşmə analizi</a:t>
                      </a:r>
                    </a:p>
                  </a:txBody>
                  <a:tcPr marL="91440" marR="91440" marT="45720" marB="45720">
                    <a:solidFill>
                      <a:srgbClr val="E7F1ED"/>
                    </a:solidFill>
                  </a:tcPr>
                </a:tc>
              </a:tr>
            </a:tbl>
          </a:graphicData>
        </a:graphic>
      </p:graphicFrame>
      <p:sp>
        <p:nvSpPr>
          <p:cNvPr id="3" name="reveal-6::shape-36">
            <a:extLst xmlns:a="http://schemas.openxmlformats.org/drawingml/2006/main">
              <a:ext uri="{FF2B5EF4-FFF2-40B4-BE49-F238E27FC236}">
                <a16:creationId xmlns:a16="http://schemas.microsoft.com/office/drawing/2014/main" id="{6FECE14C-6030-4B4E-B7AA-F68B4EE5C034}"/>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Model seçimi training daxilində aparılır. WDBC girişləri gen ifadəsi deyil.</a:t>
            </a:r>
          </a:p>
        </p:txBody>
      </p:sp>
      <p:sp>
        <p:nvSpPr>
          <p:cNvPr id="4" name="reveal-0::shape-37">
            <a:extLst xmlns:a="http://schemas.openxmlformats.org/drawingml/2006/main">
              <a:ext uri="{FF2B5EF4-FFF2-40B4-BE49-F238E27FC236}">
                <a16:creationId xmlns:a16="http://schemas.microsoft.com/office/drawing/2014/main" id="{9E077322-D678-4C35-BE24-6E858C01820B}"/>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05</a:t>
            </a:r>
          </a:p>
        </p:txBody>
      </p:sp>
    </p:spTree>
    <p:extLst>
      <p:ext uri="{BB962C8B-B14F-4D97-AF65-F5344CB8AC3E}">
        <p14:creationId xmlns:p14="http://schemas.microsoft.com/office/powerpoint/2010/main" val="1892556108"/>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5"/>
                                  </p:tgtEl>
                                  <p:attrNameLst>
                                    <p:attrName>style.visibility</p:attrName>
                                  </p:attrNameLst>
                                </p:cBhvr>
                                <p:to>
                                  <p:strVal val="visible"/>
                                </p:to>
                              </p:set>
                              <p:animEffect transition="in" filter="fade">
                                <p:cBhvr>
                                  <p:cTn id="6" dur="550" fill="hold"/>
                                  <p:tgtEl>
                                    <p:spTgt spid="5"/>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6"/>
                                  </p:tgtEl>
                                  <p:attrNameLst>
                                    <p:attrName>style.visibility</p:attrName>
                                  </p:attrNameLst>
                                </p:cBhvr>
                                <p:to>
                                  <p:strVal val="visible"/>
                                </p:to>
                              </p:set>
                              <p:animEffect transition="in" filter="fade">
                                <p:cBhvr>
                                  <p:cTn id="9" dur="550" fill="hold"/>
                                  <p:tgtEl>
                                    <p:spTgt spid="6"/>
                                  </p:tgtEl>
                                </p:cBhvr>
                              </p:animEffect>
                            </p:childTnList>
                          </p:cTn>
                        </p:par>
                        <p:par>
                          <p:cTn id="10" presetID="10" presetClass="entr" presetSubtype="0" fill="hold" grpId="0" nodeType="withEffect">
                            <p:stCondLst>
                              <p:cond delay="130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6.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9" name="reveal-1::shape-38">
            <a:extLst xmlns:a="http://schemas.openxmlformats.org/drawingml/2006/main">
              <a:ext uri="{FF2B5EF4-FFF2-40B4-BE49-F238E27FC236}">
                <a16:creationId xmlns:a16="http://schemas.microsoft.com/office/drawing/2014/main" id="{0C873827-D1F3-4827-B180-68DBF956C66D}"/>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RNA-seq: nümunələr və gen ifadəsi</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c29fc41d9ff4c19"/>
          <a:stretch xmlns:a="http://schemas.openxmlformats.org/drawingml/2006/main"/>
        </p:blipFill>
        <p:spPr>
          <a:xfrm xmlns:a="http://schemas.openxmlformats.org/drawingml/2006/main">
            <a:off x="1363028" y="1552575"/>
            <a:ext cx="5894070" cy="4210050"/>
          </a:xfrm>
          <a:prstGeom xmlns:a="http://schemas.openxmlformats.org/drawingml/2006/main" prst="rect">
            <a:avLst/>
          </a:prstGeom>
        </p:spPr>
      </p:pic>
      <p:sp>
        <p:nvSpPr>
          <p:cNvPr id="3" name="reveal-2::shape-39">
            <a:extLst xmlns:a="http://schemas.openxmlformats.org/drawingml/2006/main">
              <a:ext uri="{FF2B5EF4-FFF2-40B4-BE49-F238E27FC236}">
                <a16:creationId xmlns:a16="http://schemas.microsoft.com/office/drawing/2014/main" id="{734DF98D-1190-46CA-B0D5-0B97285A23BD}"/>
              </a:ext>
            </a:extLst>
          </p:cNvPr>
          <p:cNvSpPr>
            <a:spLocks xmlns:a="http://schemas.openxmlformats.org/drawingml/2006/main" noGrp="1"/>
          </p:cNvSpPr>
          <p:nvPr/>
        </p:nvSpPr>
        <p:spPr>
          <a:xfrm xmlns:a="http://schemas.openxmlformats.org/drawingml/2006/main">
            <a:off x="8543925" y="1704975"/>
            <a:ext cx="2667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087F83"/>
                </a:solidFill>
                <a:latin typeface="Arial"/>
                <a:ea typeface="Arial"/>
                <a:cs typeface="Arial"/>
              </a:defRPr>
            </a:pPr>
            <a:r>
              <a:rPr sz="6525" b="1">
                <a:solidFill>
                  <a:srgbClr val="087F83"/>
                </a:solidFill>
                <a:latin typeface="Arial"/>
                <a:ea typeface="Arial"/>
                <a:cs typeface="Arial"/>
              </a:rPr>
              <a:t>7</a:t>
            </a:r>
          </a:p>
        </p:txBody>
      </p:sp>
      <p:sp>
        <p:nvSpPr>
          <p:cNvPr id="4" name="reveal-2::shape-40">
            <a:extLst xmlns:a="http://schemas.openxmlformats.org/drawingml/2006/main">
              <a:ext uri="{FF2B5EF4-FFF2-40B4-BE49-F238E27FC236}">
                <a16:creationId xmlns:a16="http://schemas.microsoft.com/office/drawing/2014/main" id="{B7594838-9ED3-480C-9F29-73A4DEE34CD8}"/>
              </a:ext>
            </a:extLst>
          </p:cNvPr>
          <p:cNvSpPr>
            <a:spLocks xmlns:a="http://schemas.openxmlformats.org/drawingml/2006/main" noGrp="1"/>
          </p:cNvSpPr>
          <p:nvPr/>
        </p:nvSpPr>
        <p:spPr>
          <a:xfrm xmlns:a="http://schemas.openxmlformats.org/drawingml/2006/main">
            <a:off x="8543925" y="2924175"/>
            <a:ext cx="266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343"/>
                </a:solidFill>
                <a:latin typeface="Arial"/>
                <a:ea typeface="Arial"/>
                <a:cs typeface="Arial"/>
              </a:defRPr>
            </a:pPr>
            <a:r>
              <a:rPr sz="1950" b="0">
                <a:solidFill>
                  <a:srgbClr val="173343"/>
                </a:solidFill>
                <a:latin typeface="Arial"/>
                <a:ea typeface="Arial"/>
                <a:cs typeface="Arial"/>
              </a:rPr>
              <a:t>Pasilla nümunəsi</a:t>
            </a:r>
          </a:p>
        </p:txBody>
      </p:sp>
      <p:sp>
        <p:nvSpPr>
          <p:cNvPr id="5" name="reveal-3::shape-41">
            <a:extLst xmlns:a="http://schemas.openxmlformats.org/drawingml/2006/main">
              <a:ext uri="{FF2B5EF4-FFF2-40B4-BE49-F238E27FC236}">
                <a16:creationId xmlns:a16="http://schemas.microsoft.com/office/drawing/2014/main" id="{524D3BF3-4AAD-43E8-94D6-F8CEAD9DA32B}"/>
              </a:ext>
            </a:extLst>
          </p:cNvPr>
          <p:cNvSpPr>
            <a:spLocks xmlns:a="http://schemas.openxmlformats.org/drawingml/2006/main" noGrp="1"/>
          </p:cNvSpPr>
          <p:nvPr/>
        </p:nvSpPr>
        <p:spPr>
          <a:xfrm xmlns:a="http://schemas.openxmlformats.org/drawingml/2006/main">
            <a:off x="8543925" y="366712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3343"/>
                </a:solidFill>
                <a:latin typeface="Arial"/>
                <a:ea typeface="Arial"/>
                <a:cs typeface="Arial"/>
              </a:defRPr>
            </a:pPr>
            <a:r>
              <a:rPr sz="4650" b="1">
                <a:solidFill>
                  <a:srgbClr val="173343"/>
                </a:solidFill>
                <a:latin typeface="Arial"/>
                <a:ea typeface="Arial"/>
                <a:cs typeface="Arial"/>
              </a:rPr>
              <a:t>1 113</a:t>
            </a:r>
          </a:p>
        </p:txBody>
      </p:sp>
      <p:sp>
        <p:nvSpPr>
          <p:cNvPr id="6" name="reveal-3::shape-42">
            <a:extLst xmlns:a="http://schemas.openxmlformats.org/drawingml/2006/main">
              <a:ext uri="{FF2B5EF4-FFF2-40B4-BE49-F238E27FC236}">
                <a16:creationId xmlns:a16="http://schemas.microsoft.com/office/drawing/2014/main" id="{89FC9C33-B591-4ED0-BFA2-591C072ECF47}"/>
              </a:ext>
            </a:extLst>
          </p:cNvPr>
          <p:cNvSpPr>
            <a:spLocks xmlns:a="http://schemas.openxmlformats.org/drawingml/2006/main" noGrp="1"/>
          </p:cNvSpPr>
          <p:nvPr/>
        </p:nvSpPr>
        <p:spPr>
          <a:xfrm xmlns:a="http://schemas.openxmlformats.org/drawingml/2006/main">
            <a:off x="8543925" y="4581525"/>
            <a:ext cx="27051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FDR &lt; 0.05 olan gen</a:t>
            </a:r>
          </a:p>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9 921 gen test edilir</a:t>
            </a:r>
          </a:p>
        </p:txBody>
      </p:sp>
      <p:sp>
        <p:nvSpPr>
          <p:cNvPr id="7" name="reveal-6::shape-43">
            <a:extLst xmlns:a="http://schemas.openxmlformats.org/drawingml/2006/main">
              <a:ext uri="{FF2B5EF4-FFF2-40B4-BE49-F238E27FC236}">
                <a16:creationId xmlns:a16="http://schemas.microsoft.com/office/drawing/2014/main" id="{4D658854-465A-4C54-B412-4C2A1828E104}"/>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Dizayn: type + condition. PCA ayrı, diferensial ifadə modeli ayrı addımdır.</a:t>
            </a:r>
          </a:p>
        </p:txBody>
      </p:sp>
      <p:sp>
        <p:nvSpPr>
          <p:cNvPr id="8" name="reveal-0::shape-44">
            <a:extLst xmlns:a="http://schemas.openxmlformats.org/drawingml/2006/main">
              <a:ext uri="{FF2B5EF4-FFF2-40B4-BE49-F238E27FC236}">
                <a16:creationId xmlns:a16="http://schemas.microsoft.com/office/drawing/2014/main" id="{3ACDBD2B-D829-4A7C-B009-A7C8AB3B4523}"/>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06</a:t>
            </a:r>
          </a:p>
        </p:txBody>
      </p:sp>
    </p:spTree>
    <p:extLst>
      <p:ext uri="{BB962C8B-B14F-4D97-AF65-F5344CB8AC3E}">
        <p14:creationId xmlns:p14="http://schemas.microsoft.com/office/powerpoint/2010/main" val="2071760554"/>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9"/>
                                  </p:tgtEl>
                                  <p:attrNameLst>
                                    <p:attrName>style.visibility</p:attrName>
                                  </p:attrNameLst>
                                </p:cBhvr>
                                <p:to>
                                  <p:strVal val="visible"/>
                                </p:to>
                              </p:set>
                              <p:animEffect transition="in" filter="fade">
                                <p:cBhvr>
                                  <p:cTn id="6" dur="550" fill="hold"/>
                                  <p:tgtEl>
                                    <p:spTgt spid="9"/>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3"/>
                                  </p:tgtEl>
                                  <p:attrNameLst>
                                    <p:attrName>style.visibility</p:attrName>
                                  </p:attrNameLst>
                                </p:cBhvr>
                                <p:to>
                                  <p:strVal val="visible"/>
                                </p:to>
                              </p:set>
                              <p:animEffect transition="in" filter="fade">
                                <p:cBhvr>
                                  <p:cTn id="9" dur="550" fill="hold"/>
                                  <p:tgtEl>
                                    <p:spTgt spid="3"/>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4"/>
                                  </p:tgtEl>
                                  <p:attrNameLst>
                                    <p:attrName>style.visibility</p:attrName>
                                  </p:attrNameLst>
                                </p:cBhvr>
                                <p:to>
                                  <p:strVal val="visible"/>
                                </p:to>
                              </p:set>
                              <p:animEffect transition="in" filter="fade">
                                <p:cBhvr>
                                  <p:cTn id="12" dur="550" fill="hold"/>
                                  <p:tgtEl>
                                    <p:spTgt spid="4"/>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5"/>
                                  </p:tgtEl>
                                  <p:attrNameLst>
                                    <p:attrName>style.visibility</p:attrName>
                                  </p:attrNameLst>
                                </p:cBhvr>
                                <p:to>
                                  <p:strVal val="visible"/>
                                </p:to>
                              </p:set>
                              <p:animEffect transition="in" filter="fade">
                                <p:cBhvr>
                                  <p:cTn id="15" dur="550" fill="hold"/>
                                  <p:tgtEl>
                                    <p:spTgt spid="5"/>
                                  </p:tgtEl>
                                </p:cBhvr>
                              </p:animEffect>
                            </p:childTnList>
                          </p:cTn>
                        </p:par>
                        <p:par>
                          <p:cTn id="16" presetID="10" presetClass="entr" presetSubtype="0" fill="hold" grpId="0" nodeType="withEffect">
                            <p:stCondLst>
                              <p:cond delay="52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par>
                          <p:cTn id="19" presetID="10" presetClass="entr" presetSubtype="0" fill="hold" grpId="0" nodeType="withEffect">
                            <p:stCondLst>
                              <p:cond delay="1300"/>
                            </p:stCondLst>
                            <p:childTnList>
                              <p:set>
                                <p:cBhvr>
                                  <p:cTn id="20" dur="1" fill="hold">
                                    <p:stCondLst>
                                      <p:cond delay="0"/>
                                    </p:stCondLst>
                                  </p:cTn>
                                  <p:tgtEl>
                                    <p:spTgt spid="7"/>
                                  </p:tgtEl>
                                  <p:attrNameLst>
                                    <p:attrName>style.visibility</p:attrName>
                                  </p:attrNameLst>
                                </p:cBhvr>
                                <p:to>
                                  <p:strVal val="visible"/>
                                </p:to>
                              </p:set>
                              <p:animEffect transition="in" filter="fade">
                                <p:cBhvr>
                                  <p:cTn id="21" dur="550" fill="hold"/>
                                  <p:tgtEl>
                                    <p:spTgt spid="7"/>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7.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8" name="reveal-1::shape-45">
            <a:extLst xmlns:a="http://schemas.openxmlformats.org/drawingml/2006/main">
              <a:ext uri="{FF2B5EF4-FFF2-40B4-BE49-F238E27FC236}">
                <a16:creationId xmlns:a16="http://schemas.microsoft.com/office/drawing/2014/main" id="{E6CFF7B7-69FF-45D5-BC42-34DB42249AB5}"/>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WDBC təsnifatının qiymətləndirilməsi</a:t>
            </a:r>
          </a:p>
        </p:txBody>
      </p:sp>
      <p:sp>
        <p:nvSpPr>
          <p:cNvPr id="2" name="reveal-2::shape-46">
            <a:extLst xmlns:a="http://schemas.openxmlformats.org/drawingml/2006/main">
              <a:ext uri="{FF2B5EF4-FFF2-40B4-BE49-F238E27FC236}">
                <a16:creationId xmlns:a16="http://schemas.microsoft.com/office/drawing/2014/main" id="{AD62FE7C-2597-4C76-8A7C-ABF44BC33E18}"/>
              </a:ext>
            </a:extLst>
          </p:cNvPr>
          <p:cNvSpPr>
            <a:spLocks xmlns:a="http://schemas.openxmlformats.org/drawingml/2006/main" noGrp="1"/>
          </p:cNvSpPr>
          <p:nvPr/>
        </p:nvSpPr>
        <p:spPr>
          <a:xfrm xmlns:a="http://schemas.openxmlformats.org/drawingml/2006/main">
            <a:off x="609600" y="1695450"/>
            <a:ext cx="419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75" b="1">
                <a:solidFill>
                  <a:srgbClr val="087F83"/>
                </a:solidFill>
                <a:latin typeface="Arial"/>
                <a:ea typeface="Arial"/>
                <a:cs typeface="Arial"/>
              </a:defRPr>
            </a:pPr>
            <a:r>
              <a:rPr sz="7275" b="1">
                <a:solidFill>
                  <a:srgbClr val="087F83"/>
                </a:solidFill>
                <a:latin typeface="Arial"/>
                <a:ea typeface="Arial"/>
                <a:cs typeface="Arial"/>
              </a:rPr>
              <a:t>0.996</a:t>
            </a:r>
          </a:p>
        </p:txBody>
      </p:sp>
      <p:sp>
        <p:nvSpPr>
          <p:cNvPr id="3" name="reveal-2::shape-47">
            <a:extLst xmlns:a="http://schemas.openxmlformats.org/drawingml/2006/main">
              <a:ext uri="{FF2B5EF4-FFF2-40B4-BE49-F238E27FC236}">
                <a16:creationId xmlns:a16="http://schemas.microsoft.com/office/drawing/2014/main" id="{3C4A7EAA-672C-42D1-BAFD-5D830F7B4D62}"/>
              </a:ext>
            </a:extLst>
          </p:cNvPr>
          <p:cNvSpPr>
            <a:spLocks xmlns:a="http://schemas.openxmlformats.org/drawingml/2006/main" noGrp="1"/>
          </p:cNvSpPr>
          <p:nvPr/>
        </p:nvSpPr>
        <p:spPr>
          <a:xfrm xmlns:a="http://schemas.openxmlformats.org/drawingml/2006/main">
            <a:off x="609600" y="3000375"/>
            <a:ext cx="405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343"/>
                </a:solidFill>
                <a:latin typeface="Arial"/>
                <a:ea typeface="Arial"/>
                <a:cs typeface="Arial"/>
              </a:defRPr>
            </a:pPr>
            <a:r>
              <a:rPr sz="2550" b="1">
                <a:solidFill>
                  <a:srgbClr val="173343"/>
                </a:solidFill>
                <a:latin typeface="Arial"/>
                <a:ea typeface="Arial"/>
                <a:cs typeface="Arial"/>
              </a:rPr>
              <a:t>test AUROC</a:t>
            </a:r>
          </a:p>
        </p:txBody>
      </p:sp>
      <p:sp>
        <p:nvSpPr>
          <p:cNvPr id="4" name="reveal-3::shape-48">
            <a:extLst xmlns:a="http://schemas.openxmlformats.org/drawingml/2006/main">
              <a:ext uri="{FF2B5EF4-FFF2-40B4-BE49-F238E27FC236}">
                <a16:creationId xmlns:a16="http://schemas.microsoft.com/office/drawing/2014/main" id="{83734D08-E7F1-49A3-8ADD-DE443B9A8162}"/>
              </a:ext>
            </a:extLst>
          </p:cNvPr>
          <p:cNvSpPr>
            <a:spLocks xmlns:a="http://schemas.openxmlformats.org/drawingml/2006/main" noGrp="1"/>
          </p:cNvSpPr>
          <p:nvPr/>
        </p:nvSpPr>
        <p:spPr>
          <a:xfrm xmlns:a="http://schemas.openxmlformats.org/drawingml/2006/main">
            <a:off x="609600" y="3924300"/>
            <a:ext cx="3762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717F"/>
                </a:solidFill>
                <a:latin typeface="Arial"/>
                <a:ea typeface="Arial"/>
                <a:cs typeface="Arial"/>
              </a:defRPr>
            </a:pPr>
            <a:r>
              <a:rPr sz="2175" b="0">
                <a:solidFill>
                  <a:srgbClr val="55717F"/>
                </a:solidFill>
                <a:latin typeface="Arial"/>
                <a:ea typeface="Arial"/>
                <a:cs typeface="Arial"/>
              </a:rPr>
              <a:t>426 training</a:t>
            </a:r>
          </a:p>
          <a:p xmlns:a="http://schemas.openxmlformats.org/drawingml/2006/main">
            <a:pPr>
              <a:defRPr sz="2175" b="0">
                <a:solidFill>
                  <a:srgbClr val="55717F"/>
                </a:solidFill>
                <a:latin typeface="Arial"/>
                <a:ea typeface="Arial"/>
                <a:cs typeface="Arial"/>
              </a:defRPr>
            </a:pPr>
            <a:r>
              <a:rPr sz="2175" b="0">
                <a:solidFill>
                  <a:srgbClr val="55717F"/>
                </a:solidFill>
                <a:latin typeface="Arial"/>
                <a:ea typeface="Arial"/>
                <a:cs typeface="Arial"/>
              </a:rPr>
              <a:t>143 test nümunəsi</a:t>
            </a:r>
          </a:p>
          <a:p xmlns:a="http://schemas.openxmlformats.org/drawingml/2006/main">
            <a:pPr>
              <a:defRPr sz="2175" b="0">
                <a:solidFill>
                  <a:srgbClr val="55717F"/>
                </a:solidFill>
                <a:latin typeface="Arial"/>
                <a:ea typeface="Arial"/>
                <a:cs typeface="Arial"/>
              </a:defRPr>
            </a:pPr>
            <a:r>
              <a:rPr sz="2175" b="0">
                <a:solidFill>
                  <a:srgbClr val="55717F"/>
                </a:solidFill>
                <a:latin typeface="Arial"/>
                <a:ea typeface="Arial"/>
                <a:cs typeface="Arial"/>
              </a:rPr>
              <a:t>30 morfoloji əlamət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6cc1cb8421a42c4"/>
          <a:stretch xmlns:a="http://schemas.openxmlformats.org/drawingml/2006/main"/>
        </p:blipFill>
        <p:spPr>
          <a:xfrm xmlns:a="http://schemas.openxmlformats.org/drawingml/2006/main">
            <a:off x="5441950" y="1552575"/>
            <a:ext cx="5689600" cy="4267200"/>
          </a:xfrm>
          <a:prstGeom xmlns:a="http://schemas.openxmlformats.org/drawingml/2006/main" prst="rect">
            <a:avLst/>
          </a:prstGeom>
        </p:spPr>
      </p:pic>
      <p:sp>
        <p:nvSpPr>
          <p:cNvPr id="6" name="reveal-6::shape-49">
            <a:extLst xmlns:a="http://schemas.openxmlformats.org/drawingml/2006/main">
              <a:ext uri="{FF2B5EF4-FFF2-40B4-BE49-F238E27FC236}">
                <a16:creationId xmlns:a16="http://schemas.microsoft.com/office/drawing/2014/main" id="{D68CA3D4-B294-48E7-ACAF-BB93FBA7963C}"/>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Nüvə morfologiyası benchmark-ı. Klinik tətbiq üçün ayrıca yoxlama tələb olunur.</a:t>
            </a:r>
          </a:p>
        </p:txBody>
      </p:sp>
      <p:sp>
        <p:nvSpPr>
          <p:cNvPr id="7" name="reveal-0::shape-50">
            <a:extLst xmlns:a="http://schemas.openxmlformats.org/drawingml/2006/main">
              <a:ext uri="{FF2B5EF4-FFF2-40B4-BE49-F238E27FC236}">
                <a16:creationId xmlns:a16="http://schemas.microsoft.com/office/drawing/2014/main" id="{90404703-23D6-473B-9DBA-33901B0A5010}"/>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07</a:t>
            </a:r>
          </a:p>
        </p:txBody>
      </p:sp>
    </p:spTree>
    <p:extLst>
      <p:ext uri="{BB962C8B-B14F-4D97-AF65-F5344CB8AC3E}">
        <p14:creationId xmlns:p14="http://schemas.microsoft.com/office/powerpoint/2010/main" val="1761796804"/>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8"/>
                                  </p:tgtEl>
                                  <p:attrNameLst>
                                    <p:attrName>style.visibility</p:attrName>
                                  </p:attrNameLst>
                                </p:cBhvr>
                                <p:to>
                                  <p:strVal val="visible"/>
                                </p:to>
                              </p:set>
                              <p:animEffect transition="in" filter="fade">
                                <p:cBhvr>
                                  <p:cTn id="6" dur="550" fill="hold"/>
                                  <p:tgtEl>
                                    <p:spTgt spid="8"/>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130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8.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9" name="reveal-1::shape-51">
            <a:extLst xmlns:a="http://schemas.openxmlformats.org/drawingml/2006/main">
              <a:ext uri="{FF2B5EF4-FFF2-40B4-BE49-F238E27FC236}">
                <a16:creationId xmlns:a16="http://schemas.microsoft.com/office/drawing/2014/main" id="{1F76D192-F2FA-41E2-A0AB-1BD03B287CE6}"/>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Khan: 4 sinif və ayrılmış test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fdc0d17eee348eb"/>
          <a:stretch xmlns:a="http://schemas.openxmlformats.org/drawingml/2006/main"/>
        </p:blipFill>
        <p:spPr>
          <a:xfrm xmlns:a="http://schemas.openxmlformats.org/drawingml/2006/main">
            <a:off x="3933825" y="1552575"/>
            <a:ext cx="5086350" cy="4238625"/>
          </a:xfrm>
          <a:prstGeom xmlns:a="http://schemas.openxmlformats.org/drawingml/2006/main" prst="rect">
            <a:avLst/>
          </a:prstGeom>
        </p:spPr>
      </p:pic>
      <p:sp>
        <p:nvSpPr>
          <p:cNvPr id="3" name="reveal-2::shape-52">
            <a:extLst xmlns:a="http://schemas.openxmlformats.org/drawingml/2006/main">
              <a:ext uri="{FF2B5EF4-FFF2-40B4-BE49-F238E27FC236}">
                <a16:creationId xmlns:a16="http://schemas.microsoft.com/office/drawing/2014/main" id="{66E69E5D-3F69-42BF-A2AA-97EB3AAAE64F}"/>
              </a:ext>
            </a:extLst>
          </p:cNvPr>
          <p:cNvSpPr>
            <a:spLocks xmlns:a="http://schemas.openxmlformats.org/drawingml/2006/main" noGrp="1"/>
          </p:cNvSpPr>
          <p:nvPr/>
        </p:nvSpPr>
        <p:spPr>
          <a:xfrm xmlns:a="http://schemas.openxmlformats.org/drawingml/2006/main">
            <a:off x="571500" y="1885950"/>
            <a:ext cx="26193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087F83"/>
                </a:solidFill>
                <a:latin typeface="Arial"/>
                <a:ea typeface="Arial"/>
                <a:cs typeface="Arial"/>
              </a:defRPr>
            </a:pPr>
            <a:r>
              <a:rPr sz="6150" b="1">
                <a:solidFill>
                  <a:srgbClr val="087F83"/>
                </a:solidFill>
                <a:latin typeface="Arial"/>
                <a:ea typeface="Arial"/>
                <a:cs typeface="Arial"/>
              </a:rPr>
              <a:t>63</a:t>
            </a:r>
          </a:p>
        </p:txBody>
      </p:sp>
      <p:sp>
        <p:nvSpPr>
          <p:cNvPr id="4" name="reveal-2::shape-53">
            <a:extLst xmlns:a="http://schemas.openxmlformats.org/drawingml/2006/main">
              <a:ext uri="{FF2B5EF4-FFF2-40B4-BE49-F238E27FC236}">
                <a16:creationId xmlns:a16="http://schemas.microsoft.com/office/drawing/2014/main" id="{014E02D1-EF64-46F0-A928-1220E9A81E17}"/>
              </a:ext>
            </a:extLst>
          </p:cNvPr>
          <p:cNvSpPr>
            <a:spLocks xmlns:a="http://schemas.openxmlformats.org/drawingml/2006/main" noGrp="1"/>
          </p:cNvSpPr>
          <p:nvPr/>
        </p:nvSpPr>
        <p:spPr>
          <a:xfrm xmlns:a="http://schemas.openxmlformats.org/drawingml/2006/main">
            <a:off x="571500" y="3171825"/>
            <a:ext cx="2428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343"/>
                </a:solidFill>
                <a:latin typeface="Arial"/>
                <a:ea typeface="Arial"/>
                <a:cs typeface="Arial"/>
              </a:defRPr>
            </a:pPr>
            <a:r>
              <a:rPr sz="2175" b="0">
                <a:solidFill>
                  <a:srgbClr val="173343"/>
                </a:solidFill>
                <a:latin typeface="Arial"/>
                <a:ea typeface="Arial"/>
                <a:cs typeface="Arial"/>
              </a:rPr>
              <a:t>training</a:t>
            </a:r>
          </a:p>
          <a:p xmlns:a="http://schemas.openxmlformats.org/drawingml/2006/main">
            <a:pPr>
              <a:defRPr sz="2175" b="0">
                <a:solidFill>
                  <a:srgbClr val="173343"/>
                </a:solidFill>
                <a:latin typeface="Arial"/>
                <a:ea typeface="Arial"/>
                <a:cs typeface="Arial"/>
              </a:defRPr>
            </a:pPr>
            <a:r>
              <a:rPr sz="2175" b="0">
                <a:solidFill>
                  <a:srgbClr val="173343"/>
                </a:solidFill>
                <a:latin typeface="Arial"/>
                <a:ea typeface="Arial"/>
                <a:cs typeface="Arial"/>
              </a:rPr>
              <a:t>nümunəsi</a:t>
            </a:r>
          </a:p>
        </p:txBody>
      </p:sp>
      <p:sp>
        <p:nvSpPr>
          <p:cNvPr id="5" name="reveal-3::shape-54">
            <a:extLst xmlns:a="http://schemas.openxmlformats.org/drawingml/2006/main">
              <a:ext uri="{FF2B5EF4-FFF2-40B4-BE49-F238E27FC236}">
                <a16:creationId xmlns:a16="http://schemas.microsoft.com/office/drawing/2014/main" id="{16EA42EA-7C84-4C41-8731-A15CF913D7A0}"/>
              </a:ext>
            </a:extLst>
          </p:cNvPr>
          <p:cNvSpPr>
            <a:spLocks xmlns:a="http://schemas.openxmlformats.org/drawingml/2006/main" noGrp="1"/>
          </p:cNvSpPr>
          <p:nvPr/>
        </p:nvSpPr>
        <p:spPr>
          <a:xfrm xmlns:a="http://schemas.openxmlformats.org/drawingml/2006/main">
            <a:off x="9420225" y="1933575"/>
            <a:ext cx="22764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087F83"/>
                </a:solidFill>
                <a:latin typeface="Arial"/>
                <a:ea typeface="Arial"/>
                <a:cs typeface="Arial"/>
              </a:defRPr>
            </a:pPr>
            <a:r>
              <a:rPr sz="4800" b="1">
                <a:solidFill>
                  <a:srgbClr val="087F83"/>
                </a:solidFill>
                <a:latin typeface="Arial"/>
                <a:ea typeface="Arial"/>
                <a:cs typeface="Arial"/>
              </a:rPr>
              <a:t>19/20</a:t>
            </a:r>
          </a:p>
        </p:txBody>
      </p:sp>
      <p:sp>
        <p:nvSpPr>
          <p:cNvPr id="6" name="reveal-3::shape-55">
            <a:extLst xmlns:a="http://schemas.openxmlformats.org/drawingml/2006/main">
              <a:ext uri="{FF2B5EF4-FFF2-40B4-BE49-F238E27FC236}">
                <a16:creationId xmlns:a16="http://schemas.microsoft.com/office/drawing/2014/main" id="{0AEFC845-A17B-47D1-9EA8-2A8A5E4B28E7}"/>
              </a:ext>
            </a:extLst>
          </p:cNvPr>
          <p:cNvSpPr>
            <a:spLocks xmlns:a="http://schemas.openxmlformats.org/drawingml/2006/main" noGrp="1"/>
          </p:cNvSpPr>
          <p:nvPr/>
        </p:nvSpPr>
        <p:spPr>
          <a:xfrm xmlns:a="http://schemas.openxmlformats.org/drawingml/2006/main">
            <a:off x="9420225" y="3171825"/>
            <a:ext cx="22193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343"/>
                </a:solidFill>
                <a:latin typeface="Arial"/>
                <a:ea typeface="Arial"/>
                <a:cs typeface="Arial"/>
              </a:defRPr>
            </a:pPr>
            <a:r>
              <a:rPr sz="2025" b="0">
                <a:solidFill>
                  <a:srgbClr val="173343"/>
                </a:solidFill>
                <a:latin typeface="Arial"/>
                <a:ea typeface="Arial"/>
                <a:cs typeface="Arial"/>
              </a:rPr>
              <a:t>testdə düzgün</a:t>
            </a:r>
          </a:p>
          <a:p xmlns:a="http://schemas.openxmlformats.org/drawingml/2006/main">
            <a:pPr>
              <a:defRPr sz="2025" b="0">
                <a:solidFill>
                  <a:srgbClr val="173343"/>
                </a:solidFill>
                <a:latin typeface="Arial"/>
                <a:ea typeface="Arial"/>
                <a:cs typeface="Arial"/>
              </a:defRPr>
            </a:pPr>
            <a:r>
              <a:rPr sz="2025" b="0">
                <a:solidFill>
                  <a:srgbClr val="173343"/>
                </a:solidFill>
                <a:latin typeface="Arial"/>
                <a:ea typeface="Arial"/>
                <a:cs typeface="Arial"/>
              </a:rPr>
              <a:t>təsnifat</a:t>
            </a:r>
          </a:p>
        </p:txBody>
      </p:sp>
      <p:sp>
        <p:nvSpPr>
          <p:cNvPr id="7" name="reveal-6::shape-56">
            <a:extLst xmlns:a="http://schemas.openxmlformats.org/drawingml/2006/main">
              <a:ext uri="{FF2B5EF4-FFF2-40B4-BE49-F238E27FC236}">
                <a16:creationId xmlns:a16="http://schemas.microsoft.com/office/drawing/2014/main" id="{32F3EE60-CD14-4FE2-BBD1-84E4DB94933E}"/>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2 308 işlənmiş probe sütunu. Bu nəticə təsdiqlənmiş biomarker siyahısı deyil.</a:t>
            </a:r>
          </a:p>
        </p:txBody>
      </p:sp>
      <p:sp>
        <p:nvSpPr>
          <p:cNvPr id="8" name="reveal-0::shape-57">
            <a:extLst xmlns:a="http://schemas.openxmlformats.org/drawingml/2006/main">
              <a:ext uri="{FF2B5EF4-FFF2-40B4-BE49-F238E27FC236}">
                <a16:creationId xmlns:a16="http://schemas.microsoft.com/office/drawing/2014/main" id="{5D9D66C2-002B-4A77-AC39-4F83BE5B4770}"/>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08</a:t>
            </a:r>
          </a:p>
        </p:txBody>
      </p:sp>
    </p:spTree>
    <p:extLst>
      <p:ext uri="{BB962C8B-B14F-4D97-AF65-F5344CB8AC3E}">
        <p14:creationId xmlns:p14="http://schemas.microsoft.com/office/powerpoint/2010/main" val="505555224"/>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9"/>
                                  </p:tgtEl>
                                  <p:attrNameLst>
                                    <p:attrName>style.visibility</p:attrName>
                                  </p:attrNameLst>
                                </p:cBhvr>
                                <p:to>
                                  <p:strVal val="visible"/>
                                </p:to>
                              </p:set>
                              <p:animEffect transition="in" filter="fade">
                                <p:cBhvr>
                                  <p:cTn id="6" dur="550" fill="hold"/>
                                  <p:tgtEl>
                                    <p:spTgt spid="9"/>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3"/>
                                  </p:tgtEl>
                                  <p:attrNameLst>
                                    <p:attrName>style.visibility</p:attrName>
                                  </p:attrNameLst>
                                </p:cBhvr>
                                <p:to>
                                  <p:strVal val="visible"/>
                                </p:to>
                              </p:set>
                              <p:animEffect transition="in" filter="fade">
                                <p:cBhvr>
                                  <p:cTn id="9" dur="550" fill="hold"/>
                                  <p:tgtEl>
                                    <p:spTgt spid="3"/>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4"/>
                                  </p:tgtEl>
                                  <p:attrNameLst>
                                    <p:attrName>style.visibility</p:attrName>
                                  </p:attrNameLst>
                                </p:cBhvr>
                                <p:to>
                                  <p:strVal val="visible"/>
                                </p:to>
                              </p:set>
                              <p:animEffect transition="in" filter="fade">
                                <p:cBhvr>
                                  <p:cTn id="12" dur="550" fill="hold"/>
                                  <p:tgtEl>
                                    <p:spTgt spid="4"/>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5"/>
                                  </p:tgtEl>
                                  <p:attrNameLst>
                                    <p:attrName>style.visibility</p:attrName>
                                  </p:attrNameLst>
                                </p:cBhvr>
                                <p:to>
                                  <p:strVal val="visible"/>
                                </p:to>
                              </p:set>
                              <p:animEffect transition="in" filter="fade">
                                <p:cBhvr>
                                  <p:cTn id="15" dur="550" fill="hold"/>
                                  <p:tgtEl>
                                    <p:spTgt spid="5"/>
                                  </p:tgtEl>
                                </p:cBhvr>
                              </p:animEffect>
                            </p:childTnList>
                          </p:cTn>
                        </p:par>
                        <p:par>
                          <p:cTn id="16" presetID="10" presetClass="entr" presetSubtype="0" fill="hold" grpId="0" nodeType="withEffect">
                            <p:stCondLst>
                              <p:cond delay="52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par>
                          <p:cTn id="19" presetID="10" presetClass="entr" presetSubtype="0" fill="hold" grpId="0" nodeType="withEffect">
                            <p:stCondLst>
                              <p:cond delay="1300"/>
                            </p:stCondLst>
                            <p:childTnList>
                              <p:set>
                                <p:cBhvr>
                                  <p:cTn id="20" dur="1" fill="hold">
                                    <p:stCondLst>
                                      <p:cond delay="0"/>
                                    </p:stCondLst>
                                  </p:cTn>
                                  <p:tgtEl>
                                    <p:spTgt spid="7"/>
                                  </p:tgtEl>
                                  <p:attrNameLst>
                                    <p:attrName>style.visibility</p:attrName>
                                  </p:attrNameLst>
                                </p:cBhvr>
                                <p:to>
                                  <p:strVal val="visible"/>
                                </p:to>
                              </p:set>
                              <p:animEffect transition="in" filter="fade">
                                <p:cBhvr>
                                  <p:cTn id="21" dur="550" fill="hold"/>
                                  <p:tgtEl>
                                    <p:spTgt spid="7"/>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9.xml><?xml version="1.0" encoding="utf-8"?>
<p:sld xmlns:p="http://schemas.openxmlformats.org/presentationml/2006/main">
  <p:cSld>
    <p:bg>
      <p:bgPr>
        <a:solidFill xmlns:a="http://schemas.openxmlformats.org/drawingml/2006/main">
          <a:srgbClr val="092333"/>
        </a:solidFill>
      </p:bgPr>
    </p:bg>
    <p:spTree>
      <p:nvGrpSpPr>
        <p:cNvPr id="1" name=""/>
        <p:cNvGrpSpPr/>
        <p:nvPr/>
      </p:nvGrpSpPr>
      <p:grpSpPr>
        <a:xfrm xmlns:a="http://schemas.openxmlformats.org/drawingml/2006/main"/>
      </p:grpSpPr>
      <p:sp>
        <p:nvSpPr>
          <p:cNvPr id="9" name="reveal-1::shape-58">
            <a:extLst xmlns:a="http://schemas.openxmlformats.org/drawingml/2006/main">
              <a:ext uri="{FF2B5EF4-FFF2-40B4-BE49-F238E27FC236}">
                <a16:creationId xmlns:a16="http://schemas.microsoft.com/office/drawing/2014/main" id="{5159588C-4CAF-4AD1-8BF3-643207894F69}"/>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Model siqnalı təsadüfdən fərqlənirmi?</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b4d48ab67ab47d5"/>
          <a:stretch xmlns:a="http://schemas.openxmlformats.org/drawingml/2006/main"/>
        </p:blipFill>
        <p:spPr>
          <a:xfrm xmlns:a="http://schemas.openxmlformats.org/drawingml/2006/main">
            <a:off x="847725" y="1914525"/>
            <a:ext cx="7334250" cy="3667125"/>
          </a:xfrm>
          <a:prstGeom xmlns:a="http://schemas.openxmlformats.org/drawingml/2006/main" prst="rect">
            <a:avLst/>
          </a:prstGeom>
        </p:spPr>
      </p:pic>
      <p:sp>
        <p:nvSpPr>
          <p:cNvPr id="3" name="reveal-3::shape-59">
            <a:extLst xmlns:a="http://schemas.openxmlformats.org/drawingml/2006/main">
              <a:ext uri="{FF2B5EF4-FFF2-40B4-BE49-F238E27FC236}">
                <a16:creationId xmlns:a16="http://schemas.microsoft.com/office/drawing/2014/main" id="{0270257D-67DA-4008-901E-67D7357B91F2}"/>
              </a:ext>
            </a:extLst>
          </p:cNvPr>
          <p:cNvSpPr>
            <a:spLocks xmlns:a="http://schemas.openxmlformats.org/drawingml/2006/main" noGrp="1"/>
          </p:cNvSpPr>
          <p:nvPr/>
        </p:nvSpPr>
        <p:spPr>
          <a:xfrm xmlns:a="http://schemas.openxmlformats.org/drawingml/2006/main">
            <a:off x="8963025" y="1790700"/>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79DEC5"/>
                </a:solidFill>
                <a:latin typeface="Arial"/>
                <a:ea typeface="Arial"/>
                <a:cs typeface="Arial"/>
              </a:defRPr>
            </a:pPr>
            <a:r>
              <a:rPr sz="5700" b="1">
                <a:solidFill>
                  <a:srgbClr val="79DEC5"/>
                </a:solidFill>
                <a:latin typeface="Arial"/>
                <a:ea typeface="Arial"/>
                <a:cs typeface="Arial"/>
              </a:rPr>
              <a:t>0.99</a:t>
            </a:r>
          </a:p>
        </p:txBody>
      </p:sp>
      <p:sp>
        <p:nvSpPr>
          <p:cNvPr id="4" name="reveal-3::shape-60">
            <a:extLst xmlns:a="http://schemas.openxmlformats.org/drawingml/2006/main">
              <a:ext uri="{FF2B5EF4-FFF2-40B4-BE49-F238E27FC236}">
                <a16:creationId xmlns:a16="http://schemas.microsoft.com/office/drawing/2014/main" id="{B9E3FAC3-CCDD-4607-A672-8AA07979DB65}"/>
              </a:ext>
            </a:extLst>
          </p:cNvPr>
          <p:cNvSpPr>
            <a:spLocks xmlns:a="http://schemas.openxmlformats.org/drawingml/2006/main" noGrp="1"/>
          </p:cNvSpPr>
          <p:nvPr/>
        </p:nvSpPr>
        <p:spPr>
          <a:xfrm xmlns:a="http://schemas.openxmlformats.org/drawingml/2006/main">
            <a:off x="8963025" y="2905125"/>
            <a:ext cx="257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nested balanced</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accuracy</a:t>
            </a:r>
          </a:p>
        </p:txBody>
      </p:sp>
      <p:sp>
        <p:nvSpPr>
          <p:cNvPr id="5" name="reveal-4::shape-61">
            <a:extLst xmlns:a="http://schemas.openxmlformats.org/drawingml/2006/main">
              <a:ext uri="{FF2B5EF4-FFF2-40B4-BE49-F238E27FC236}">
                <a16:creationId xmlns:a16="http://schemas.microsoft.com/office/drawing/2014/main" id="{1B59B223-D10B-4C18-A80D-391A4EC79E7D}"/>
              </a:ext>
            </a:extLst>
          </p:cNvPr>
          <p:cNvSpPr>
            <a:spLocks xmlns:a="http://schemas.openxmlformats.org/drawingml/2006/main" noGrp="1"/>
          </p:cNvSpPr>
          <p:nvPr/>
        </p:nvSpPr>
        <p:spPr>
          <a:xfrm xmlns:a="http://schemas.openxmlformats.org/drawingml/2006/main">
            <a:off x="8963025" y="4019550"/>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99</a:t>
            </a:r>
          </a:p>
        </p:txBody>
      </p:sp>
      <p:sp>
        <p:nvSpPr>
          <p:cNvPr id="6" name="reveal-4::shape-62">
            <a:extLst xmlns:a="http://schemas.openxmlformats.org/drawingml/2006/main">
              <a:ext uri="{FF2B5EF4-FFF2-40B4-BE49-F238E27FC236}">
                <a16:creationId xmlns:a16="http://schemas.microsoft.com/office/drawing/2014/main" id="{EA830902-9E2A-4BBB-A9BB-E8BE6FAAFA51}"/>
              </a:ext>
            </a:extLst>
          </p:cNvPr>
          <p:cNvSpPr>
            <a:spLocks xmlns:a="http://schemas.openxmlformats.org/drawingml/2006/main" noGrp="1"/>
          </p:cNvSpPr>
          <p:nvPr/>
        </p:nvSpPr>
        <p:spPr>
          <a:xfrm xmlns:a="http://schemas.openxmlformats.org/drawingml/2006/main">
            <a:off x="8963025" y="4933950"/>
            <a:ext cx="2571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79DEC5"/>
                </a:solidFill>
                <a:latin typeface="Arial"/>
                <a:ea typeface="Arial"/>
                <a:cs typeface="Arial"/>
              </a:defRPr>
            </a:pPr>
            <a:r>
              <a:rPr sz="1875" b="0">
                <a:solidFill>
                  <a:srgbClr val="79DEC5"/>
                </a:solidFill>
                <a:latin typeface="Arial"/>
                <a:ea typeface="Arial"/>
                <a:cs typeface="Arial"/>
              </a:rPr>
              <a:t>etiket qarışdırılması</a:t>
            </a:r>
          </a:p>
          <a:p xmlns:a="http://schemas.openxmlformats.org/drawingml/2006/main">
            <a:pPr>
              <a:defRPr sz="1875" b="0">
                <a:solidFill>
                  <a:srgbClr val="79DEC5"/>
                </a:solidFill>
                <a:latin typeface="Arial"/>
                <a:ea typeface="Arial"/>
                <a:cs typeface="Arial"/>
              </a:defRPr>
            </a:pPr>
            <a:r>
              <a:rPr sz="1875" b="0">
                <a:solidFill>
                  <a:srgbClr val="79DEC5"/>
                </a:solidFill>
                <a:latin typeface="Arial"/>
                <a:ea typeface="Arial"/>
                <a:cs typeface="Arial"/>
              </a:rPr>
              <a:t>p = 0.01</a:t>
            </a:r>
          </a:p>
        </p:txBody>
      </p:sp>
      <p:sp>
        <p:nvSpPr>
          <p:cNvPr id="7" name="reveal-6::shape-63">
            <a:extLst xmlns:a="http://schemas.openxmlformats.org/drawingml/2006/main">
              <a:ext uri="{FF2B5EF4-FFF2-40B4-BE49-F238E27FC236}">
                <a16:creationId xmlns:a16="http://schemas.microsoft.com/office/drawing/2014/main" id="{1B9C00A4-6593-47A0-B379-BE452665DBD5}"/>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1D2D7"/>
                </a:solidFill>
                <a:latin typeface="Arial"/>
                <a:ea typeface="Arial"/>
                <a:cs typeface="Arial"/>
              </a:defRPr>
            </a:pPr>
            <a:r>
              <a:rPr sz="1575" b="0">
                <a:solidFill>
                  <a:srgbClr val="B1D2D7"/>
                </a:solidFill>
                <a:latin typeface="Arial"/>
                <a:ea typeface="Arial"/>
                <a:cs typeface="Arial"/>
              </a:rPr>
              <a:t>Yalnız 63 training nümunəsi. Test faylları açılmayıb. Klinik validasiya deyil.</a:t>
            </a:r>
          </a:p>
        </p:txBody>
      </p:sp>
      <p:sp>
        <p:nvSpPr>
          <p:cNvPr id="8" name="reveal-0::shape-64">
            <a:extLst xmlns:a="http://schemas.openxmlformats.org/drawingml/2006/main">
              <a:ext uri="{FF2B5EF4-FFF2-40B4-BE49-F238E27FC236}">
                <a16:creationId xmlns:a16="http://schemas.microsoft.com/office/drawing/2014/main" id="{38A4F0F2-CF58-419F-9E5B-A9B989D45B07}"/>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2B2BB"/>
                </a:solidFill>
                <a:latin typeface="Arial"/>
                <a:ea typeface="Arial"/>
                <a:cs typeface="Arial"/>
              </a:defRPr>
            </a:pPr>
            <a:r>
              <a:rPr sz="1050" b="0">
                <a:solidFill>
                  <a:srgbClr val="92B2BB"/>
                </a:solidFill>
                <a:latin typeface="Arial"/>
                <a:ea typeface="Arial"/>
                <a:cs typeface="Arial"/>
              </a:rPr>
              <a:t>09</a:t>
            </a:r>
          </a:p>
        </p:txBody>
      </p:sp>
    </p:spTree>
    <p:extLst>
      <p:ext uri="{BB962C8B-B14F-4D97-AF65-F5344CB8AC3E}">
        <p14:creationId xmlns:p14="http://schemas.microsoft.com/office/powerpoint/2010/main" val="1576492884"/>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9"/>
                                  </p:tgtEl>
                                  <p:attrNameLst>
                                    <p:attrName>style.visibility</p:attrName>
                                  </p:attrNameLst>
                                </p:cBhvr>
                                <p:to>
                                  <p:strVal val="visible"/>
                                </p:to>
                              </p:set>
                              <p:animEffect transition="in" filter="fade">
                                <p:cBhvr>
                                  <p:cTn id="6" dur="550" fill="hold"/>
                                  <p:tgtEl>
                                    <p:spTgt spid="9"/>
                                  </p:tgtEl>
                                </p:cBhvr>
                              </p:animEffect>
                            </p:childTnList>
                          </p:cTn>
                        </p:par>
                        <p:par>
                          <p:cTn id="7" presetID="10" presetClass="entr" presetSubtype="0" fill="hold" grpId="0" nodeType="withEffect">
                            <p:stCondLst>
                              <p:cond delay="520"/>
                            </p:stCondLst>
                            <p:childTnList>
                              <p:set>
                                <p:cBhvr>
                                  <p:cTn id="8" dur="1" fill="hold">
                                    <p:stCondLst>
                                      <p:cond delay="0"/>
                                    </p:stCondLst>
                                  </p:cTn>
                                  <p:tgtEl>
                                    <p:spTgt spid="3"/>
                                  </p:tgtEl>
                                  <p:attrNameLst>
                                    <p:attrName>style.visibility</p:attrName>
                                  </p:attrNameLst>
                                </p:cBhvr>
                                <p:to>
                                  <p:strVal val="visible"/>
                                </p:to>
                              </p:set>
                              <p:animEffect transition="in" filter="fade">
                                <p:cBhvr>
                                  <p:cTn id="9" dur="550" fill="hold"/>
                                  <p:tgtEl>
                                    <p:spTgt spid="3"/>
                                  </p:tgtEl>
                                </p:cBhvr>
                              </p:animEffect>
                            </p:childTnList>
                          </p:cTn>
                        </p:par>
                        <p:par>
                          <p:cTn id="10" presetID="10" presetClass="entr" presetSubtype="0" fill="hold" grpId="0" nodeType="withEffect">
                            <p:stCondLst>
                              <p:cond delay="520"/>
                            </p:stCondLst>
                            <p:childTnList>
                              <p:set>
                                <p:cBhvr>
                                  <p:cTn id="11" dur="1" fill="hold">
                                    <p:stCondLst>
                                      <p:cond delay="0"/>
                                    </p:stCondLst>
                                  </p:cTn>
                                  <p:tgtEl>
                                    <p:spTgt spid="4"/>
                                  </p:tgtEl>
                                  <p:attrNameLst>
                                    <p:attrName>style.visibility</p:attrName>
                                  </p:attrNameLst>
                                </p:cBhvr>
                                <p:to>
                                  <p:strVal val="visible"/>
                                </p:to>
                              </p:set>
                              <p:animEffect transition="in" filter="fade">
                                <p:cBhvr>
                                  <p:cTn id="12" dur="550" fill="hold"/>
                                  <p:tgtEl>
                                    <p:spTgt spid="4"/>
                                  </p:tgtEl>
                                </p:cBhvr>
                              </p:animEffect>
                            </p:childTnList>
                          </p:cTn>
                        </p:par>
                        <p:par>
                          <p:cTn id="13" presetID="10" presetClass="entr" presetSubtype="0" fill="hold" grpId="0" nodeType="withEffect">
                            <p:stCondLst>
                              <p:cond delay="780"/>
                            </p:stCondLst>
                            <p:childTnList>
                              <p:set>
                                <p:cBhvr>
                                  <p:cTn id="14" dur="1" fill="hold">
                                    <p:stCondLst>
                                      <p:cond delay="0"/>
                                    </p:stCondLst>
                                  </p:cTn>
                                  <p:tgtEl>
                                    <p:spTgt spid="5"/>
                                  </p:tgtEl>
                                  <p:attrNameLst>
                                    <p:attrName>style.visibility</p:attrName>
                                  </p:attrNameLst>
                                </p:cBhvr>
                                <p:to>
                                  <p:strVal val="visible"/>
                                </p:to>
                              </p:set>
                              <p:animEffect transition="in" filter="fade">
                                <p:cBhvr>
                                  <p:cTn id="15" dur="550" fill="hold"/>
                                  <p:tgtEl>
                                    <p:spTgt spid="5"/>
                                  </p:tgtEl>
                                </p:cBhvr>
                              </p:animEffect>
                            </p:childTnList>
                          </p:cTn>
                        </p:par>
                        <p:par>
                          <p:cTn id="16" presetID="10" presetClass="entr" presetSubtype="0" fill="hold" grpId="0" nodeType="withEffect">
                            <p:stCondLst>
                              <p:cond delay="78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par>
                          <p:cTn id="19" presetID="10" presetClass="entr" presetSubtype="0" fill="hold" grpId="0" nodeType="withEffect">
                            <p:stCondLst>
                              <p:cond delay="1300"/>
                            </p:stCondLst>
                            <p:childTnList>
                              <p:set>
                                <p:cBhvr>
                                  <p:cTn id="20" dur="1" fill="hold">
                                    <p:stCondLst>
                                      <p:cond delay="0"/>
                                    </p:stCondLst>
                                  </p:cTn>
                                  <p:tgtEl>
                                    <p:spTgt spid="7"/>
                                  </p:tgtEl>
                                  <p:attrNameLst>
                                    <p:attrName>style.visibility</p:attrName>
                                  </p:attrNameLst>
                                </p:cBhvr>
                                <p:to>
                                  <p:strVal val="visible"/>
                                </p:to>
                              </p:set>
                              <p:animEffect transition="in" filter="fade">
                                <p:cBhvr>
                                  <p:cTn id="21" dur="550" fill="hold"/>
                                  <p:tgtEl>
                                    <p:spTgt spid="7"/>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10.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8" name="reveal-1::shape-65">
            <a:extLst xmlns:a="http://schemas.openxmlformats.org/drawingml/2006/main">
              <a:ext uri="{FF2B5EF4-FFF2-40B4-BE49-F238E27FC236}">
                <a16:creationId xmlns:a16="http://schemas.microsoft.com/office/drawing/2014/main" id="{23C35002-4229-45C8-9E04-A215118F7F97}"/>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GO nəticəsində dizaynın sərhədi</a:t>
            </a:r>
          </a:p>
        </p:txBody>
      </p:sp>
      <p:sp>
        <p:nvSpPr>
          <p:cNvPr id="2" name="reveal-2::shape-66">
            <a:extLst xmlns:a="http://schemas.openxmlformats.org/drawingml/2006/main">
              <a:ext uri="{FF2B5EF4-FFF2-40B4-BE49-F238E27FC236}">
                <a16:creationId xmlns:a16="http://schemas.microsoft.com/office/drawing/2014/main" id="{EFD3F9F1-4D65-4295-A094-A11BF6865137}"/>
              </a:ext>
            </a:extLst>
          </p:cNvPr>
          <p:cNvSpPr>
            <a:spLocks xmlns:a="http://schemas.openxmlformats.org/drawingml/2006/main" noGrp="1"/>
          </p:cNvSpPr>
          <p:nvPr/>
        </p:nvSpPr>
        <p:spPr>
          <a:xfrm xmlns:a="http://schemas.openxmlformats.org/drawingml/2006/main">
            <a:off x="571500" y="1638300"/>
            <a:ext cx="35433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087F83"/>
                </a:solidFill>
                <a:latin typeface="Arial"/>
                <a:ea typeface="Arial"/>
                <a:cs typeface="Arial"/>
              </a:defRPr>
            </a:pPr>
            <a:r>
              <a:rPr sz="5775" b="1">
                <a:solidFill>
                  <a:srgbClr val="087F83"/>
                </a:solidFill>
                <a:latin typeface="Arial"/>
                <a:ea typeface="Arial"/>
                <a:cs typeface="Arial"/>
              </a:rPr>
              <a:t>0 / 84</a:t>
            </a:r>
          </a:p>
        </p:txBody>
      </p:sp>
      <p:sp>
        <p:nvSpPr>
          <p:cNvPr id="3" name="reveal-2::shape-67">
            <a:extLst xmlns:a="http://schemas.openxmlformats.org/drawingml/2006/main">
              <a:ext uri="{FF2B5EF4-FFF2-40B4-BE49-F238E27FC236}">
                <a16:creationId xmlns:a16="http://schemas.microsoft.com/office/drawing/2014/main" id="{A8F2B5D8-C61A-48F8-83F1-A4B75122F599}"/>
              </a:ext>
            </a:extLst>
          </p:cNvPr>
          <p:cNvSpPr>
            <a:spLocks xmlns:a="http://schemas.openxmlformats.org/drawingml/2006/main" noGrp="1"/>
          </p:cNvSpPr>
          <p:nvPr/>
        </p:nvSpPr>
        <p:spPr>
          <a:xfrm xmlns:a="http://schemas.openxmlformats.org/drawingml/2006/main">
            <a:off x="571500" y="2971800"/>
            <a:ext cx="32099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343"/>
                </a:solidFill>
                <a:latin typeface="Arial"/>
                <a:ea typeface="Arial"/>
                <a:cs typeface="Arial"/>
              </a:defRPr>
            </a:pPr>
            <a:r>
              <a:rPr sz="2325" b="1">
                <a:solidFill>
                  <a:srgbClr val="173343"/>
                </a:solidFill>
                <a:latin typeface="Arial"/>
                <a:ea typeface="Arial"/>
                <a:cs typeface="Arial"/>
              </a:rPr>
              <a:t>singleton seçim</a:t>
            </a:r>
          </a:p>
          <a:p xmlns:a="http://schemas.openxmlformats.org/drawingml/2006/main">
            <a:pPr>
              <a:defRPr sz="2325" b="1">
                <a:solidFill>
                  <a:srgbClr val="173343"/>
                </a:solidFill>
                <a:latin typeface="Arial"/>
                <a:ea typeface="Arial"/>
                <a:cs typeface="Arial"/>
              </a:defRPr>
            </a:pPr>
            <a:r>
              <a:rPr sz="2325" b="1">
                <a:solidFill>
                  <a:srgbClr val="173343"/>
                </a:solidFill>
                <a:latin typeface="Arial"/>
                <a:ea typeface="Arial"/>
                <a:cs typeface="Arial"/>
              </a:rPr>
              <a:t>BH &lt; 0.05 verir</a:t>
            </a:r>
          </a:p>
        </p:txBody>
      </p:sp>
      <p:sp>
        <p:nvSpPr>
          <p:cNvPr id="4" name="reveal-3::shape-68">
            <a:extLst xmlns:a="http://schemas.openxmlformats.org/drawingml/2006/main">
              <a:ext uri="{FF2B5EF4-FFF2-40B4-BE49-F238E27FC236}">
                <a16:creationId xmlns:a16="http://schemas.microsoft.com/office/drawing/2014/main" id="{81A9849C-F222-4E80-A300-9F8A9875C3F9}"/>
              </a:ext>
            </a:extLst>
          </p:cNvPr>
          <p:cNvSpPr>
            <a:spLocks xmlns:a="http://schemas.openxmlformats.org/drawingml/2006/main" noGrp="1"/>
          </p:cNvSpPr>
          <p:nvPr/>
        </p:nvSpPr>
        <p:spPr>
          <a:xfrm xmlns:a="http://schemas.openxmlformats.org/drawingml/2006/main">
            <a:off x="571500" y="4619625"/>
            <a:ext cx="3381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Sabit 62 term ailəsində</a:t>
            </a:r>
          </a:p>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minimum padj: 0.277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2c74f4e15b54074"/>
          <a:stretch xmlns:a="http://schemas.openxmlformats.org/drawingml/2006/main"/>
        </p:blipFill>
        <p:spPr>
          <a:xfrm xmlns:a="http://schemas.openxmlformats.org/drawingml/2006/main">
            <a:off x="4572000" y="1981200"/>
            <a:ext cx="6819900" cy="3409950"/>
          </a:xfrm>
          <a:prstGeom xmlns:a="http://schemas.openxmlformats.org/drawingml/2006/main" prst="rect">
            <a:avLst/>
          </a:prstGeom>
        </p:spPr>
      </p:pic>
      <p:sp>
        <p:nvSpPr>
          <p:cNvPr id="6" name="reveal-6::shape-69">
            <a:extLst xmlns:a="http://schemas.openxmlformats.org/drawingml/2006/main">
              <a:ext uri="{FF2B5EF4-FFF2-40B4-BE49-F238E27FC236}">
                <a16:creationId xmlns:a16="http://schemas.microsoft.com/office/drawing/2014/main" id="{A33DCD8F-E256-41A8-AA89-AEB0A82951FD}"/>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Riyazi əlçatanlıq yoxlaması. Sıfır əhəmiyyətli term bioloji fəaliyyətsizlik demək deyil.</a:t>
            </a:r>
          </a:p>
        </p:txBody>
      </p:sp>
      <p:sp>
        <p:nvSpPr>
          <p:cNvPr id="7" name="reveal-0::shape-70">
            <a:extLst xmlns:a="http://schemas.openxmlformats.org/drawingml/2006/main">
              <a:ext uri="{FF2B5EF4-FFF2-40B4-BE49-F238E27FC236}">
                <a16:creationId xmlns:a16="http://schemas.microsoft.com/office/drawing/2014/main" id="{EA52D10B-5421-4738-8C83-FA98B5AFA013}"/>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10</a:t>
            </a:r>
          </a:p>
        </p:txBody>
      </p:sp>
    </p:spTree>
    <p:extLst>
      <p:ext uri="{BB962C8B-B14F-4D97-AF65-F5344CB8AC3E}">
        <p14:creationId xmlns:p14="http://schemas.microsoft.com/office/powerpoint/2010/main" val="1358517029"/>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8"/>
                                  </p:tgtEl>
                                  <p:attrNameLst>
                                    <p:attrName>style.visibility</p:attrName>
                                  </p:attrNameLst>
                                </p:cBhvr>
                                <p:to>
                                  <p:strVal val="visible"/>
                                </p:to>
                              </p:set>
                              <p:animEffect transition="in" filter="fade">
                                <p:cBhvr>
                                  <p:cTn id="6" dur="550" fill="hold"/>
                                  <p:tgtEl>
                                    <p:spTgt spid="8"/>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130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11.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0" name="reveal-1::shape-71">
            <a:extLst xmlns:a="http://schemas.openxmlformats.org/drawingml/2006/main">
              <a:ext uri="{FF2B5EF4-FFF2-40B4-BE49-F238E27FC236}">
                <a16:creationId xmlns:a16="http://schemas.microsoft.com/office/drawing/2014/main" id="{62121BC1-63B1-40EE-B195-CBEE586727AD}"/>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Opuntia fraqmentlərinin filogeniyası</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87084e279844ecf"/>
          <a:stretch xmlns:a="http://schemas.openxmlformats.org/drawingml/2006/main"/>
        </p:blipFill>
        <p:spPr>
          <a:xfrm xmlns:a="http://schemas.openxmlformats.org/drawingml/2006/main">
            <a:off x="1708785" y="1476375"/>
            <a:ext cx="7440930" cy="4133850"/>
          </a:xfrm>
          <a:prstGeom xmlns:a="http://schemas.openxmlformats.org/drawingml/2006/main" prst="rect">
            <a:avLst/>
          </a:prstGeom>
        </p:spPr>
      </p:pic>
      <p:sp>
        <p:nvSpPr>
          <p:cNvPr id="3" name="reveal-0::shape-72">
            <a:extLst xmlns:a="http://schemas.openxmlformats.org/drawingml/2006/main">
              <a:ext uri="{FF2B5EF4-FFF2-40B4-BE49-F238E27FC236}">
                <a16:creationId xmlns:a16="http://schemas.microsoft.com/office/drawing/2014/main" id="{70AF4710-2240-47D0-B9F3-987D2CDDD123}"/>
              </a:ext>
            </a:extLst>
          </p:cNvPr>
          <p:cNvSpPr>
            <a:spLocks xmlns:a="http://schemas.openxmlformats.org/drawingml/2006/main" noGrp="1"/>
          </p:cNvSpPr>
          <p:nvPr/>
        </p:nvSpPr>
        <p:spPr>
          <a:xfrm xmlns:a="http://schemas.openxmlformats.org/drawingml/2006/main">
            <a:off x="10191750" y="1619250"/>
            <a:ext cx="1428750" cy="3857625"/>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4" name="reveal-2::shape-73">
            <a:extLst xmlns:a="http://schemas.openxmlformats.org/drawingml/2006/main">
              <a:ext uri="{FF2B5EF4-FFF2-40B4-BE49-F238E27FC236}">
                <a16:creationId xmlns:a16="http://schemas.microsoft.com/office/drawing/2014/main" id="{E4A87E47-58D7-47D5-B02E-A667FFE291FB}"/>
              </a:ext>
            </a:extLst>
          </p:cNvPr>
          <p:cNvSpPr>
            <a:spLocks xmlns:a="http://schemas.openxmlformats.org/drawingml/2006/main" noGrp="1"/>
          </p:cNvSpPr>
          <p:nvPr/>
        </p:nvSpPr>
        <p:spPr>
          <a:xfrm xmlns:a="http://schemas.openxmlformats.org/drawingml/2006/main">
            <a:off x="10296525" y="1809750"/>
            <a:ext cx="1190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79DEC5"/>
                </a:solidFill>
                <a:latin typeface="Arial"/>
                <a:ea typeface="Arial"/>
                <a:cs typeface="Arial"/>
              </a:defRPr>
            </a:pPr>
            <a:r>
              <a:rPr sz="4650" b="1">
                <a:solidFill>
                  <a:srgbClr val="79DEC5"/>
                </a:solidFill>
                <a:latin typeface="Arial"/>
                <a:ea typeface="Arial"/>
                <a:cs typeface="Arial"/>
              </a:rPr>
              <a:t>7</a:t>
            </a:r>
          </a:p>
        </p:txBody>
      </p:sp>
      <p:sp>
        <p:nvSpPr>
          <p:cNvPr id="5" name="reveal-2::shape-74">
            <a:extLst xmlns:a="http://schemas.openxmlformats.org/drawingml/2006/main">
              <a:ext uri="{FF2B5EF4-FFF2-40B4-BE49-F238E27FC236}">
                <a16:creationId xmlns:a16="http://schemas.microsoft.com/office/drawing/2014/main" id="{51552E55-41F8-4A72-AA72-109326E3677A}"/>
              </a:ext>
            </a:extLst>
          </p:cNvPr>
          <p:cNvSpPr>
            <a:spLocks xmlns:a="http://schemas.openxmlformats.org/drawingml/2006/main" noGrp="1"/>
          </p:cNvSpPr>
          <p:nvPr/>
        </p:nvSpPr>
        <p:spPr>
          <a:xfrm xmlns:a="http://schemas.openxmlformats.org/drawingml/2006/main">
            <a:off x="10296525" y="2676525"/>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fraqment</a:t>
            </a:r>
          </a:p>
        </p:txBody>
      </p:sp>
      <p:sp>
        <p:nvSpPr>
          <p:cNvPr id="6" name="reveal-3::shape-75">
            <a:extLst xmlns:a="http://schemas.openxmlformats.org/drawingml/2006/main">
              <a:ext uri="{FF2B5EF4-FFF2-40B4-BE49-F238E27FC236}">
                <a16:creationId xmlns:a16="http://schemas.microsoft.com/office/drawing/2014/main" id="{6BCC2717-053A-40AE-8131-39BDCFF8A887}"/>
              </a:ext>
            </a:extLst>
          </p:cNvPr>
          <p:cNvSpPr>
            <a:spLocks xmlns:a="http://schemas.openxmlformats.org/drawingml/2006/main" noGrp="1"/>
          </p:cNvSpPr>
          <p:nvPr/>
        </p:nvSpPr>
        <p:spPr>
          <a:xfrm xmlns:a="http://schemas.openxmlformats.org/drawingml/2006/main">
            <a:off x="10296525" y="3324225"/>
            <a:ext cx="12096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79DEC5"/>
                </a:solidFill>
                <a:latin typeface="Arial"/>
                <a:ea typeface="Arial"/>
                <a:cs typeface="Arial"/>
              </a:defRPr>
            </a:pPr>
            <a:r>
              <a:rPr sz="3900" b="1">
                <a:solidFill>
                  <a:srgbClr val="79DEC5"/>
                </a:solidFill>
                <a:latin typeface="Arial"/>
                <a:ea typeface="Arial"/>
                <a:cs typeface="Arial"/>
              </a:rPr>
              <a:t>200</a:t>
            </a:r>
          </a:p>
        </p:txBody>
      </p:sp>
      <p:sp>
        <p:nvSpPr>
          <p:cNvPr id="7" name="reveal-3::shape-76">
            <a:extLst xmlns:a="http://schemas.openxmlformats.org/drawingml/2006/main">
              <a:ext uri="{FF2B5EF4-FFF2-40B4-BE49-F238E27FC236}">
                <a16:creationId xmlns:a16="http://schemas.microsoft.com/office/drawing/2014/main" id="{A8258A96-97CD-4943-8EAB-C38DEA1A158F}"/>
              </a:ext>
            </a:extLst>
          </p:cNvPr>
          <p:cNvSpPr>
            <a:spLocks xmlns:a="http://schemas.openxmlformats.org/drawingml/2006/main" noGrp="1"/>
          </p:cNvSpPr>
          <p:nvPr/>
        </p:nvSpPr>
        <p:spPr>
          <a:xfrm xmlns:a="http://schemas.openxmlformats.org/drawingml/2006/main">
            <a:off x="10296525" y="4286250"/>
            <a:ext cx="1209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bootstrap</a:t>
            </a:r>
          </a:p>
        </p:txBody>
      </p:sp>
      <p:sp>
        <p:nvSpPr>
          <p:cNvPr id="8" name="reveal-6::shape-77">
            <a:extLst xmlns:a="http://schemas.openxmlformats.org/drawingml/2006/main">
              <a:ext uri="{FF2B5EF4-FFF2-40B4-BE49-F238E27FC236}">
                <a16:creationId xmlns:a16="http://schemas.microsoft.com/office/drawing/2014/main" id="{67402DE9-CBD1-4523-94C3-CF949F38717B}"/>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146 tam ACGT sütunu və 8 dəyişən mövqe. Ağac qısa fraqmentlərə aiddir.</a:t>
            </a:r>
          </a:p>
        </p:txBody>
      </p:sp>
      <p:sp>
        <p:nvSpPr>
          <p:cNvPr id="9" name="reveal-0::shape-78">
            <a:extLst xmlns:a="http://schemas.openxmlformats.org/drawingml/2006/main">
              <a:ext uri="{FF2B5EF4-FFF2-40B4-BE49-F238E27FC236}">
                <a16:creationId xmlns:a16="http://schemas.microsoft.com/office/drawing/2014/main" id="{EEE210B8-F3BD-40C8-B04F-17A20CED8702}"/>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11</a:t>
            </a:r>
          </a:p>
        </p:txBody>
      </p:sp>
    </p:spTree>
    <p:extLst>
      <p:ext uri="{BB962C8B-B14F-4D97-AF65-F5344CB8AC3E}">
        <p14:creationId xmlns:p14="http://schemas.microsoft.com/office/powerpoint/2010/main" val="302838589"/>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10"/>
                                  </p:tgtEl>
                                  <p:attrNameLst>
                                    <p:attrName>style.visibility</p:attrName>
                                  </p:attrNameLst>
                                </p:cBhvr>
                                <p:to>
                                  <p:strVal val="visible"/>
                                </p:to>
                              </p:set>
                              <p:animEffect transition="in" filter="fade">
                                <p:cBhvr>
                                  <p:cTn id="6" dur="550" fill="hold"/>
                                  <p:tgtEl>
                                    <p:spTgt spid="10"/>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4"/>
                                  </p:tgtEl>
                                  <p:attrNameLst>
                                    <p:attrName>style.visibility</p:attrName>
                                  </p:attrNameLst>
                                </p:cBhvr>
                                <p:to>
                                  <p:strVal val="visible"/>
                                </p:to>
                              </p:set>
                              <p:animEffect transition="in" filter="fade">
                                <p:cBhvr>
                                  <p:cTn id="9" dur="550" fill="hold"/>
                                  <p:tgtEl>
                                    <p:spTgt spid="4"/>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5"/>
                                  </p:tgtEl>
                                  <p:attrNameLst>
                                    <p:attrName>style.visibility</p:attrName>
                                  </p:attrNameLst>
                                </p:cBhvr>
                                <p:to>
                                  <p:strVal val="visible"/>
                                </p:to>
                              </p:set>
                              <p:animEffect transition="in" filter="fade">
                                <p:cBhvr>
                                  <p:cTn id="12" dur="550" fill="hold"/>
                                  <p:tgtEl>
                                    <p:spTgt spid="5"/>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6"/>
                                  </p:tgtEl>
                                  <p:attrNameLst>
                                    <p:attrName>style.visibility</p:attrName>
                                  </p:attrNameLst>
                                </p:cBhvr>
                                <p:to>
                                  <p:strVal val="visible"/>
                                </p:to>
                              </p:set>
                              <p:animEffect transition="in" filter="fade">
                                <p:cBhvr>
                                  <p:cTn id="15" dur="550" fill="hold"/>
                                  <p:tgtEl>
                                    <p:spTgt spid="6"/>
                                  </p:tgtEl>
                                </p:cBhvr>
                              </p:animEffect>
                            </p:childTnList>
                          </p:cTn>
                        </p:par>
                        <p:par>
                          <p:cTn id="16" presetID="10" presetClass="entr" presetSubtype="0" fill="hold" grpId="0" nodeType="withEffect">
                            <p:stCondLst>
                              <p:cond delay="520"/>
                            </p:stCondLst>
                            <p:childTnList>
                              <p:set>
                                <p:cBhvr>
                                  <p:cTn id="17" dur="1" fill="hold">
                                    <p:stCondLst>
                                      <p:cond delay="0"/>
                                    </p:stCondLst>
                                  </p:cTn>
                                  <p:tgtEl>
                                    <p:spTgt spid="7"/>
                                  </p:tgtEl>
                                  <p:attrNameLst>
                                    <p:attrName>style.visibility</p:attrName>
                                  </p:attrNameLst>
                                </p:cBhvr>
                                <p:to>
                                  <p:strVal val="visible"/>
                                </p:to>
                              </p:set>
                              <p:animEffect transition="in" filter="fade">
                                <p:cBhvr>
                                  <p:cTn id="18" dur="550" fill="hold"/>
                                  <p:tgtEl>
                                    <p:spTgt spid="7"/>
                                  </p:tgtEl>
                                </p:cBhvr>
                              </p:animEffect>
                            </p:childTnList>
                          </p:cTn>
                        </p:par>
                        <p:par>
                          <p:cTn id="19" presetID="10" presetClass="entr" presetSubtype="0" fill="hold" grpId="0" nodeType="withEffect">
                            <p:stCondLst>
                              <p:cond delay="1300"/>
                            </p:stCondLst>
                            <p:childTnList>
                              <p:set>
                                <p:cBhvr>
                                  <p:cTn id="20" dur="1" fill="hold">
                                    <p:stCondLst>
                                      <p:cond delay="0"/>
                                    </p:stCondLst>
                                  </p:cTn>
                                  <p:tgtEl>
                                    <p:spTgt spid="8"/>
                                  </p:tgtEl>
                                  <p:attrNameLst>
                                    <p:attrName>style.visibility</p:attrName>
                                  </p:attrNameLst>
                                </p:cBhvr>
                                <p:to>
                                  <p:strVal val="visible"/>
                                </p:to>
                              </p:set>
                              <p:animEffect transition="in" filter="fade">
                                <p:cBhvr>
                                  <p:cTn id="21" dur="550" fill="hold"/>
                                  <p:tgtEl>
                                    <p:spTgt spid="8"/>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1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8" name="reveal-1::shape-79">
            <a:extLst xmlns:a="http://schemas.openxmlformats.org/drawingml/2006/main">
              <a:ext uri="{FF2B5EF4-FFF2-40B4-BE49-F238E27FC236}">
                <a16:creationId xmlns:a16="http://schemas.microsoft.com/office/drawing/2014/main" id="{0FBABAE8-E77F-43A9-891E-98C4EC9D5614}"/>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Dairəvi PhiX174 genomunda ORF-lər</a:t>
            </a:r>
          </a:p>
        </p:txBody>
      </p:sp>
      <p:sp>
        <p:nvSpPr>
          <p:cNvPr id="2" name="reveal-2::shape-80">
            <a:extLst xmlns:a="http://schemas.openxmlformats.org/drawingml/2006/main">
              <a:ext uri="{FF2B5EF4-FFF2-40B4-BE49-F238E27FC236}">
                <a16:creationId xmlns:a16="http://schemas.microsoft.com/office/drawing/2014/main" id="{3C872CF9-9A24-4FDC-B653-FD1508BB4577}"/>
              </a:ext>
            </a:extLst>
          </p:cNvPr>
          <p:cNvSpPr>
            <a:spLocks xmlns:a="http://schemas.openxmlformats.org/drawingml/2006/main" noGrp="1"/>
          </p:cNvSpPr>
          <p:nvPr/>
        </p:nvSpPr>
        <p:spPr>
          <a:xfrm xmlns:a="http://schemas.openxmlformats.org/drawingml/2006/main">
            <a:off x="590550" y="146685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87F83"/>
                </a:solidFill>
                <a:latin typeface="Arial"/>
                <a:ea typeface="Arial"/>
                <a:cs typeface="Arial"/>
              </a:defRPr>
            </a:pPr>
            <a:r>
              <a:rPr sz="3825" b="1">
                <a:solidFill>
                  <a:srgbClr val="087F83"/>
                </a:solidFill>
                <a:latin typeface="Arial"/>
                <a:ea typeface="Arial"/>
                <a:cs typeface="Arial"/>
              </a:rPr>
              <a:t>114 namizəd</a:t>
            </a:r>
          </a:p>
        </p:txBody>
      </p:sp>
      <p:sp>
        <p:nvSpPr>
          <p:cNvPr id="3" name="reveal-2::shape-81">
            <a:extLst xmlns:a="http://schemas.openxmlformats.org/drawingml/2006/main">
              <a:ext uri="{FF2B5EF4-FFF2-40B4-BE49-F238E27FC236}">
                <a16:creationId xmlns:a16="http://schemas.microsoft.com/office/drawing/2014/main" id="{300D696D-5D9B-45E3-9A32-C7FB8051943E}"/>
              </a:ext>
            </a:extLst>
          </p:cNvPr>
          <p:cNvSpPr>
            <a:spLocks xmlns:a="http://schemas.openxmlformats.org/drawingml/2006/main" noGrp="1"/>
          </p:cNvSpPr>
          <p:nvPr/>
        </p:nvSpPr>
        <p:spPr>
          <a:xfrm xmlns:a="http://schemas.openxmlformats.org/drawingml/2006/main">
            <a:off x="5438775" y="150495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343"/>
                </a:solidFill>
                <a:latin typeface="Arial"/>
                <a:ea typeface="Arial"/>
                <a:cs typeface="Arial"/>
              </a:defRPr>
            </a:pPr>
            <a:r>
              <a:rPr sz="1875" b="0">
                <a:solidFill>
                  <a:srgbClr val="173343"/>
                </a:solidFill>
                <a:latin typeface="Arial"/>
                <a:ea typeface="Arial"/>
                <a:cs typeface="Arial"/>
              </a:rPr>
              <a:t>93 müsbət strand</a:t>
            </a:r>
          </a:p>
          <a:p xmlns:a="http://schemas.openxmlformats.org/drawingml/2006/main">
            <a:pPr>
              <a:defRPr sz="1875" b="0">
                <a:solidFill>
                  <a:srgbClr val="173343"/>
                </a:solidFill>
                <a:latin typeface="Arial"/>
                <a:ea typeface="Arial"/>
                <a:cs typeface="Arial"/>
              </a:defRPr>
            </a:pPr>
            <a:r>
              <a:rPr sz="1875" b="0">
                <a:solidFill>
                  <a:srgbClr val="173343"/>
                </a:solidFill>
                <a:latin typeface="Arial"/>
                <a:ea typeface="Arial"/>
                <a:cs typeface="Arial"/>
              </a:rPr>
              <a:t>21 mənfi strand</a:t>
            </a:r>
          </a:p>
        </p:txBody>
      </p:sp>
      <p:sp>
        <p:nvSpPr>
          <p:cNvPr id="4" name="reveal-3::shape-82">
            <a:extLst xmlns:a="http://schemas.openxmlformats.org/drawingml/2006/main">
              <a:ext uri="{FF2B5EF4-FFF2-40B4-BE49-F238E27FC236}">
                <a16:creationId xmlns:a16="http://schemas.microsoft.com/office/drawing/2014/main" id="{C8686769-5006-49AC-87ED-5620EFAB2A76}"/>
              </a:ext>
            </a:extLst>
          </p:cNvPr>
          <p:cNvSpPr>
            <a:spLocks xmlns:a="http://schemas.openxmlformats.org/drawingml/2006/main" noGrp="1"/>
          </p:cNvSpPr>
          <p:nvPr/>
        </p:nvSpPr>
        <p:spPr>
          <a:xfrm xmlns:a="http://schemas.openxmlformats.org/drawingml/2006/main">
            <a:off x="8896350" y="1504950"/>
            <a:ext cx="26289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343"/>
                </a:solidFill>
                <a:latin typeface="Arial"/>
                <a:ea typeface="Arial"/>
                <a:cs typeface="Arial"/>
              </a:defRPr>
            </a:pPr>
            <a:r>
              <a:rPr sz="1875" b="0">
                <a:solidFill>
                  <a:srgbClr val="173343"/>
                </a:solidFill>
                <a:latin typeface="Arial"/>
                <a:ea typeface="Arial"/>
                <a:cs typeface="Arial"/>
              </a:rPr>
              <a:t>24 başlanğıcı</a:t>
            </a:r>
          </a:p>
          <a:p xmlns:a="http://schemas.openxmlformats.org/drawingml/2006/main">
            <a:pPr>
              <a:defRPr sz="1875" b="0">
                <a:solidFill>
                  <a:srgbClr val="173343"/>
                </a:solidFill>
                <a:latin typeface="Arial"/>
                <a:ea typeface="Arial"/>
                <a:cs typeface="Arial"/>
              </a:defRPr>
            </a:pPr>
            <a:r>
              <a:rPr sz="1875" b="0">
                <a:solidFill>
                  <a:srgbClr val="173343"/>
                </a:solidFill>
                <a:latin typeface="Arial"/>
                <a:ea typeface="Arial"/>
                <a:cs typeface="Arial"/>
              </a:rPr>
              <a:t>keçən namizəd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e2723513d354e41"/>
          <a:stretch xmlns:a="http://schemas.openxmlformats.org/drawingml/2006/main"/>
        </p:blipFill>
        <p:spPr>
          <a:xfrm xmlns:a="http://schemas.openxmlformats.org/drawingml/2006/main">
            <a:off x="2484834" y="2514600"/>
            <a:ext cx="7222331" cy="3209925"/>
          </a:xfrm>
          <a:prstGeom xmlns:a="http://schemas.openxmlformats.org/drawingml/2006/main" prst="rect">
            <a:avLst/>
          </a:prstGeom>
        </p:spPr>
      </p:pic>
      <p:sp>
        <p:nvSpPr>
          <p:cNvPr id="6" name="reveal-6::shape-83">
            <a:extLst xmlns:a="http://schemas.openxmlformats.org/drawingml/2006/main">
              <a:ext uri="{FF2B5EF4-FFF2-40B4-BE49-F238E27FC236}">
                <a16:creationId xmlns:a16="http://schemas.microsoft.com/office/drawing/2014/main" id="{BC7C987C-2AB4-43FC-935B-9FA8A1B5F25B}"/>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5 386 nt. ATG, ilk stop, minimum 30 aa. Namizədlər təsdiqlənmiş gen annotasiyası deyil.</a:t>
            </a:r>
          </a:p>
        </p:txBody>
      </p:sp>
      <p:sp>
        <p:nvSpPr>
          <p:cNvPr id="7" name="reveal-0::shape-84">
            <a:extLst xmlns:a="http://schemas.openxmlformats.org/drawingml/2006/main">
              <a:ext uri="{FF2B5EF4-FFF2-40B4-BE49-F238E27FC236}">
                <a16:creationId xmlns:a16="http://schemas.microsoft.com/office/drawing/2014/main" id="{7659DC5E-2448-4342-8625-3ABD05ACB85F}"/>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12</a:t>
            </a:r>
          </a:p>
        </p:txBody>
      </p:sp>
    </p:spTree>
    <p:extLst>
      <p:ext uri="{BB962C8B-B14F-4D97-AF65-F5344CB8AC3E}">
        <p14:creationId xmlns:p14="http://schemas.microsoft.com/office/powerpoint/2010/main" val="637303757"/>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8"/>
                                  </p:tgtEl>
                                  <p:attrNameLst>
                                    <p:attrName>style.visibility</p:attrName>
                                  </p:attrNameLst>
                                </p:cBhvr>
                                <p:to>
                                  <p:strVal val="visible"/>
                                </p:to>
                              </p:set>
                              <p:animEffect transition="in" filter="fade">
                                <p:cBhvr>
                                  <p:cTn id="6" dur="550" fill="hold"/>
                                  <p:tgtEl>
                                    <p:spTgt spid="8"/>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130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13.xml><?xml version="1.0" encoding="utf-8"?>
<p:sld xmlns:p="http://schemas.openxmlformats.org/presentationml/2006/main">
  <p:cSld>
    <p:bg>
      <p:bgPr>
        <a:solidFill xmlns:a="http://schemas.openxmlformats.org/drawingml/2006/main">
          <a:srgbClr val="092333"/>
        </a:solidFill>
      </p:bgPr>
    </p:bg>
    <p:spTree>
      <p:nvGrpSpPr>
        <p:cNvPr id="1" name=""/>
        <p:cNvGrpSpPr/>
        <p:nvPr/>
      </p:nvGrpSpPr>
      <p:grpSpPr>
        <a:xfrm xmlns:a="http://schemas.openxmlformats.org/drawingml/2006/main"/>
      </p:grpSpPr>
      <p:sp>
        <p:nvSpPr>
          <p:cNvPr id="9" name="reveal-1::shape-85">
            <a:extLst xmlns:a="http://schemas.openxmlformats.org/drawingml/2006/main">
              <a:ext uri="{FF2B5EF4-FFF2-40B4-BE49-F238E27FC236}">
                <a16:creationId xmlns:a16="http://schemas.microsoft.com/office/drawing/2014/main" id="{699B3B85-6687-4AA9-A8A6-39A0DA984257}"/>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İki ayrı protein nümunəsi</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313725d2fc44486"/>
          <a:stretch xmlns:a="http://schemas.openxmlformats.org/drawingml/2006/main"/>
        </p:blipFill>
        <p:spPr>
          <a:xfrm xmlns:a="http://schemas.openxmlformats.org/drawingml/2006/main">
            <a:off x="5795963" y="1476375"/>
            <a:ext cx="5000625" cy="4286250"/>
          </a:xfrm>
          <a:prstGeom xmlns:a="http://schemas.openxmlformats.org/drawingml/2006/main" prst="rect">
            <a:avLst/>
          </a:prstGeom>
        </p:spPr>
      </p:pic>
      <p:sp>
        <p:nvSpPr>
          <p:cNvPr id="3" name="reveal-2::shape-86">
            <a:extLst xmlns:a="http://schemas.openxmlformats.org/drawingml/2006/main">
              <a:ext uri="{FF2B5EF4-FFF2-40B4-BE49-F238E27FC236}">
                <a16:creationId xmlns:a16="http://schemas.microsoft.com/office/drawing/2014/main" id="{4561AFE4-929E-49B8-978C-96B8EAAAF78B}"/>
              </a:ext>
            </a:extLst>
          </p:cNvPr>
          <p:cNvSpPr>
            <a:spLocks xmlns:a="http://schemas.openxmlformats.org/drawingml/2006/main" noGrp="1"/>
          </p:cNvSpPr>
          <p:nvPr/>
        </p:nvSpPr>
        <p:spPr>
          <a:xfrm xmlns:a="http://schemas.openxmlformats.org/drawingml/2006/main">
            <a:off x="571500" y="1781175"/>
            <a:ext cx="4191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79DEC5"/>
                </a:solidFill>
                <a:latin typeface="Arial"/>
                <a:ea typeface="Arial"/>
                <a:cs typeface="Arial"/>
              </a:defRPr>
            </a:pPr>
            <a:r>
              <a:rPr sz="4500" b="1">
                <a:solidFill>
                  <a:srgbClr val="79DEC5"/>
                </a:solidFill>
                <a:latin typeface="Arial"/>
                <a:ea typeface="Arial"/>
                <a:cs typeface="Arial"/>
              </a:rPr>
              <a:t>P01308</a:t>
            </a:r>
          </a:p>
        </p:txBody>
      </p:sp>
      <p:sp>
        <p:nvSpPr>
          <p:cNvPr id="4" name="reveal-2::shape-87">
            <a:extLst xmlns:a="http://schemas.openxmlformats.org/drawingml/2006/main">
              <a:ext uri="{FF2B5EF4-FFF2-40B4-BE49-F238E27FC236}">
                <a16:creationId xmlns:a16="http://schemas.microsoft.com/office/drawing/2014/main" id="{8215A160-2B05-4AF1-9352-6CAD1000E8A9}"/>
              </a:ext>
            </a:extLst>
          </p:cNvPr>
          <p:cNvSpPr>
            <a:spLocks xmlns:a="http://schemas.openxmlformats.org/drawingml/2006/main" noGrp="1"/>
          </p:cNvSpPr>
          <p:nvPr/>
        </p:nvSpPr>
        <p:spPr>
          <a:xfrm xmlns:a="http://schemas.openxmlformats.org/drawingml/2006/main">
            <a:off x="571500" y="2705100"/>
            <a:ext cx="3905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Insulin prekursoru</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110 amin turşusu</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Sequence analizi</a:t>
            </a:r>
          </a:p>
        </p:txBody>
      </p:sp>
      <p:sp>
        <p:nvSpPr>
          <p:cNvPr id="5" name="reveal-3::shape-88">
            <a:extLst xmlns:a="http://schemas.openxmlformats.org/drawingml/2006/main">
              <a:ext uri="{FF2B5EF4-FFF2-40B4-BE49-F238E27FC236}">
                <a16:creationId xmlns:a16="http://schemas.microsoft.com/office/drawing/2014/main" id="{F1853BA6-71CC-4600-9170-17786E99D1A0}"/>
              </a:ext>
            </a:extLst>
          </p:cNvPr>
          <p:cNvSpPr>
            <a:spLocks xmlns:a="http://schemas.openxmlformats.org/drawingml/2006/main" noGrp="1"/>
          </p:cNvSpPr>
          <p:nvPr/>
        </p:nvSpPr>
        <p:spPr>
          <a:xfrm xmlns:a="http://schemas.openxmlformats.org/drawingml/2006/main">
            <a:off x="571500" y="44577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79DEC5"/>
                </a:solidFill>
                <a:latin typeface="Arial"/>
                <a:ea typeface="Arial"/>
                <a:cs typeface="Arial"/>
              </a:defRPr>
            </a:pPr>
            <a:r>
              <a:rPr sz="3900" b="1">
                <a:solidFill>
                  <a:srgbClr val="79DEC5"/>
                </a:solidFill>
                <a:latin typeface="Arial"/>
                <a:ea typeface="Arial"/>
                <a:cs typeface="Arial"/>
              </a:rPr>
              <a:t>1CRN</a:t>
            </a:r>
          </a:p>
        </p:txBody>
      </p:sp>
      <p:sp>
        <p:nvSpPr>
          <p:cNvPr id="6" name="reveal-3::shape-89">
            <a:extLst xmlns:a="http://schemas.openxmlformats.org/drawingml/2006/main">
              <a:ext uri="{FF2B5EF4-FFF2-40B4-BE49-F238E27FC236}">
                <a16:creationId xmlns:a16="http://schemas.microsoft.com/office/drawing/2014/main" id="{4D2656C7-7D1D-4338-BB98-4CD95C334090}"/>
              </a:ext>
            </a:extLst>
          </p:cNvPr>
          <p:cNvSpPr>
            <a:spLocks xmlns:a="http://schemas.openxmlformats.org/drawingml/2006/main" noGrp="1"/>
          </p:cNvSpPr>
          <p:nvPr/>
        </p:nvSpPr>
        <p:spPr>
          <a:xfrm xmlns:a="http://schemas.openxmlformats.org/drawingml/2006/main">
            <a:off x="571500" y="528637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Crambin strukturu, 46 Cα</a:t>
            </a:r>
          </a:p>
        </p:txBody>
      </p:sp>
      <p:sp>
        <p:nvSpPr>
          <p:cNvPr id="7" name="reveal-6::shape-90">
            <a:extLst xmlns:a="http://schemas.openxmlformats.org/drawingml/2006/main">
              <a:ext uri="{FF2B5EF4-FFF2-40B4-BE49-F238E27FC236}">
                <a16:creationId xmlns:a16="http://schemas.microsoft.com/office/drawing/2014/main" id="{123975B5-2BD4-4EFE-BC26-ACAC090458A8}"/>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1D2D7"/>
                </a:solidFill>
                <a:latin typeface="Arial"/>
                <a:ea typeface="Arial"/>
                <a:cs typeface="Arial"/>
              </a:defRPr>
            </a:pPr>
            <a:r>
              <a:rPr sz="1575" b="0">
                <a:solidFill>
                  <a:srgbClr val="B1D2D7"/>
                </a:solidFill>
                <a:latin typeface="Arial"/>
                <a:ea typeface="Arial"/>
                <a:cs typeface="Arial"/>
              </a:rPr>
              <a:t>Sequence və struktur nümunələri ayrı proteinlərə aiddir.</a:t>
            </a:r>
          </a:p>
        </p:txBody>
      </p:sp>
      <p:sp>
        <p:nvSpPr>
          <p:cNvPr id="8" name="reveal-0::shape-91">
            <a:extLst xmlns:a="http://schemas.openxmlformats.org/drawingml/2006/main">
              <a:ext uri="{FF2B5EF4-FFF2-40B4-BE49-F238E27FC236}">
                <a16:creationId xmlns:a16="http://schemas.microsoft.com/office/drawing/2014/main" id="{1D02096B-B201-463F-A3B0-C0A9005FC30B}"/>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2B2BB"/>
                </a:solidFill>
                <a:latin typeface="Arial"/>
                <a:ea typeface="Arial"/>
                <a:cs typeface="Arial"/>
              </a:defRPr>
            </a:pPr>
            <a:r>
              <a:rPr sz="1050" b="0">
                <a:solidFill>
                  <a:srgbClr val="92B2BB"/>
                </a:solidFill>
                <a:latin typeface="Arial"/>
                <a:ea typeface="Arial"/>
                <a:cs typeface="Arial"/>
              </a:rPr>
              <a:t>13</a:t>
            </a:r>
          </a:p>
        </p:txBody>
      </p:sp>
    </p:spTree>
    <p:extLst>
      <p:ext uri="{BB962C8B-B14F-4D97-AF65-F5344CB8AC3E}">
        <p14:creationId xmlns:p14="http://schemas.microsoft.com/office/powerpoint/2010/main" val="351338309"/>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9"/>
                                  </p:tgtEl>
                                  <p:attrNameLst>
                                    <p:attrName>style.visibility</p:attrName>
                                  </p:attrNameLst>
                                </p:cBhvr>
                                <p:to>
                                  <p:strVal val="visible"/>
                                </p:to>
                              </p:set>
                              <p:animEffect transition="in" filter="fade">
                                <p:cBhvr>
                                  <p:cTn id="6" dur="550" fill="hold"/>
                                  <p:tgtEl>
                                    <p:spTgt spid="9"/>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3"/>
                                  </p:tgtEl>
                                  <p:attrNameLst>
                                    <p:attrName>style.visibility</p:attrName>
                                  </p:attrNameLst>
                                </p:cBhvr>
                                <p:to>
                                  <p:strVal val="visible"/>
                                </p:to>
                              </p:set>
                              <p:animEffect transition="in" filter="fade">
                                <p:cBhvr>
                                  <p:cTn id="9" dur="550" fill="hold"/>
                                  <p:tgtEl>
                                    <p:spTgt spid="3"/>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4"/>
                                  </p:tgtEl>
                                  <p:attrNameLst>
                                    <p:attrName>style.visibility</p:attrName>
                                  </p:attrNameLst>
                                </p:cBhvr>
                                <p:to>
                                  <p:strVal val="visible"/>
                                </p:to>
                              </p:set>
                              <p:animEffect transition="in" filter="fade">
                                <p:cBhvr>
                                  <p:cTn id="12" dur="550" fill="hold"/>
                                  <p:tgtEl>
                                    <p:spTgt spid="4"/>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5"/>
                                  </p:tgtEl>
                                  <p:attrNameLst>
                                    <p:attrName>style.visibility</p:attrName>
                                  </p:attrNameLst>
                                </p:cBhvr>
                                <p:to>
                                  <p:strVal val="visible"/>
                                </p:to>
                              </p:set>
                              <p:animEffect transition="in" filter="fade">
                                <p:cBhvr>
                                  <p:cTn id="15" dur="550" fill="hold"/>
                                  <p:tgtEl>
                                    <p:spTgt spid="5"/>
                                  </p:tgtEl>
                                </p:cBhvr>
                              </p:animEffect>
                            </p:childTnList>
                          </p:cTn>
                        </p:par>
                        <p:par>
                          <p:cTn id="16" presetID="10" presetClass="entr" presetSubtype="0" fill="hold" grpId="0" nodeType="withEffect">
                            <p:stCondLst>
                              <p:cond delay="52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par>
                          <p:cTn id="19" presetID="10" presetClass="entr" presetSubtype="0" fill="hold" grpId="0" nodeType="withEffect">
                            <p:stCondLst>
                              <p:cond delay="1300"/>
                            </p:stCondLst>
                            <p:childTnList>
                              <p:set>
                                <p:cBhvr>
                                  <p:cTn id="20" dur="1" fill="hold">
                                    <p:stCondLst>
                                      <p:cond delay="0"/>
                                    </p:stCondLst>
                                  </p:cTn>
                                  <p:tgtEl>
                                    <p:spTgt spid="7"/>
                                  </p:tgtEl>
                                  <p:attrNameLst>
                                    <p:attrName>style.visibility</p:attrName>
                                  </p:attrNameLst>
                                </p:cBhvr>
                                <p:to>
                                  <p:strVal val="visible"/>
                                </p:to>
                              </p:set>
                              <p:animEffect transition="in" filter="fade">
                                <p:cBhvr>
                                  <p:cTn id="21" dur="550" fill="hold"/>
                                  <p:tgtEl>
                                    <p:spTgt spid="7"/>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1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4" name="reveal-1::shape-92">
            <a:extLst xmlns:a="http://schemas.openxmlformats.org/drawingml/2006/main">
              <a:ext uri="{FF2B5EF4-FFF2-40B4-BE49-F238E27FC236}">
                <a16:creationId xmlns:a16="http://schemas.microsoft.com/office/drawing/2014/main" id="{DFD6E036-ACE0-44BF-99A1-ECBCA1B99E98}"/>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Xam oxunuşdan analizə</a:t>
            </a:r>
          </a:p>
        </p:txBody>
      </p:sp>
      <p:sp>
        <p:nvSpPr>
          <p:cNvPr id="2" name="reveal-2::shape-93">
            <a:extLst xmlns:a="http://schemas.openxmlformats.org/drawingml/2006/main">
              <a:ext uri="{FF2B5EF4-FFF2-40B4-BE49-F238E27FC236}">
                <a16:creationId xmlns:a16="http://schemas.microsoft.com/office/drawing/2014/main" id="{D8597ABA-7FFC-49F5-8CC7-0BAB243306BD}"/>
              </a:ext>
            </a:extLst>
          </p:cNvPr>
          <p:cNvSpPr>
            <a:spLocks xmlns:a="http://schemas.openxmlformats.org/drawingml/2006/main" noGrp="1"/>
          </p:cNvSpPr>
          <p:nvPr/>
        </p:nvSpPr>
        <p:spPr>
          <a:xfrm xmlns:a="http://schemas.openxmlformats.org/drawingml/2006/main">
            <a:off x="571500" y="2019300"/>
            <a:ext cx="1619250" cy="771525"/>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3" name="reveal-2::shape-94">
            <a:extLst xmlns:a="http://schemas.openxmlformats.org/drawingml/2006/main">
              <a:ext uri="{FF2B5EF4-FFF2-40B4-BE49-F238E27FC236}">
                <a16:creationId xmlns:a16="http://schemas.microsoft.com/office/drawing/2014/main" id="{E238B41A-D5DB-4939-A811-F0EBCF9BC9D6}"/>
              </a:ext>
            </a:extLst>
          </p:cNvPr>
          <p:cNvSpPr>
            <a:spLocks xmlns:a="http://schemas.openxmlformats.org/drawingml/2006/main" noGrp="1"/>
          </p:cNvSpPr>
          <p:nvPr/>
        </p:nvSpPr>
        <p:spPr>
          <a:xfrm xmlns:a="http://schemas.openxmlformats.org/drawingml/2006/main">
            <a:off x="638175" y="2219325"/>
            <a:ext cx="1543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FASTQ</a:t>
            </a:r>
          </a:p>
        </p:txBody>
      </p:sp>
      <p:sp>
        <p:nvSpPr>
          <p:cNvPr id="4" name="reveal-2::shape-95">
            <a:extLst xmlns:a="http://schemas.openxmlformats.org/drawingml/2006/main">
              <a:ext uri="{FF2B5EF4-FFF2-40B4-BE49-F238E27FC236}">
                <a16:creationId xmlns:a16="http://schemas.microsoft.com/office/drawing/2014/main" id="{38F56D1F-81B1-49AD-9170-2AD26886873F}"/>
              </a:ext>
            </a:extLst>
          </p:cNvPr>
          <p:cNvSpPr>
            <a:spLocks xmlns:a="http://schemas.openxmlformats.org/drawingml/2006/main" noGrp="1"/>
          </p:cNvSpPr>
          <p:nvPr/>
        </p:nvSpPr>
        <p:spPr>
          <a:xfrm xmlns:a="http://schemas.openxmlformats.org/drawingml/2006/main">
            <a:off x="2295525" y="2324100"/>
            <a:ext cx="504825"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5" name="reveal-3::shape-96">
            <a:extLst xmlns:a="http://schemas.openxmlformats.org/drawingml/2006/main">
              <a:ext uri="{FF2B5EF4-FFF2-40B4-BE49-F238E27FC236}">
                <a16:creationId xmlns:a16="http://schemas.microsoft.com/office/drawing/2014/main" id="{0E1EE839-7C51-4747-80A7-D29C093B903A}"/>
              </a:ext>
            </a:extLst>
          </p:cNvPr>
          <p:cNvSpPr>
            <a:spLocks xmlns:a="http://schemas.openxmlformats.org/drawingml/2006/main" noGrp="1"/>
          </p:cNvSpPr>
          <p:nvPr/>
        </p:nvSpPr>
        <p:spPr>
          <a:xfrm xmlns:a="http://schemas.openxmlformats.org/drawingml/2006/main">
            <a:off x="2914650" y="2019300"/>
            <a:ext cx="1619250" cy="771525"/>
          </a:xfrm>
          <a:prstGeom xmlns:a="http://schemas.openxmlformats.org/drawingml/2006/main" prst="rect">
            <a:avLst/>
          </a:prstGeom>
          <a:solidFill xmlns:a="http://schemas.openxmlformats.org/drawingml/2006/main">
            <a:srgbClr val="087F83"/>
          </a:solidFill>
          <a:ln xmlns:a="http://schemas.openxmlformats.org/drawingml/2006/main" w="0">
            <a:noFill/>
          </a:ln>
        </p:spPr>
      </p:sp>
      <p:sp>
        <p:nvSpPr>
          <p:cNvPr id="6" name="reveal-3::shape-97">
            <a:extLst xmlns:a="http://schemas.openxmlformats.org/drawingml/2006/main">
              <a:ext uri="{FF2B5EF4-FFF2-40B4-BE49-F238E27FC236}">
                <a16:creationId xmlns:a16="http://schemas.microsoft.com/office/drawing/2014/main" id="{95447E8D-4187-49AA-8989-337C6EBD570C}"/>
              </a:ext>
            </a:extLst>
          </p:cNvPr>
          <p:cNvSpPr>
            <a:spLocks xmlns:a="http://schemas.openxmlformats.org/drawingml/2006/main" noGrp="1"/>
          </p:cNvSpPr>
          <p:nvPr/>
        </p:nvSpPr>
        <p:spPr>
          <a:xfrm xmlns:a="http://schemas.openxmlformats.org/drawingml/2006/main">
            <a:off x="2981325" y="2219325"/>
            <a:ext cx="1543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Keyfiyyət</a:t>
            </a:r>
          </a:p>
        </p:txBody>
      </p:sp>
      <p:sp>
        <p:nvSpPr>
          <p:cNvPr id="7" name="reveal-3::shape-98">
            <a:extLst xmlns:a="http://schemas.openxmlformats.org/drawingml/2006/main">
              <a:ext uri="{FF2B5EF4-FFF2-40B4-BE49-F238E27FC236}">
                <a16:creationId xmlns:a16="http://schemas.microsoft.com/office/drawing/2014/main" id="{445B6517-1569-43C4-9BC3-3B1E2767D1B0}"/>
              </a:ext>
            </a:extLst>
          </p:cNvPr>
          <p:cNvSpPr>
            <a:spLocks xmlns:a="http://schemas.openxmlformats.org/drawingml/2006/main" noGrp="1"/>
          </p:cNvSpPr>
          <p:nvPr/>
        </p:nvSpPr>
        <p:spPr>
          <a:xfrm xmlns:a="http://schemas.openxmlformats.org/drawingml/2006/main">
            <a:off x="4638675" y="2324100"/>
            <a:ext cx="504825"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8" name="reveal-4::shape-99">
            <a:extLst xmlns:a="http://schemas.openxmlformats.org/drawingml/2006/main">
              <a:ext uri="{FF2B5EF4-FFF2-40B4-BE49-F238E27FC236}">
                <a16:creationId xmlns:a16="http://schemas.microsoft.com/office/drawing/2014/main" id="{4EA9074B-BB3B-4BC4-AF3D-7A0D2E008A71}"/>
              </a:ext>
            </a:extLst>
          </p:cNvPr>
          <p:cNvSpPr>
            <a:spLocks xmlns:a="http://schemas.openxmlformats.org/drawingml/2006/main" noGrp="1"/>
          </p:cNvSpPr>
          <p:nvPr/>
        </p:nvSpPr>
        <p:spPr>
          <a:xfrm xmlns:a="http://schemas.openxmlformats.org/drawingml/2006/main">
            <a:off x="5257800" y="2019300"/>
            <a:ext cx="1619250" cy="771525"/>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9" name="reveal-4::shape-100">
            <a:extLst xmlns:a="http://schemas.openxmlformats.org/drawingml/2006/main">
              <a:ext uri="{FF2B5EF4-FFF2-40B4-BE49-F238E27FC236}">
                <a16:creationId xmlns:a16="http://schemas.microsoft.com/office/drawing/2014/main" id="{4A734FB7-4307-4427-AB81-CA02E12FACE8}"/>
              </a:ext>
            </a:extLst>
          </p:cNvPr>
          <p:cNvSpPr>
            <a:spLocks xmlns:a="http://schemas.openxmlformats.org/drawingml/2006/main" noGrp="1"/>
          </p:cNvSpPr>
          <p:nvPr/>
        </p:nvSpPr>
        <p:spPr>
          <a:xfrm xmlns:a="http://schemas.openxmlformats.org/drawingml/2006/main">
            <a:off x="5324475" y="2219325"/>
            <a:ext cx="1543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Alignment</a:t>
            </a:r>
          </a:p>
        </p:txBody>
      </p:sp>
      <p:sp>
        <p:nvSpPr>
          <p:cNvPr id="10" name="reveal-4::shape-101">
            <a:extLst xmlns:a="http://schemas.openxmlformats.org/drawingml/2006/main">
              <a:ext uri="{FF2B5EF4-FFF2-40B4-BE49-F238E27FC236}">
                <a16:creationId xmlns:a16="http://schemas.microsoft.com/office/drawing/2014/main" id="{482A7A35-2164-4AC5-A17F-64314C13D03A}"/>
              </a:ext>
            </a:extLst>
          </p:cNvPr>
          <p:cNvSpPr>
            <a:spLocks xmlns:a="http://schemas.openxmlformats.org/drawingml/2006/main" noGrp="1"/>
          </p:cNvSpPr>
          <p:nvPr/>
        </p:nvSpPr>
        <p:spPr>
          <a:xfrm xmlns:a="http://schemas.openxmlformats.org/drawingml/2006/main">
            <a:off x="6981825" y="2324100"/>
            <a:ext cx="504825"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11" name="reveal-5::shape-102">
            <a:extLst xmlns:a="http://schemas.openxmlformats.org/drawingml/2006/main">
              <a:ext uri="{FF2B5EF4-FFF2-40B4-BE49-F238E27FC236}">
                <a16:creationId xmlns:a16="http://schemas.microsoft.com/office/drawing/2014/main" id="{0073A776-26D7-4453-940C-E353BD2DCE65}"/>
              </a:ext>
            </a:extLst>
          </p:cNvPr>
          <p:cNvSpPr>
            <a:spLocks xmlns:a="http://schemas.openxmlformats.org/drawingml/2006/main" noGrp="1"/>
          </p:cNvSpPr>
          <p:nvPr/>
        </p:nvSpPr>
        <p:spPr>
          <a:xfrm xmlns:a="http://schemas.openxmlformats.org/drawingml/2006/main">
            <a:off x="7600950" y="2019300"/>
            <a:ext cx="1619250" cy="771525"/>
          </a:xfrm>
          <a:prstGeom xmlns:a="http://schemas.openxmlformats.org/drawingml/2006/main" prst="rect">
            <a:avLst/>
          </a:prstGeom>
          <a:solidFill xmlns:a="http://schemas.openxmlformats.org/drawingml/2006/main">
            <a:srgbClr val="087F83"/>
          </a:solidFill>
          <a:ln xmlns:a="http://schemas.openxmlformats.org/drawingml/2006/main" w="0">
            <a:noFill/>
          </a:ln>
        </p:spPr>
      </p:sp>
      <p:sp>
        <p:nvSpPr>
          <p:cNvPr id="12" name="reveal-5::shape-103">
            <a:extLst xmlns:a="http://schemas.openxmlformats.org/drawingml/2006/main">
              <a:ext uri="{FF2B5EF4-FFF2-40B4-BE49-F238E27FC236}">
                <a16:creationId xmlns:a16="http://schemas.microsoft.com/office/drawing/2014/main" id="{4B65CFC6-2C95-4F90-ADA0-87F8D199C9EF}"/>
              </a:ext>
            </a:extLst>
          </p:cNvPr>
          <p:cNvSpPr>
            <a:spLocks xmlns:a="http://schemas.openxmlformats.org/drawingml/2006/main" noGrp="1"/>
          </p:cNvSpPr>
          <p:nvPr/>
        </p:nvSpPr>
        <p:spPr>
          <a:xfrm xmlns:a="http://schemas.openxmlformats.org/drawingml/2006/main">
            <a:off x="7667625" y="2219325"/>
            <a:ext cx="1543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Sayım</a:t>
            </a:r>
          </a:p>
        </p:txBody>
      </p:sp>
      <p:sp>
        <p:nvSpPr>
          <p:cNvPr id="13" name="reveal-5::shape-104">
            <a:extLst xmlns:a="http://schemas.openxmlformats.org/drawingml/2006/main">
              <a:ext uri="{FF2B5EF4-FFF2-40B4-BE49-F238E27FC236}">
                <a16:creationId xmlns:a16="http://schemas.microsoft.com/office/drawing/2014/main" id="{78CD25CB-F320-4739-9EDB-32FACCC55760}"/>
              </a:ext>
            </a:extLst>
          </p:cNvPr>
          <p:cNvSpPr>
            <a:spLocks xmlns:a="http://schemas.openxmlformats.org/drawingml/2006/main" noGrp="1"/>
          </p:cNvSpPr>
          <p:nvPr/>
        </p:nvSpPr>
        <p:spPr>
          <a:xfrm xmlns:a="http://schemas.openxmlformats.org/drawingml/2006/main">
            <a:off x="9324975" y="2324100"/>
            <a:ext cx="504825"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14" name="reveal-6::shape-105">
            <a:extLst xmlns:a="http://schemas.openxmlformats.org/drawingml/2006/main">
              <a:ext uri="{FF2B5EF4-FFF2-40B4-BE49-F238E27FC236}">
                <a16:creationId xmlns:a16="http://schemas.microsoft.com/office/drawing/2014/main" id="{C4D2DB63-6170-40FF-948E-5515D01E30EE}"/>
              </a:ext>
            </a:extLst>
          </p:cNvPr>
          <p:cNvSpPr>
            <a:spLocks xmlns:a="http://schemas.openxmlformats.org/drawingml/2006/main" noGrp="1"/>
          </p:cNvSpPr>
          <p:nvPr/>
        </p:nvSpPr>
        <p:spPr>
          <a:xfrm xmlns:a="http://schemas.openxmlformats.org/drawingml/2006/main">
            <a:off x="9944100" y="2019300"/>
            <a:ext cx="1619250" cy="771525"/>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15" name="reveal-6::shape-106">
            <a:extLst xmlns:a="http://schemas.openxmlformats.org/drawingml/2006/main">
              <a:ext uri="{FF2B5EF4-FFF2-40B4-BE49-F238E27FC236}">
                <a16:creationId xmlns:a16="http://schemas.microsoft.com/office/drawing/2014/main" id="{E2151805-CFB1-4B3A-B3A4-3B95C3C1BAAA}"/>
              </a:ext>
            </a:extLst>
          </p:cNvPr>
          <p:cNvSpPr>
            <a:spLocks xmlns:a="http://schemas.openxmlformats.org/drawingml/2006/main" noGrp="1"/>
          </p:cNvSpPr>
          <p:nvPr/>
        </p:nvSpPr>
        <p:spPr>
          <a:xfrm xmlns:a="http://schemas.openxmlformats.org/drawingml/2006/main">
            <a:off x="10010775" y="2219325"/>
            <a:ext cx="1543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Model</a:t>
            </a:r>
          </a:p>
        </p:txBody>
      </p:sp>
      <p:sp>
        <p:nvSpPr>
          <p:cNvPr id="16" name="reveal-3::shape-107">
            <a:extLst xmlns:a="http://schemas.openxmlformats.org/drawingml/2006/main">
              <a:ext uri="{FF2B5EF4-FFF2-40B4-BE49-F238E27FC236}">
                <a16:creationId xmlns:a16="http://schemas.microsoft.com/office/drawing/2014/main" id="{D7334CF7-7D53-4770-AF4A-76C7E59F4B1F}"/>
              </a:ext>
            </a:extLst>
          </p:cNvPr>
          <p:cNvSpPr>
            <a:spLocks xmlns:a="http://schemas.openxmlformats.org/drawingml/2006/main" noGrp="1"/>
          </p:cNvSpPr>
          <p:nvPr/>
        </p:nvSpPr>
        <p:spPr>
          <a:xfrm xmlns:a="http://schemas.openxmlformats.org/drawingml/2006/main">
            <a:off x="571500" y="3695700"/>
            <a:ext cx="2952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087F83"/>
                </a:solidFill>
                <a:latin typeface="Arial"/>
                <a:ea typeface="Arial"/>
                <a:cs typeface="Arial"/>
              </a:defRPr>
            </a:pPr>
            <a:r>
              <a:rPr sz="6525" b="1">
                <a:solidFill>
                  <a:srgbClr val="087F83"/>
                </a:solidFill>
                <a:latin typeface="Arial"/>
                <a:ea typeface="Arial"/>
                <a:cs typeface="Arial"/>
              </a:rPr>
              <a:t>6</a:t>
            </a:r>
          </a:p>
        </p:txBody>
      </p:sp>
      <p:sp>
        <p:nvSpPr>
          <p:cNvPr id="17" name="reveal-3::shape-108">
            <a:extLst xmlns:a="http://schemas.openxmlformats.org/drawingml/2006/main">
              <a:ext uri="{FF2B5EF4-FFF2-40B4-BE49-F238E27FC236}">
                <a16:creationId xmlns:a16="http://schemas.microsoft.com/office/drawing/2014/main" id="{D8C60B85-F308-4B7E-91B1-83375458F56A}"/>
              </a:ext>
            </a:extLst>
          </p:cNvPr>
          <p:cNvSpPr>
            <a:spLocks xmlns:a="http://schemas.openxmlformats.org/drawingml/2006/main" noGrp="1"/>
          </p:cNvSpPr>
          <p:nvPr/>
        </p:nvSpPr>
        <p:spPr>
          <a:xfrm xmlns:a="http://schemas.openxmlformats.org/drawingml/2006/main">
            <a:off x="571500" y="49149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343"/>
                </a:solidFill>
                <a:latin typeface="Arial"/>
                <a:ea typeface="Arial"/>
                <a:cs typeface="Arial"/>
              </a:defRPr>
            </a:pPr>
            <a:r>
              <a:rPr sz="1950" b="0">
                <a:solidFill>
                  <a:srgbClr val="173343"/>
                </a:solidFill>
                <a:latin typeface="Arial"/>
                <a:ea typeface="Arial"/>
                <a:cs typeface="Arial"/>
              </a:rPr>
              <a:t>real yeast nümunəsi</a:t>
            </a:r>
          </a:p>
        </p:txBody>
      </p:sp>
      <p:sp>
        <p:nvSpPr>
          <p:cNvPr id="18" name="reveal-4::shape-109">
            <a:extLst xmlns:a="http://schemas.openxmlformats.org/drawingml/2006/main">
              <a:ext uri="{FF2B5EF4-FFF2-40B4-BE49-F238E27FC236}">
                <a16:creationId xmlns:a16="http://schemas.microsoft.com/office/drawing/2014/main" id="{5B8643BB-FEDF-4616-9564-EC697ADA1E0A}"/>
              </a:ext>
            </a:extLst>
          </p:cNvPr>
          <p:cNvSpPr>
            <a:spLocks xmlns:a="http://schemas.openxmlformats.org/drawingml/2006/main" noGrp="1"/>
          </p:cNvSpPr>
          <p:nvPr/>
        </p:nvSpPr>
        <p:spPr>
          <a:xfrm xmlns:a="http://schemas.openxmlformats.org/drawingml/2006/main">
            <a:off x="4486275" y="3695700"/>
            <a:ext cx="2952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087F83"/>
                </a:solidFill>
                <a:latin typeface="Arial"/>
                <a:ea typeface="Arial"/>
                <a:cs typeface="Arial"/>
              </a:defRPr>
            </a:pPr>
            <a:r>
              <a:rPr sz="6525" b="1">
                <a:solidFill>
                  <a:srgbClr val="087F83"/>
                </a:solidFill>
                <a:latin typeface="Arial"/>
                <a:ea typeface="Arial"/>
                <a:cs typeface="Arial"/>
              </a:rPr>
              <a:t>300k</a:t>
            </a:r>
          </a:p>
        </p:txBody>
      </p:sp>
      <p:sp>
        <p:nvSpPr>
          <p:cNvPr id="19" name="reveal-4::shape-110">
            <a:extLst xmlns:a="http://schemas.openxmlformats.org/drawingml/2006/main">
              <a:ext uri="{FF2B5EF4-FFF2-40B4-BE49-F238E27FC236}">
                <a16:creationId xmlns:a16="http://schemas.microsoft.com/office/drawing/2014/main" id="{517AB476-402D-4814-BAB3-F7DF1F64946D}"/>
              </a:ext>
            </a:extLst>
          </p:cNvPr>
          <p:cNvSpPr>
            <a:spLocks xmlns:a="http://schemas.openxmlformats.org/drawingml/2006/main" noGrp="1"/>
          </p:cNvSpPr>
          <p:nvPr/>
        </p:nvSpPr>
        <p:spPr>
          <a:xfrm xmlns:a="http://schemas.openxmlformats.org/drawingml/2006/main">
            <a:off x="4486275" y="49149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343"/>
                </a:solidFill>
                <a:latin typeface="Arial"/>
                <a:ea typeface="Arial"/>
                <a:cs typeface="Arial"/>
              </a:defRPr>
            </a:pPr>
            <a:r>
              <a:rPr sz="1950" b="0">
                <a:solidFill>
                  <a:srgbClr val="173343"/>
                </a:solidFill>
                <a:latin typeface="Arial"/>
                <a:ea typeface="Arial"/>
                <a:cs typeface="Arial"/>
              </a:rPr>
              <a:t>oxunuş cütü</a:t>
            </a:r>
          </a:p>
        </p:txBody>
      </p:sp>
      <p:sp>
        <p:nvSpPr>
          <p:cNvPr id="20" name="reveal-5::shape-111">
            <a:extLst xmlns:a="http://schemas.openxmlformats.org/drawingml/2006/main">
              <a:ext uri="{FF2B5EF4-FFF2-40B4-BE49-F238E27FC236}">
                <a16:creationId xmlns:a16="http://schemas.microsoft.com/office/drawing/2014/main" id="{9D8BAFA6-627D-46E2-828C-C8E4FBBC3BBD}"/>
              </a:ext>
            </a:extLst>
          </p:cNvPr>
          <p:cNvSpPr>
            <a:spLocks xmlns:a="http://schemas.openxmlformats.org/drawingml/2006/main" noGrp="1"/>
          </p:cNvSpPr>
          <p:nvPr/>
        </p:nvSpPr>
        <p:spPr>
          <a:xfrm xmlns:a="http://schemas.openxmlformats.org/drawingml/2006/main">
            <a:off x="8477250" y="3695700"/>
            <a:ext cx="2952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087F83"/>
                </a:solidFill>
                <a:latin typeface="Arial"/>
                <a:ea typeface="Arial"/>
                <a:cs typeface="Arial"/>
              </a:defRPr>
            </a:pPr>
            <a:r>
              <a:rPr sz="6525" b="1">
                <a:solidFill>
                  <a:srgbClr val="087F83"/>
                </a:solidFill>
                <a:latin typeface="Arial"/>
                <a:ea typeface="Arial"/>
                <a:cs typeface="Arial"/>
              </a:rPr>
              <a:t>84</a:t>
            </a:r>
          </a:p>
        </p:txBody>
      </p:sp>
      <p:sp>
        <p:nvSpPr>
          <p:cNvPr id="21" name="reveal-5::shape-112">
            <a:extLst xmlns:a="http://schemas.openxmlformats.org/drawingml/2006/main">
              <a:ext uri="{FF2B5EF4-FFF2-40B4-BE49-F238E27FC236}">
                <a16:creationId xmlns:a16="http://schemas.microsoft.com/office/drawing/2014/main" id="{FC7FE5D7-89B0-4B6D-B5BE-6BB671B7ABD4}"/>
              </a:ext>
            </a:extLst>
          </p:cNvPr>
          <p:cNvSpPr>
            <a:spLocks xmlns:a="http://schemas.openxmlformats.org/drawingml/2006/main" noGrp="1"/>
          </p:cNvSpPr>
          <p:nvPr/>
        </p:nvSpPr>
        <p:spPr>
          <a:xfrm xmlns:a="http://schemas.openxmlformats.org/drawingml/2006/main">
            <a:off x="8477250" y="49149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343"/>
                </a:solidFill>
                <a:latin typeface="Arial"/>
                <a:ea typeface="Arial"/>
                <a:cs typeface="Arial"/>
              </a:defRPr>
            </a:pPr>
            <a:r>
              <a:rPr sz="1950" b="0">
                <a:solidFill>
                  <a:srgbClr val="173343"/>
                </a:solidFill>
                <a:latin typeface="Arial"/>
                <a:ea typeface="Arial"/>
                <a:cs typeface="Arial"/>
              </a:rPr>
              <a:t>test edilmiş gen</a:t>
            </a:r>
          </a:p>
        </p:txBody>
      </p:sp>
      <p:sp>
        <p:nvSpPr>
          <p:cNvPr id="22" name="reveal-6::shape-113">
            <a:extLst xmlns:a="http://schemas.openxmlformats.org/drawingml/2006/main">
              <a:ext uri="{FF2B5EF4-FFF2-40B4-BE49-F238E27FC236}">
                <a16:creationId xmlns:a16="http://schemas.microsoft.com/office/drawing/2014/main" id="{FABA2676-BAFE-4E80-A54F-32A64BD4C52C}"/>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Əlavə DNA fixture: 32 variant, 27 PASS. Kiçik integration sınağı, tam genom benchmark-ı deyil.</a:t>
            </a:r>
          </a:p>
        </p:txBody>
      </p:sp>
      <p:sp>
        <p:nvSpPr>
          <p:cNvPr id="23" name="reveal-0::shape-114">
            <a:extLst xmlns:a="http://schemas.openxmlformats.org/drawingml/2006/main">
              <a:ext uri="{FF2B5EF4-FFF2-40B4-BE49-F238E27FC236}">
                <a16:creationId xmlns:a16="http://schemas.microsoft.com/office/drawing/2014/main" id="{426A70DC-20FC-40BD-9305-F79F6545C7D9}"/>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14</a:t>
            </a:r>
          </a:p>
        </p:txBody>
      </p:sp>
    </p:spTree>
    <p:extLst>
      <p:ext uri="{BB962C8B-B14F-4D97-AF65-F5344CB8AC3E}">
        <p14:creationId xmlns:p14="http://schemas.microsoft.com/office/powerpoint/2010/main" val="1533548500"/>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24"/>
                                  </p:tgtEl>
                                  <p:attrNameLst>
                                    <p:attrName>style.visibility</p:attrName>
                                  </p:attrNameLst>
                                </p:cBhvr>
                                <p:to>
                                  <p:strVal val="visible"/>
                                </p:to>
                              </p:set>
                              <p:animEffect transition="in" filter="fade">
                                <p:cBhvr>
                                  <p:cTn id="6" dur="550" fill="hold"/>
                                  <p:tgtEl>
                                    <p:spTgt spid="24"/>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26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520"/>
                            </p:stCondLst>
                            <p:childTnList>
                              <p:set>
                                <p:cBhvr>
                                  <p:cTn id="17" dur="1" fill="hold">
                                    <p:stCondLst>
                                      <p:cond delay="0"/>
                                    </p:stCondLst>
                                  </p:cTn>
                                  <p:tgtEl>
                                    <p:spTgt spid="16"/>
                                  </p:tgtEl>
                                  <p:attrNameLst>
                                    <p:attrName>style.visibility</p:attrName>
                                  </p:attrNameLst>
                                </p:cBhvr>
                                <p:to>
                                  <p:strVal val="visible"/>
                                </p:to>
                              </p:set>
                              <p:animEffect transition="in" filter="fade">
                                <p:cBhvr>
                                  <p:cTn id="18" dur="550" fill="hold"/>
                                  <p:tgtEl>
                                    <p:spTgt spid="16"/>
                                  </p:tgtEl>
                                </p:cBhvr>
                              </p:animEffect>
                            </p:childTnList>
                          </p:cTn>
                        </p:par>
                        <p:par>
                          <p:cTn id="19" presetID="10" presetClass="entr" presetSubtype="0" fill="hold" grpId="0" nodeType="withEffect">
                            <p:stCondLst>
                              <p:cond delay="520"/>
                            </p:stCondLst>
                            <p:childTnList>
                              <p:set>
                                <p:cBhvr>
                                  <p:cTn id="20" dur="1" fill="hold">
                                    <p:stCondLst>
                                      <p:cond delay="0"/>
                                    </p:stCondLst>
                                  </p:cTn>
                                  <p:tgtEl>
                                    <p:spTgt spid="17"/>
                                  </p:tgtEl>
                                  <p:attrNameLst>
                                    <p:attrName>style.visibility</p:attrName>
                                  </p:attrNameLst>
                                </p:cBhvr>
                                <p:to>
                                  <p:strVal val="visible"/>
                                </p:to>
                              </p:set>
                              <p:animEffect transition="in" filter="fade">
                                <p:cBhvr>
                                  <p:cTn id="21" dur="550" fill="hold"/>
                                  <p:tgtEl>
                                    <p:spTgt spid="17"/>
                                  </p:tgtEl>
                                </p:cBhvr>
                              </p:animEffect>
                            </p:childTnList>
                          </p:cTn>
                        </p:par>
                        <p:par>
                          <p:cTn id="22" presetID="10" presetClass="entr" presetSubtype="0" fill="hold" grpId="0" nodeType="withEffect">
                            <p:stCondLst>
                              <p:cond delay="520"/>
                            </p:stCondLst>
                            <p:childTnList>
                              <p:set>
                                <p:cBhvr>
                                  <p:cTn id="23" dur="1" fill="hold">
                                    <p:stCondLst>
                                      <p:cond delay="0"/>
                                    </p:stCondLst>
                                  </p:cTn>
                                  <p:tgtEl>
                                    <p:spTgt spid="5"/>
                                  </p:tgtEl>
                                  <p:attrNameLst>
                                    <p:attrName>style.visibility</p:attrName>
                                  </p:attrNameLst>
                                </p:cBhvr>
                                <p:to>
                                  <p:strVal val="visible"/>
                                </p:to>
                              </p:set>
                              <p:animEffect transition="in" filter="fade">
                                <p:cBhvr>
                                  <p:cTn id="24" dur="550" fill="hold"/>
                                  <p:tgtEl>
                                    <p:spTgt spid="5"/>
                                  </p:tgtEl>
                                </p:cBhvr>
                              </p:animEffect>
                            </p:childTnList>
                          </p:cTn>
                        </p:par>
                        <p:par>
                          <p:cTn id="25" presetID="10" presetClass="entr" presetSubtype="0" fill="hold" grpId="0" nodeType="withEffect">
                            <p:stCondLst>
                              <p:cond delay="520"/>
                            </p:stCondLst>
                            <p:childTnList>
                              <p:set>
                                <p:cBhvr>
                                  <p:cTn id="26" dur="1" fill="hold">
                                    <p:stCondLst>
                                      <p:cond delay="0"/>
                                    </p:stCondLst>
                                  </p:cTn>
                                  <p:tgtEl>
                                    <p:spTgt spid="6"/>
                                  </p:tgtEl>
                                  <p:attrNameLst>
                                    <p:attrName>style.visibility</p:attrName>
                                  </p:attrNameLst>
                                </p:cBhvr>
                                <p:to>
                                  <p:strVal val="visible"/>
                                </p:to>
                              </p:set>
                              <p:animEffect transition="in" filter="fade">
                                <p:cBhvr>
                                  <p:cTn id="27" dur="550" fill="hold"/>
                                  <p:tgtEl>
                                    <p:spTgt spid="6"/>
                                  </p:tgtEl>
                                </p:cBhvr>
                              </p:animEffect>
                            </p:childTnList>
                          </p:cTn>
                        </p:par>
                        <p:par>
                          <p:cTn id="28" presetID="10" presetClass="entr" presetSubtype="0" fill="hold" grpId="0" nodeType="withEffect">
                            <p:stCondLst>
                              <p:cond delay="520"/>
                            </p:stCondLst>
                            <p:childTnList>
                              <p:set>
                                <p:cBhvr>
                                  <p:cTn id="29" dur="1" fill="hold">
                                    <p:stCondLst>
                                      <p:cond delay="0"/>
                                    </p:stCondLst>
                                  </p:cTn>
                                  <p:tgtEl>
                                    <p:spTgt spid="7"/>
                                  </p:tgtEl>
                                  <p:attrNameLst>
                                    <p:attrName>style.visibility</p:attrName>
                                  </p:attrNameLst>
                                </p:cBhvr>
                                <p:to>
                                  <p:strVal val="visible"/>
                                </p:to>
                              </p:set>
                              <p:animEffect transition="in" filter="fade">
                                <p:cBhvr>
                                  <p:cTn id="30" dur="550" fill="hold"/>
                                  <p:tgtEl>
                                    <p:spTgt spid="7"/>
                                  </p:tgtEl>
                                </p:cBhvr>
                              </p:animEffect>
                            </p:childTnList>
                          </p:cTn>
                        </p:par>
                        <p:par>
                          <p:cTn id="31" presetID="10" presetClass="entr" presetSubtype="0" fill="hold" grpId="0" nodeType="withEffect">
                            <p:stCondLst>
                              <p:cond delay="780"/>
                            </p:stCondLst>
                            <p:childTnList>
                              <p:set>
                                <p:cBhvr>
                                  <p:cTn id="32" dur="1" fill="hold">
                                    <p:stCondLst>
                                      <p:cond delay="0"/>
                                    </p:stCondLst>
                                  </p:cTn>
                                  <p:tgtEl>
                                    <p:spTgt spid="10"/>
                                  </p:tgtEl>
                                  <p:attrNameLst>
                                    <p:attrName>style.visibility</p:attrName>
                                  </p:attrNameLst>
                                </p:cBhvr>
                                <p:to>
                                  <p:strVal val="visible"/>
                                </p:to>
                              </p:set>
                              <p:animEffect transition="in" filter="fade">
                                <p:cBhvr>
                                  <p:cTn id="33" dur="550" fill="hold"/>
                                  <p:tgtEl>
                                    <p:spTgt spid="10"/>
                                  </p:tgtEl>
                                </p:cBhvr>
                              </p:animEffect>
                            </p:childTnList>
                          </p:cTn>
                        </p:par>
                        <p:par>
                          <p:cTn id="34" presetID="10" presetClass="entr" presetSubtype="0" fill="hold" grpId="0" nodeType="withEffect">
                            <p:stCondLst>
                              <p:cond delay="780"/>
                            </p:stCondLst>
                            <p:childTnList>
                              <p:set>
                                <p:cBhvr>
                                  <p:cTn id="35" dur="1" fill="hold">
                                    <p:stCondLst>
                                      <p:cond delay="0"/>
                                    </p:stCondLst>
                                  </p:cTn>
                                  <p:tgtEl>
                                    <p:spTgt spid="18"/>
                                  </p:tgtEl>
                                  <p:attrNameLst>
                                    <p:attrName>style.visibility</p:attrName>
                                  </p:attrNameLst>
                                </p:cBhvr>
                                <p:to>
                                  <p:strVal val="visible"/>
                                </p:to>
                              </p:set>
                              <p:animEffect transition="in" filter="fade">
                                <p:cBhvr>
                                  <p:cTn id="36" dur="550" fill="hold"/>
                                  <p:tgtEl>
                                    <p:spTgt spid="18"/>
                                  </p:tgtEl>
                                </p:cBhvr>
                              </p:animEffect>
                            </p:childTnList>
                          </p:cTn>
                        </p:par>
                        <p:par>
                          <p:cTn id="37" presetID="10" presetClass="entr" presetSubtype="0" fill="hold" grpId="0" nodeType="withEffect">
                            <p:stCondLst>
                              <p:cond delay="780"/>
                            </p:stCondLst>
                            <p:childTnList>
                              <p:set>
                                <p:cBhvr>
                                  <p:cTn id="38" dur="1" fill="hold">
                                    <p:stCondLst>
                                      <p:cond delay="0"/>
                                    </p:stCondLst>
                                  </p:cTn>
                                  <p:tgtEl>
                                    <p:spTgt spid="19"/>
                                  </p:tgtEl>
                                  <p:attrNameLst>
                                    <p:attrName>style.visibility</p:attrName>
                                  </p:attrNameLst>
                                </p:cBhvr>
                                <p:to>
                                  <p:strVal val="visible"/>
                                </p:to>
                              </p:set>
                              <p:animEffect transition="in" filter="fade">
                                <p:cBhvr>
                                  <p:cTn id="39" dur="550" fill="hold"/>
                                  <p:tgtEl>
                                    <p:spTgt spid="19"/>
                                  </p:tgtEl>
                                </p:cBhvr>
                              </p:animEffect>
                            </p:childTnList>
                          </p:cTn>
                        </p:par>
                        <p:par>
                          <p:cTn id="40" presetID="10" presetClass="entr" presetSubtype="0" fill="hold" grpId="0" nodeType="withEffect">
                            <p:stCondLst>
                              <p:cond delay="780"/>
                            </p:stCondLst>
                            <p:childTnList>
                              <p:set>
                                <p:cBhvr>
                                  <p:cTn id="41" dur="1" fill="hold">
                                    <p:stCondLst>
                                      <p:cond delay="0"/>
                                    </p:stCondLst>
                                  </p:cTn>
                                  <p:tgtEl>
                                    <p:spTgt spid="8"/>
                                  </p:tgtEl>
                                  <p:attrNameLst>
                                    <p:attrName>style.visibility</p:attrName>
                                  </p:attrNameLst>
                                </p:cBhvr>
                                <p:to>
                                  <p:strVal val="visible"/>
                                </p:to>
                              </p:set>
                              <p:animEffect transition="in" filter="fade">
                                <p:cBhvr>
                                  <p:cTn id="42" dur="550" fill="hold"/>
                                  <p:tgtEl>
                                    <p:spTgt spid="8"/>
                                  </p:tgtEl>
                                </p:cBhvr>
                              </p:animEffect>
                            </p:childTnList>
                          </p:cTn>
                        </p:par>
                        <p:par>
                          <p:cTn id="43" presetID="10" presetClass="entr" presetSubtype="0" fill="hold" grpId="0" nodeType="withEffect">
                            <p:stCondLst>
                              <p:cond delay="780"/>
                            </p:stCondLst>
                            <p:childTnList>
                              <p:set>
                                <p:cBhvr>
                                  <p:cTn id="44" dur="1" fill="hold">
                                    <p:stCondLst>
                                      <p:cond delay="0"/>
                                    </p:stCondLst>
                                  </p:cTn>
                                  <p:tgtEl>
                                    <p:spTgt spid="9"/>
                                  </p:tgtEl>
                                  <p:attrNameLst>
                                    <p:attrName>style.visibility</p:attrName>
                                  </p:attrNameLst>
                                </p:cBhvr>
                                <p:to>
                                  <p:strVal val="visible"/>
                                </p:to>
                              </p:set>
                              <p:animEffect transition="in" filter="fade">
                                <p:cBhvr>
                                  <p:cTn id="45" dur="550" fill="hold"/>
                                  <p:tgtEl>
                                    <p:spTgt spid="9"/>
                                  </p:tgtEl>
                                </p:cBhvr>
                              </p:animEffect>
                            </p:childTnList>
                          </p:cTn>
                        </p:par>
                        <p:par>
                          <p:cTn id="46" presetID="10" presetClass="entr" presetSubtype="0" fill="hold" grpId="0" nodeType="withEffect">
                            <p:stCondLst>
                              <p:cond delay="1040"/>
                            </p:stCondLst>
                            <p:childTnList>
                              <p:set>
                                <p:cBhvr>
                                  <p:cTn id="47" dur="1" fill="hold">
                                    <p:stCondLst>
                                      <p:cond delay="0"/>
                                    </p:stCondLst>
                                  </p:cTn>
                                  <p:tgtEl>
                                    <p:spTgt spid="11"/>
                                  </p:tgtEl>
                                  <p:attrNameLst>
                                    <p:attrName>style.visibility</p:attrName>
                                  </p:attrNameLst>
                                </p:cBhvr>
                                <p:to>
                                  <p:strVal val="visible"/>
                                </p:to>
                              </p:set>
                              <p:animEffect transition="in" filter="fade">
                                <p:cBhvr>
                                  <p:cTn id="48" dur="550" fill="hold"/>
                                  <p:tgtEl>
                                    <p:spTgt spid="11"/>
                                  </p:tgtEl>
                                </p:cBhvr>
                              </p:animEffect>
                            </p:childTnList>
                          </p:cTn>
                        </p:par>
                        <p:par>
                          <p:cTn id="49" presetID="10" presetClass="entr" presetSubtype="0" fill="hold" grpId="0" nodeType="withEffect">
                            <p:stCondLst>
                              <p:cond delay="1040"/>
                            </p:stCondLst>
                            <p:childTnList>
                              <p:set>
                                <p:cBhvr>
                                  <p:cTn id="50" dur="1" fill="hold">
                                    <p:stCondLst>
                                      <p:cond delay="0"/>
                                    </p:stCondLst>
                                  </p:cTn>
                                  <p:tgtEl>
                                    <p:spTgt spid="12"/>
                                  </p:tgtEl>
                                  <p:attrNameLst>
                                    <p:attrName>style.visibility</p:attrName>
                                  </p:attrNameLst>
                                </p:cBhvr>
                                <p:to>
                                  <p:strVal val="visible"/>
                                </p:to>
                              </p:set>
                              <p:animEffect transition="in" filter="fade">
                                <p:cBhvr>
                                  <p:cTn id="51" dur="550" fill="hold"/>
                                  <p:tgtEl>
                                    <p:spTgt spid="12"/>
                                  </p:tgtEl>
                                </p:cBhvr>
                              </p:animEffect>
                            </p:childTnList>
                          </p:cTn>
                        </p:par>
                        <p:par>
                          <p:cTn id="52" presetID="10" presetClass="entr" presetSubtype="0" fill="hold" grpId="0" nodeType="withEffect">
                            <p:stCondLst>
                              <p:cond delay="1040"/>
                            </p:stCondLst>
                            <p:childTnList>
                              <p:set>
                                <p:cBhvr>
                                  <p:cTn id="53" dur="1" fill="hold">
                                    <p:stCondLst>
                                      <p:cond delay="0"/>
                                    </p:stCondLst>
                                  </p:cTn>
                                  <p:tgtEl>
                                    <p:spTgt spid="13"/>
                                  </p:tgtEl>
                                  <p:attrNameLst>
                                    <p:attrName>style.visibility</p:attrName>
                                  </p:attrNameLst>
                                </p:cBhvr>
                                <p:to>
                                  <p:strVal val="visible"/>
                                </p:to>
                              </p:set>
                              <p:animEffect transition="in" filter="fade">
                                <p:cBhvr>
                                  <p:cTn id="54" dur="550" fill="hold"/>
                                  <p:tgtEl>
                                    <p:spTgt spid="13"/>
                                  </p:tgtEl>
                                </p:cBhvr>
                              </p:animEffect>
                            </p:childTnList>
                          </p:cTn>
                        </p:par>
                        <p:par>
                          <p:cTn id="55" presetID="10" presetClass="entr" presetSubtype="0" fill="hold" grpId="0" nodeType="withEffect">
                            <p:stCondLst>
                              <p:cond delay="1040"/>
                            </p:stCondLst>
                            <p:childTnList>
                              <p:set>
                                <p:cBhvr>
                                  <p:cTn id="56" dur="1" fill="hold">
                                    <p:stCondLst>
                                      <p:cond delay="0"/>
                                    </p:stCondLst>
                                  </p:cTn>
                                  <p:tgtEl>
                                    <p:spTgt spid="20"/>
                                  </p:tgtEl>
                                  <p:attrNameLst>
                                    <p:attrName>style.visibility</p:attrName>
                                  </p:attrNameLst>
                                </p:cBhvr>
                                <p:to>
                                  <p:strVal val="visible"/>
                                </p:to>
                              </p:set>
                              <p:animEffect transition="in" filter="fade">
                                <p:cBhvr>
                                  <p:cTn id="57" dur="550" fill="hold"/>
                                  <p:tgtEl>
                                    <p:spTgt spid="20"/>
                                  </p:tgtEl>
                                </p:cBhvr>
                              </p:animEffect>
                            </p:childTnList>
                          </p:cTn>
                        </p:par>
                        <p:par>
                          <p:cTn id="58" presetID="10" presetClass="entr" presetSubtype="0" fill="hold" grpId="0" nodeType="withEffect">
                            <p:stCondLst>
                              <p:cond delay="1040"/>
                            </p:stCondLst>
                            <p:childTnList>
                              <p:set>
                                <p:cBhvr>
                                  <p:cTn id="59" dur="1" fill="hold">
                                    <p:stCondLst>
                                      <p:cond delay="0"/>
                                    </p:stCondLst>
                                  </p:cTn>
                                  <p:tgtEl>
                                    <p:spTgt spid="21"/>
                                  </p:tgtEl>
                                  <p:attrNameLst>
                                    <p:attrName>style.visibility</p:attrName>
                                  </p:attrNameLst>
                                </p:cBhvr>
                                <p:to>
                                  <p:strVal val="visible"/>
                                </p:to>
                              </p:set>
                              <p:animEffect transition="in" filter="fade">
                                <p:cBhvr>
                                  <p:cTn id="60" dur="550" fill="hold"/>
                                  <p:tgtEl>
                                    <p:spTgt spid="21"/>
                                  </p:tgtEl>
                                </p:cBhvr>
                              </p:animEffect>
                            </p:childTnList>
                          </p:cTn>
                        </p:par>
                        <p:par>
                          <p:cTn id="61" presetID="10" presetClass="entr" presetSubtype="0" fill="hold" grpId="0" nodeType="withEffect">
                            <p:stCondLst>
                              <p:cond delay="1300"/>
                            </p:stCondLst>
                            <p:childTnList>
                              <p:set>
                                <p:cBhvr>
                                  <p:cTn id="62" dur="1" fill="hold">
                                    <p:stCondLst>
                                      <p:cond delay="0"/>
                                    </p:stCondLst>
                                  </p:cTn>
                                  <p:tgtEl>
                                    <p:spTgt spid="14"/>
                                  </p:tgtEl>
                                  <p:attrNameLst>
                                    <p:attrName>style.visibility</p:attrName>
                                  </p:attrNameLst>
                                </p:cBhvr>
                                <p:to>
                                  <p:strVal val="visible"/>
                                </p:to>
                              </p:set>
                              <p:animEffect transition="in" filter="fade">
                                <p:cBhvr>
                                  <p:cTn id="63" dur="550" fill="hold"/>
                                  <p:tgtEl>
                                    <p:spTgt spid="14"/>
                                  </p:tgtEl>
                                </p:cBhvr>
                              </p:animEffect>
                            </p:childTnList>
                          </p:cTn>
                        </p:par>
                        <p:par>
                          <p:cTn id="64" presetID="10" presetClass="entr" presetSubtype="0" fill="hold" grpId="0" nodeType="withEffect">
                            <p:stCondLst>
                              <p:cond delay="1300"/>
                            </p:stCondLst>
                            <p:childTnList>
                              <p:set>
                                <p:cBhvr>
                                  <p:cTn id="65" dur="1" fill="hold">
                                    <p:stCondLst>
                                      <p:cond delay="0"/>
                                    </p:stCondLst>
                                  </p:cTn>
                                  <p:tgtEl>
                                    <p:spTgt spid="15"/>
                                  </p:tgtEl>
                                  <p:attrNameLst>
                                    <p:attrName>style.visibility</p:attrName>
                                  </p:attrNameLst>
                                </p:cBhvr>
                                <p:to>
                                  <p:strVal val="visible"/>
                                </p:to>
                              </p:set>
                              <p:animEffect transition="in" filter="fade">
                                <p:cBhvr>
                                  <p:cTn id="66" dur="550" fill="hold"/>
                                  <p:tgtEl>
                                    <p:spTgt spid="15"/>
                                  </p:tgtEl>
                                </p:cBhvr>
                              </p:animEffect>
                            </p:childTnList>
                          </p:cTn>
                        </p:par>
                        <p:par>
                          <p:cTn id="67" presetID="10" presetClass="entr" presetSubtype="0" fill="hold" grpId="0" nodeType="withEffect">
                            <p:stCondLst>
                              <p:cond delay="1300"/>
                            </p:stCondLst>
                            <p:childTnList>
                              <p:set>
                                <p:cBhvr>
                                  <p:cTn id="68" dur="1" fill="hold">
                                    <p:stCondLst>
                                      <p:cond delay="0"/>
                                    </p:stCondLst>
                                  </p:cTn>
                                  <p:tgtEl>
                                    <p:spTgt spid="22"/>
                                  </p:tgtEl>
                                  <p:attrNameLst>
                                    <p:attrName>style.visibility</p:attrName>
                                  </p:attrNameLst>
                                </p:cBhvr>
                                <p:to>
                                  <p:strVal val="visible"/>
                                </p:to>
                              </p:set>
                              <p:animEffect transition="in" filter="fade">
                                <p:cBhvr>
                                  <p:cTn id="69" dur="550" fill="hold"/>
                                  <p:tgtEl>
                                    <p:spTgt spid="22"/>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1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0" name="reveal-1::shape-115">
            <a:extLst xmlns:a="http://schemas.openxmlformats.org/drawingml/2006/main">
              <a:ext uri="{FF2B5EF4-FFF2-40B4-BE49-F238E27FC236}">
                <a16:creationId xmlns:a16="http://schemas.microsoft.com/office/drawing/2014/main" id="{45D9A4BF-8391-4A86-8C79-859589779282}"/>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Hər nəticənin izlənən mənşəyi</a:t>
            </a:r>
          </a:p>
        </p:txBody>
      </p:sp>
      <p:sp>
        <p:nvSpPr>
          <p:cNvPr id="2" name="reveal-2::shape-116">
            <a:extLst xmlns:a="http://schemas.openxmlformats.org/drawingml/2006/main">
              <a:ext uri="{FF2B5EF4-FFF2-40B4-BE49-F238E27FC236}">
                <a16:creationId xmlns:a16="http://schemas.microsoft.com/office/drawing/2014/main" id="{E6A2F3E9-547D-4844-B191-ADDCF73AB4D5}"/>
              </a:ext>
            </a:extLst>
          </p:cNvPr>
          <p:cNvSpPr>
            <a:spLocks xmlns:a="http://schemas.openxmlformats.org/drawingml/2006/main" noGrp="1"/>
          </p:cNvSpPr>
          <p:nvPr/>
        </p:nvSpPr>
        <p:spPr>
          <a:xfrm xmlns:a="http://schemas.openxmlformats.org/drawingml/2006/main">
            <a:off x="666750" y="1933575"/>
            <a:ext cx="495300" cy="495300"/>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3" name="reveal-2::shape-117">
            <a:extLst xmlns:a="http://schemas.openxmlformats.org/drawingml/2006/main">
              <a:ext uri="{FF2B5EF4-FFF2-40B4-BE49-F238E27FC236}">
                <a16:creationId xmlns:a16="http://schemas.microsoft.com/office/drawing/2014/main" id="{35D50668-6C6A-45E2-8C96-D5C6B5427939}"/>
              </a:ext>
            </a:extLst>
          </p:cNvPr>
          <p:cNvSpPr>
            <a:spLocks xmlns:a="http://schemas.openxmlformats.org/drawingml/2006/main" noGrp="1"/>
          </p:cNvSpPr>
          <p:nvPr/>
        </p:nvSpPr>
        <p:spPr>
          <a:xfrm xmlns:a="http://schemas.openxmlformats.org/drawingml/2006/main">
            <a:off x="752475" y="1990725"/>
            <a:ext cx="38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1</a:t>
            </a:r>
          </a:p>
        </p:txBody>
      </p:sp>
      <p:sp>
        <p:nvSpPr>
          <p:cNvPr id="4" name="reveal-2::shape-118">
            <a:extLst xmlns:a="http://schemas.openxmlformats.org/drawingml/2006/main">
              <a:ext uri="{FF2B5EF4-FFF2-40B4-BE49-F238E27FC236}">
                <a16:creationId xmlns:a16="http://schemas.microsoft.com/office/drawing/2014/main" id="{FD297C0E-0D20-4E83-8B76-C84926B75E67}"/>
              </a:ext>
            </a:extLst>
          </p:cNvPr>
          <p:cNvSpPr>
            <a:spLocks xmlns:a="http://schemas.openxmlformats.org/drawingml/2006/main" noGrp="1"/>
          </p:cNvSpPr>
          <p:nvPr/>
        </p:nvSpPr>
        <p:spPr>
          <a:xfrm xmlns:a="http://schemas.openxmlformats.org/drawingml/2006/main">
            <a:off x="666750" y="2657475"/>
            <a:ext cx="2876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Input</a:t>
            </a:r>
          </a:p>
        </p:txBody>
      </p:sp>
      <p:sp>
        <p:nvSpPr>
          <p:cNvPr id="5" name="reveal-2::shape-119">
            <a:extLst xmlns:a="http://schemas.openxmlformats.org/drawingml/2006/main">
              <a:ext uri="{FF2B5EF4-FFF2-40B4-BE49-F238E27FC236}">
                <a16:creationId xmlns:a16="http://schemas.microsoft.com/office/drawing/2014/main" id="{3F46E945-BC39-4050-840B-78A9ACA1E43F}"/>
              </a:ext>
            </a:extLst>
          </p:cNvPr>
          <p:cNvSpPr>
            <a:spLocks xmlns:a="http://schemas.openxmlformats.org/drawingml/2006/main" noGrp="1"/>
          </p:cNvSpPr>
          <p:nvPr/>
        </p:nvSpPr>
        <p:spPr>
          <a:xfrm xmlns:a="http://schemas.openxmlformats.org/drawingml/2006/main">
            <a:off x="666750" y="3314700"/>
            <a:ext cx="2876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Accession, versiya</a:t>
            </a:r>
          </a:p>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və hash</a:t>
            </a:r>
          </a:p>
        </p:txBody>
      </p:sp>
      <p:sp>
        <p:nvSpPr>
          <p:cNvPr id="6" name="reveal-2::shape-120">
            <a:extLst xmlns:a="http://schemas.openxmlformats.org/drawingml/2006/main">
              <a:ext uri="{FF2B5EF4-FFF2-40B4-BE49-F238E27FC236}">
                <a16:creationId xmlns:a16="http://schemas.microsoft.com/office/drawing/2014/main" id="{4ECCC712-C3E1-47BB-AF62-F479A405DFD1}"/>
              </a:ext>
            </a:extLst>
          </p:cNvPr>
          <p:cNvSpPr>
            <a:spLocks xmlns:a="http://schemas.openxmlformats.org/drawingml/2006/main" noGrp="1"/>
          </p:cNvSpPr>
          <p:nvPr/>
        </p:nvSpPr>
        <p:spPr>
          <a:xfrm xmlns:a="http://schemas.openxmlformats.org/drawingml/2006/main">
            <a:off x="3009900" y="2124075"/>
            <a:ext cx="1162050"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7" name="reveal-3::shape-121">
            <a:extLst xmlns:a="http://schemas.openxmlformats.org/drawingml/2006/main">
              <a:ext uri="{FF2B5EF4-FFF2-40B4-BE49-F238E27FC236}">
                <a16:creationId xmlns:a16="http://schemas.microsoft.com/office/drawing/2014/main" id="{993D37E0-DC72-4DDE-9FA1-DD277067323E}"/>
              </a:ext>
            </a:extLst>
          </p:cNvPr>
          <p:cNvSpPr>
            <a:spLocks xmlns:a="http://schemas.openxmlformats.org/drawingml/2006/main" noGrp="1"/>
          </p:cNvSpPr>
          <p:nvPr/>
        </p:nvSpPr>
        <p:spPr>
          <a:xfrm xmlns:a="http://schemas.openxmlformats.org/drawingml/2006/main">
            <a:off x="4581525" y="1933575"/>
            <a:ext cx="495300" cy="495300"/>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8" name="reveal-3::shape-122">
            <a:extLst xmlns:a="http://schemas.openxmlformats.org/drawingml/2006/main">
              <a:ext uri="{FF2B5EF4-FFF2-40B4-BE49-F238E27FC236}">
                <a16:creationId xmlns:a16="http://schemas.microsoft.com/office/drawing/2014/main" id="{53770894-E099-4524-A6C7-417E110FB8B9}"/>
              </a:ext>
            </a:extLst>
          </p:cNvPr>
          <p:cNvSpPr>
            <a:spLocks xmlns:a="http://schemas.openxmlformats.org/drawingml/2006/main" noGrp="1"/>
          </p:cNvSpPr>
          <p:nvPr/>
        </p:nvSpPr>
        <p:spPr>
          <a:xfrm xmlns:a="http://schemas.openxmlformats.org/drawingml/2006/main">
            <a:off x="4667250" y="1990725"/>
            <a:ext cx="38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2</a:t>
            </a:r>
          </a:p>
        </p:txBody>
      </p:sp>
      <p:sp>
        <p:nvSpPr>
          <p:cNvPr id="9" name="reveal-3::shape-123">
            <a:extLst xmlns:a="http://schemas.openxmlformats.org/drawingml/2006/main">
              <a:ext uri="{FF2B5EF4-FFF2-40B4-BE49-F238E27FC236}">
                <a16:creationId xmlns:a16="http://schemas.microsoft.com/office/drawing/2014/main" id="{740B28E8-2BE2-42E4-8309-13B83A649EAC}"/>
              </a:ext>
            </a:extLst>
          </p:cNvPr>
          <p:cNvSpPr>
            <a:spLocks xmlns:a="http://schemas.openxmlformats.org/drawingml/2006/main" noGrp="1"/>
          </p:cNvSpPr>
          <p:nvPr/>
        </p:nvSpPr>
        <p:spPr>
          <a:xfrm xmlns:a="http://schemas.openxmlformats.org/drawingml/2006/main">
            <a:off x="4581525" y="2657475"/>
            <a:ext cx="2876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İcra</a:t>
            </a:r>
          </a:p>
        </p:txBody>
      </p:sp>
      <p:sp>
        <p:nvSpPr>
          <p:cNvPr id="10" name="reveal-3::shape-124">
            <a:extLst xmlns:a="http://schemas.openxmlformats.org/drawingml/2006/main">
              <a:ext uri="{FF2B5EF4-FFF2-40B4-BE49-F238E27FC236}">
                <a16:creationId xmlns:a16="http://schemas.microsoft.com/office/drawing/2014/main" id="{E01322BA-6680-4B13-899A-3B898FDB45AD}"/>
              </a:ext>
            </a:extLst>
          </p:cNvPr>
          <p:cNvSpPr>
            <a:spLocks xmlns:a="http://schemas.openxmlformats.org/drawingml/2006/main" noGrp="1"/>
          </p:cNvSpPr>
          <p:nvPr/>
        </p:nvSpPr>
        <p:spPr>
          <a:xfrm xmlns:a="http://schemas.openxmlformats.org/drawingml/2006/main">
            <a:off x="4581525" y="3314700"/>
            <a:ext cx="2876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Parametr, mühit</a:t>
            </a:r>
          </a:p>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və log</a:t>
            </a:r>
          </a:p>
        </p:txBody>
      </p:sp>
      <p:sp>
        <p:nvSpPr>
          <p:cNvPr id="11" name="reveal-3::shape-125">
            <a:extLst xmlns:a="http://schemas.openxmlformats.org/drawingml/2006/main">
              <a:ext uri="{FF2B5EF4-FFF2-40B4-BE49-F238E27FC236}">
                <a16:creationId xmlns:a16="http://schemas.microsoft.com/office/drawing/2014/main" id="{710F0F2A-A9CA-4764-B455-A10F9BF6CB96}"/>
              </a:ext>
            </a:extLst>
          </p:cNvPr>
          <p:cNvSpPr>
            <a:spLocks xmlns:a="http://schemas.openxmlformats.org/drawingml/2006/main" noGrp="1"/>
          </p:cNvSpPr>
          <p:nvPr/>
        </p:nvSpPr>
        <p:spPr>
          <a:xfrm xmlns:a="http://schemas.openxmlformats.org/drawingml/2006/main">
            <a:off x="6924675" y="2124075"/>
            <a:ext cx="1162050"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12" name="reveal-4::shape-126">
            <a:extLst xmlns:a="http://schemas.openxmlformats.org/drawingml/2006/main">
              <a:ext uri="{FF2B5EF4-FFF2-40B4-BE49-F238E27FC236}">
                <a16:creationId xmlns:a16="http://schemas.microsoft.com/office/drawing/2014/main" id="{D9945F4E-CF0B-47E6-8342-DD6F8A2BAE24}"/>
              </a:ext>
            </a:extLst>
          </p:cNvPr>
          <p:cNvSpPr>
            <a:spLocks xmlns:a="http://schemas.openxmlformats.org/drawingml/2006/main" noGrp="1"/>
          </p:cNvSpPr>
          <p:nvPr/>
        </p:nvSpPr>
        <p:spPr>
          <a:xfrm xmlns:a="http://schemas.openxmlformats.org/drawingml/2006/main">
            <a:off x="8496300" y="1933575"/>
            <a:ext cx="495300" cy="495300"/>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13" name="reveal-4::shape-127">
            <a:extLst xmlns:a="http://schemas.openxmlformats.org/drawingml/2006/main">
              <a:ext uri="{FF2B5EF4-FFF2-40B4-BE49-F238E27FC236}">
                <a16:creationId xmlns:a16="http://schemas.microsoft.com/office/drawing/2014/main" id="{8D0CE176-E08E-44D7-B1AB-F0E881ACA034}"/>
              </a:ext>
            </a:extLst>
          </p:cNvPr>
          <p:cNvSpPr>
            <a:spLocks xmlns:a="http://schemas.openxmlformats.org/drawingml/2006/main" noGrp="1"/>
          </p:cNvSpPr>
          <p:nvPr/>
        </p:nvSpPr>
        <p:spPr>
          <a:xfrm xmlns:a="http://schemas.openxmlformats.org/drawingml/2006/main">
            <a:off x="8582025" y="1990725"/>
            <a:ext cx="38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3</a:t>
            </a:r>
          </a:p>
        </p:txBody>
      </p:sp>
      <p:sp>
        <p:nvSpPr>
          <p:cNvPr id="14" name="reveal-4::shape-128">
            <a:extLst xmlns:a="http://schemas.openxmlformats.org/drawingml/2006/main">
              <a:ext uri="{FF2B5EF4-FFF2-40B4-BE49-F238E27FC236}">
                <a16:creationId xmlns:a16="http://schemas.microsoft.com/office/drawing/2014/main" id="{57253E4B-74A5-4D24-B3DE-08DC56A57322}"/>
              </a:ext>
            </a:extLst>
          </p:cNvPr>
          <p:cNvSpPr>
            <a:spLocks xmlns:a="http://schemas.openxmlformats.org/drawingml/2006/main" noGrp="1"/>
          </p:cNvSpPr>
          <p:nvPr/>
        </p:nvSpPr>
        <p:spPr>
          <a:xfrm xmlns:a="http://schemas.openxmlformats.org/drawingml/2006/main">
            <a:off x="8496300" y="2657475"/>
            <a:ext cx="2876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Çıxış</a:t>
            </a:r>
          </a:p>
        </p:txBody>
      </p:sp>
      <p:sp>
        <p:nvSpPr>
          <p:cNvPr id="15" name="reveal-4::shape-129">
            <a:extLst xmlns:a="http://schemas.openxmlformats.org/drawingml/2006/main">
              <a:ext uri="{FF2B5EF4-FFF2-40B4-BE49-F238E27FC236}">
                <a16:creationId xmlns:a16="http://schemas.microsoft.com/office/drawing/2014/main" id="{A6C6A690-DB5E-44C6-B456-052747128534}"/>
              </a:ext>
            </a:extLst>
          </p:cNvPr>
          <p:cNvSpPr>
            <a:spLocks xmlns:a="http://schemas.openxmlformats.org/drawingml/2006/main" noGrp="1"/>
          </p:cNvSpPr>
          <p:nvPr/>
        </p:nvSpPr>
        <p:spPr>
          <a:xfrm xmlns:a="http://schemas.openxmlformats.org/drawingml/2006/main">
            <a:off x="8496300" y="3314700"/>
            <a:ext cx="2876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Status, cədvəl</a:t>
            </a:r>
          </a:p>
          <a:p xmlns:a="http://schemas.openxmlformats.org/drawingml/2006/main">
            <a:pPr>
              <a:defRPr sz="1725" b="0">
                <a:solidFill>
                  <a:srgbClr val="55717F"/>
                </a:solidFill>
                <a:latin typeface="Arial"/>
                <a:ea typeface="Arial"/>
                <a:cs typeface="Arial"/>
              </a:defRPr>
            </a:pPr>
            <a:r>
              <a:rPr sz="1725" b="0">
                <a:solidFill>
                  <a:srgbClr val="55717F"/>
                </a:solidFill>
                <a:latin typeface="Arial"/>
                <a:ea typeface="Arial"/>
                <a:cs typeface="Arial"/>
              </a:rPr>
              <a:t>və hash</a:t>
            </a:r>
          </a:p>
        </p:txBody>
      </p:sp>
      <p:sp>
        <p:nvSpPr>
          <p:cNvPr id="16" name="reveal-0::shape-130">
            <a:extLst xmlns:a="http://schemas.openxmlformats.org/drawingml/2006/main">
              <a:ext uri="{FF2B5EF4-FFF2-40B4-BE49-F238E27FC236}">
                <a16:creationId xmlns:a16="http://schemas.microsoft.com/office/drawing/2014/main" id="{87FF060D-E999-4232-A223-186942B678F1}"/>
              </a:ext>
            </a:extLst>
          </p:cNvPr>
          <p:cNvSpPr>
            <a:spLocks xmlns:a="http://schemas.openxmlformats.org/drawingml/2006/main" noGrp="1"/>
          </p:cNvSpPr>
          <p:nvPr/>
        </p:nvSpPr>
        <p:spPr>
          <a:xfrm xmlns:a="http://schemas.openxmlformats.org/drawingml/2006/main">
            <a:off x="571500" y="4962525"/>
            <a:ext cx="11049000" cy="742950"/>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17" name="reveal-5::shape-131">
            <a:extLst xmlns:a="http://schemas.openxmlformats.org/drawingml/2006/main">
              <a:ext uri="{FF2B5EF4-FFF2-40B4-BE49-F238E27FC236}">
                <a16:creationId xmlns:a16="http://schemas.microsoft.com/office/drawing/2014/main" id="{DDF3D70A-BCA7-48C4-A2C2-F0B655ED8832}"/>
              </a:ext>
            </a:extLst>
          </p:cNvPr>
          <p:cNvSpPr>
            <a:spLocks xmlns:a="http://schemas.openxmlformats.org/drawingml/2006/main" noGrp="1"/>
          </p:cNvSpPr>
          <p:nvPr/>
        </p:nvSpPr>
        <p:spPr>
          <a:xfrm xmlns:a="http://schemas.openxmlformats.org/drawingml/2006/main">
            <a:off x="790575" y="51339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Windows və Linux: 99 permutation score-u 1e-12 həddində uyğun gəlib</a:t>
            </a:r>
          </a:p>
        </p:txBody>
      </p:sp>
      <p:sp>
        <p:nvSpPr>
          <p:cNvPr id="18" name="reveal-6::shape-132">
            <a:extLst xmlns:a="http://schemas.openxmlformats.org/drawingml/2006/main">
              <a:ext uri="{FF2B5EF4-FFF2-40B4-BE49-F238E27FC236}">
                <a16:creationId xmlns:a16="http://schemas.microsoft.com/office/drawing/2014/main" id="{71252E28-8304-4034-93D5-346E32AE6B09}"/>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Uyğunluq yoxlanmış dataset, seed və mühitlər daxilindədir.</a:t>
            </a:r>
          </a:p>
        </p:txBody>
      </p:sp>
      <p:sp>
        <p:nvSpPr>
          <p:cNvPr id="19" name="reveal-0::shape-133">
            <a:extLst xmlns:a="http://schemas.openxmlformats.org/drawingml/2006/main">
              <a:ext uri="{FF2B5EF4-FFF2-40B4-BE49-F238E27FC236}">
                <a16:creationId xmlns:a16="http://schemas.microsoft.com/office/drawing/2014/main" id="{6EED7134-1D01-4938-98EF-89C8400B937D}"/>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15</a:t>
            </a:r>
          </a:p>
        </p:txBody>
      </p:sp>
    </p:spTree>
    <p:extLst>
      <p:ext uri="{BB962C8B-B14F-4D97-AF65-F5344CB8AC3E}">
        <p14:creationId xmlns:p14="http://schemas.microsoft.com/office/powerpoint/2010/main" val="1411881014"/>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20"/>
                                  </p:tgtEl>
                                  <p:attrNameLst>
                                    <p:attrName>style.visibility</p:attrName>
                                  </p:attrNameLst>
                                </p:cBhvr>
                                <p:to>
                                  <p:strVal val="visible"/>
                                </p:to>
                              </p:set>
                              <p:animEffect transition="in" filter="fade">
                                <p:cBhvr>
                                  <p:cTn id="6" dur="550" fill="hold"/>
                                  <p:tgtEl>
                                    <p:spTgt spid="20"/>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26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260"/>
                            </p:stCondLst>
                            <p:childTnList>
                              <p:set>
                                <p:cBhvr>
                                  <p:cTn id="17" dur="1" fill="hold">
                                    <p:stCondLst>
                                      <p:cond delay="0"/>
                                    </p:stCondLst>
                                  </p:cTn>
                                  <p:tgtEl>
                                    <p:spTgt spid="5"/>
                                  </p:tgtEl>
                                  <p:attrNameLst>
                                    <p:attrName>style.visibility</p:attrName>
                                  </p:attrNameLst>
                                </p:cBhvr>
                                <p:to>
                                  <p:strVal val="visible"/>
                                </p:to>
                              </p:set>
                              <p:animEffect transition="in" filter="fade">
                                <p:cBhvr>
                                  <p:cTn id="18" dur="550" fill="hold"/>
                                  <p:tgtEl>
                                    <p:spTgt spid="5"/>
                                  </p:tgtEl>
                                </p:cBhvr>
                              </p:animEffect>
                            </p:childTnList>
                          </p:cTn>
                        </p:par>
                        <p:par>
                          <p:cTn id="19" presetID="10" presetClass="entr" presetSubtype="0" fill="hold" grpId="0" nodeType="withEffect">
                            <p:stCondLst>
                              <p:cond delay="260"/>
                            </p:stCondLst>
                            <p:childTnList>
                              <p:set>
                                <p:cBhvr>
                                  <p:cTn id="20" dur="1" fill="hold">
                                    <p:stCondLst>
                                      <p:cond delay="0"/>
                                    </p:stCondLst>
                                  </p:cTn>
                                  <p:tgtEl>
                                    <p:spTgt spid="6"/>
                                  </p:tgtEl>
                                  <p:attrNameLst>
                                    <p:attrName>style.visibility</p:attrName>
                                  </p:attrNameLst>
                                </p:cBhvr>
                                <p:to>
                                  <p:strVal val="visible"/>
                                </p:to>
                              </p:set>
                              <p:animEffect transition="in" filter="fade">
                                <p:cBhvr>
                                  <p:cTn id="21" dur="550" fill="hold"/>
                                  <p:tgtEl>
                                    <p:spTgt spid="6"/>
                                  </p:tgtEl>
                                </p:cBhvr>
                              </p:animEffect>
                            </p:childTnList>
                          </p:cTn>
                        </p:par>
                        <p:par>
                          <p:cTn id="22" presetID="10" presetClass="entr" presetSubtype="0" fill="hold" grpId="0" nodeType="withEffect">
                            <p:stCondLst>
                              <p:cond delay="520"/>
                            </p:stCondLst>
                            <p:childTnList>
                              <p:set>
                                <p:cBhvr>
                                  <p:cTn id="23" dur="1" fill="hold">
                                    <p:stCondLst>
                                      <p:cond delay="0"/>
                                    </p:stCondLst>
                                  </p:cTn>
                                  <p:tgtEl>
                                    <p:spTgt spid="10"/>
                                  </p:tgtEl>
                                  <p:attrNameLst>
                                    <p:attrName>style.visibility</p:attrName>
                                  </p:attrNameLst>
                                </p:cBhvr>
                                <p:to>
                                  <p:strVal val="visible"/>
                                </p:to>
                              </p:set>
                              <p:animEffect transition="in" filter="fade">
                                <p:cBhvr>
                                  <p:cTn id="24" dur="550" fill="hold"/>
                                  <p:tgtEl>
                                    <p:spTgt spid="10"/>
                                  </p:tgtEl>
                                </p:cBhvr>
                              </p:animEffect>
                            </p:childTnList>
                          </p:cTn>
                        </p:par>
                        <p:par>
                          <p:cTn id="25" presetID="10" presetClass="entr" presetSubtype="0" fill="hold" grpId="0" nodeType="withEffect">
                            <p:stCondLst>
                              <p:cond delay="520"/>
                            </p:stCondLst>
                            <p:childTnList>
                              <p:set>
                                <p:cBhvr>
                                  <p:cTn id="26" dur="1" fill="hold">
                                    <p:stCondLst>
                                      <p:cond delay="0"/>
                                    </p:stCondLst>
                                  </p:cTn>
                                  <p:tgtEl>
                                    <p:spTgt spid="11"/>
                                  </p:tgtEl>
                                  <p:attrNameLst>
                                    <p:attrName>style.visibility</p:attrName>
                                  </p:attrNameLst>
                                </p:cBhvr>
                                <p:to>
                                  <p:strVal val="visible"/>
                                </p:to>
                              </p:set>
                              <p:animEffect transition="in" filter="fade">
                                <p:cBhvr>
                                  <p:cTn id="27" dur="550" fill="hold"/>
                                  <p:tgtEl>
                                    <p:spTgt spid="11"/>
                                  </p:tgtEl>
                                </p:cBhvr>
                              </p:animEffect>
                            </p:childTnList>
                          </p:cTn>
                        </p:par>
                        <p:par>
                          <p:cTn id="28" presetID="10" presetClass="entr" presetSubtype="0" fill="hold" grpId="0" nodeType="withEffect">
                            <p:stCondLst>
                              <p:cond delay="520"/>
                            </p:stCondLst>
                            <p:childTnList>
                              <p:set>
                                <p:cBhvr>
                                  <p:cTn id="29" dur="1" fill="hold">
                                    <p:stCondLst>
                                      <p:cond delay="0"/>
                                    </p:stCondLst>
                                  </p:cTn>
                                  <p:tgtEl>
                                    <p:spTgt spid="7"/>
                                  </p:tgtEl>
                                  <p:attrNameLst>
                                    <p:attrName>style.visibility</p:attrName>
                                  </p:attrNameLst>
                                </p:cBhvr>
                                <p:to>
                                  <p:strVal val="visible"/>
                                </p:to>
                              </p:set>
                              <p:animEffect transition="in" filter="fade">
                                <p:cBhvr>
                                  <p:cTn id="30" dur="550" fill="hold"/>
                                  <p:tgtEl>
                                    <p:spTgt spid="7"/>
                                  </p:tgtEl>
                                </p:cBhvr>
                              </p:animEffect>
                            </p:childTnList>
                          </p:cTn>
                        </p:par>
                        <p:par>
                          <p:cTn id="31" presetID="10" presetClass="entr" presetSubtype="0" fill="hold" grpId="0" nodeType="withEffect">
                            <p:stCondLst>
                              <p:cond delay="520"/>
                            </p:stCondLst>
                            <p:childTnList>
                              <p:set>
                                <p:cBhvr>
                                  <p:cTn id="32" dur="1" fill="hold">
                                    <p:stCondLst>
                                      <p:cond delay="0"/>
                                    </p:stCondLst>
                                  </p:cTn>
                                  <p:tgtEl>
                                    <p:spTgt spid="8"/>
                                  </p:tgtEl>
                                  <p:attrNameLst>
                                    <p:attrName>style.visibility</p:attrName>
                                  </p:attrNameLst>
                                </p:cBhvr>
                                <p:to>
                                  <p:strVal val="visible"/>
                                </p:to>
                              </p:set>
                              <p:animEffect transition="in" filter="fade">
                                <p:cBhvr>
                                  <p:cTn id="33" dur="550" fill="hold"/>
                                  <p:tgtEl>
                                    <p:spTgt spid="8"/>
                                  </p:tgtEl>
                                </p:cBhvr>
                              </p:animEffect>
                            </p:childTnList>
                          </p:cTn>
                        </p:par>
                        <p:par>
                          <p:cTn id="34" presetID="10" presetClass="entr" presetSubtype="0" fill="hold" grpId="0" nodeType="withEffect">
                            <p:stCondLst>
                              <p:cond delay="520"/>
                            </p:stCondLst>
                            <p:childTnList>
                              <p:set>
                                <p:cBhvr>
                                  <p:cTn id="35" dur="1" fill="hold">
                                    <p:stCondLst>
                                      <p:cond delay="0"/>
                                    </p:stCondLst>
                                  </p:cTn>
                                  <p:tgtEl>
                                    <p:spTgt spid="9"/>
                                  </p:tgtEl>
                                  <p:attrNameLst>
                                    <p:attrName>style.visibility</p:attrName>
                                  </p:attrNameLst>
                                </p:cBhvr>
                                <p:to>
                                  <p:strVal val="visible"/>
                                </p:to>
                              </p:set>
                              <p:animEffect transition="in" filter="fade">
                                <p:cBhvr>
                                  <p:cTn id="36" dur="550" fill="hold"/>
                                  <p:tgtEl>
                                    <p:spTgt spid="9"/>
                                  </p:tgtEl>
                                </p:cBhvr>
                              </p:animEffect>
                            </p:childTnList>
                          </p:cTn>
                        </p:par>
                        <p:par>
                          <p:cTn id="37" presetID="10" presetClass="entr" presetSubtype="0" fill="hold" grpId="0" nodeType="withEffect">
                            <p:stCondLst>
                              <p:cond delay="780"/>
                            </p:stCondLst>
                            <p:childTnList>
                              <p:set>
                                <p:cBhvr>
                                  <p:cTn id="38" dur="1" fill="hold">
                                    <p:stCondLst>
                                      <p:cond delay="0"/>
                                    </p:stCondLst>
                                  </p:cTn>
                                  <p:tgtEl>
                                    <p:spTgt spid="12"/>
                                  </p:tgtEl>
                                  <p:attrNameLst>
                                    <p:attrName>style.visibility</p:attrName>
                                  </p:attrNameLst>
                                </p:cBhvr>
                                <p:to>
                                  <p:strVal val="visible"/>
                                </p:to>
                              </p:set>
                              <p:animEffect transition="in" filter="fade">
                                <p:cBhvr>
                                  <p:cTn id="39" dur="550" fill="hold"/>
                                  <p:tgtEl>
                                    <p:spTgt spid="12"/>
                                  </p:tgtEl>
                                </p:cBhvr>
                              </p:animEffect>
                            </p:childTnList>
                          </p:cTn>
                        </p:par>
                        <p:par>
                          <p:cTn id="40" presetID="10" presetClass="entr" presetSubtype="0" fill="hold" grpId="0" nodeType="withEffect">
                            <p:stCondLst>
                              <p:cond delay="780"/>
                            </p:stCondLst>
                            <p:childTnList>
                              <p:set>
                                <p:cBhvr>
                                  <p:cTn id="41" dur="1" fill="hold">
                                    <p:stCondLst>
                                      <p:cond delay="0"/>
                                    </p:stCondLst>
                                  </p:cTn>
                                  <p:tgtEl>
                                    <p:spTgt spid="13"/>
                                  </p:tgtEl>
                                  <p:attrNameLst>
                                    <p:attrName>style.visibility</p:attrName>
                                  </p:attrNameLst>
                                </p:cBhvr>
                                <p:to>
                                  <p:strVal val="visible"/>
                                </p:to>
                              </p:set>
                              <p:animEffect transition="in" filter="fade">
                                <p:cBhvr>
                                  <p:cTn id="42" dur="550" fill="hold"/>
                                  <p:tgtEl>
                                    <p:spTgt spid="13"/>
                                  </p:tgtEl>
                                </p:cBhvr>
                              </p:animEffect>
                            </p:childTnList>
                          </p:cTn>
                        </p:par>
                        <p:par>
                          <p:cTn id="43" presetID="10" presetClass="entr" presetSubtype="0" fill="hold" grpId="0" nodeType="withEffect">
                            <p:stCondLst>
                              <p:cond delay="780"/>
                            </p:stCondLst>
                            <p:childTnList>
                              <p:set>
                                <p:cBhvr>
                                  <p:cTn id="44" dur="1" fill="hold">
                                    <p:stCondLst>
                                      <p:cond delay="0"/>
                                    </p:stCondLst>
                                  </p:cTn>
                                  <p:tgtEl>
                                    <p:spTgt spid="14"/>
                                  </p:tgtEl>
                                  <p:attrNameLst>
                                    <p:attrName>style.visibility</p:attrName>
                                  </p:attrNameLst>
                                </p:cBhvr>
                                <p:to>
                                  <p:strVal val="visible"/>
                                </p:to>
                              </p:set>
                              <p:animEffect transition="in" filter="fade">
                                <p:cBhvr>
                                  <p:cTn id="45" dur="550" fill="hold"/>
                                  <p:tgtEl>
                                    <p:spTgt spid="14"/>
                                  </p:tgtEl>
                                </p:cBhvr>
                              </p:animEffect>
                            </p:childTnList>
                          </p:cTn>
                        </p:par>
                        <p:par>
                          <p:cTn id="46" presetID="10" presetClass="entr" presetSubtype="0" fill="hold" grpId="0" nodeType="withEffect">
                            <p:stCondLst>
                              <p:cond delay="780"/>
                            </p:stCondLst>
                            <p:childTnList>
                              <p:set>
                                <p:cBhvr>
                                  <p:cTn id="47" dur="1" fill="hold">
                                    <p:stCondLst>
                                      <p:cond delay="0"/>
                                    </p:stCondLst>
                                  </p:cTn>
                                  <p:tgtEl>
                                    <p:spTgt spid="15"/>
                                  </p:tgtEl>
                                  <p:attrNameLst>
                                    <p:attrName>style.visibility</p:attrName>
                                  </p:attrNameLst>
                                </p:cBhvr>
                                <p:to>
                                  <p:strVal val="visible"/>
                                </p:to>
                              </p:set>
                              <p:animEffect transition="in" filter="fade">
                                <p:cBhvr>
                                  <p:cTn id="48" dur="550" fill="hold"/>
                                  <p:tgtEl>
                                    <p:spTgt spid="15"/>
                                  </p:tgtEl>
                                </p:cBhvr>
                              </p:animEffect>
                            </p:childTnList>
                          </p:cTn>
                        </p:par>
                        <p:par>
                          <p:cTn id="49" presetID="10" presetClass="entr" presetSubtype="0" fill="hold" grpId="0" nodeType="withEffect">
                            <p:stCondLst>
                              <p:cond delay="1040"/>
                            </p:stCondLst>
                            <p:childTnList>
                              <p:set>
                                <p:cBhvr>
                                  <p:cTn id="50" dur="1" fill="hold">
                                    <p:stCondLst>
                                      <p:cond delay="0"/>
                                    </p:stCondLst>
                                  </p:cTn>
                                  <p:tgtEl>
                                    <p:spTgt spid="17"/>
                                  </p:tgtEl>
                                  <p:attrNameLst>
                                    <p:attrName>style.visibility</p:attrName>
                                  </p:attrNameLst>
                                </p:cBhvr>
                                <p:to>
                                  <p:strVal val="visible"/>
                                </p:to>
                              </p:set>
                              <p:animEffect transition="in" filter="fade">
                                <p:cBhvr>
                                  <p:cTn id="51" dur="550" fill="hold"/>
                                  <p:tgtEl>
                                    <p:spTgt spid="17"/>
                                  </p:tgtEl>
                                </p:cBhvr>
                              </p:animEffect>
                            </p:childTnList>
                          </p:cTn>
                        </p:par>
                        <p:par>
                          <p:cTn id="52" presetID="10" presetClass="entr" presetSubtype="0" fill="hold" grpId="0" nodeType="withEffect">
                            <p:stCondLst>
                              <p:cond delay="1300"/>
                            </p:stCondLst>
                            <p:childTnList>
                              <p:set>
                                <p:cBhvr>
                                  <p:cTn id="53" dur="1" fill="hold">
                                    <p:stCondLst>
                                      <p:cond delay="0"/>
                                    </p:stCondLst>
                                  </p:cTn>
                                  <p:tgtEl>
                                    <p:spTgt spid="18"/>
                                  </p:tgtEl>
                                  <p:attrNameLst>
                                    <p:attrName>style.visibility</p:attrName>
                                  </p:attrNameLst>
                                </p:cBhvr>
                                <p:to>
                                  <p:strVal val="visible"/>
                                </p:to>
                              </p:set>
                              <p:animEffect transition="in" filter="fade">
                                <p:cBhvr>
                                  <p:cTn id="54" dur="550" fill="hold"/>
                                  <p:tgtEl>
                                    <p:spTgt spid="18"/>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16.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5" name="reveal-1::shape-134">
            <a:extLst xmlns:a="http://schemas.openxmlformats.org/drawingml/2006/main">
              <a:ext uri="{FF2B5EF4-FFF2-40B4-BE49-F238E27FC236}">
                <a16:creationId xmlns:a16="http://schemas.microsoft.com/office/drawing/2014/main" id="{D7F2F872-DB9E-4032-8001-81898BE1B02A}"/>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UNEC mənbələrindən praktik dərslərə</a:t>
            </a:r>
          </a:p>
        </p:txBody>
      </p:sp>
      <p:sp>
        <p:nvSpPr>
          <p:cNvPr id="2" name="reveal-2::shape-135">
            <a:extLst xmlns:a="http://schemas.openxmlformats.org/drawingml/2006/main">
              <a:ext uri="{FF2B5EF4-FFF2-40B4-BE49-F238E27FC236}">
                <a16:creationId xmlns:a16="http://schemas.microsoft.com/office/drawing/2014/main" id="{8795713E-B172-447B-BD9D-2340B1964BDB}"/>
              </a:ext>
            </a:extLst>
          </p:cNvPr>
          <p:cNvSpPr>
            <a:spLocks xmlns:a="http://schemas.openxmlformats.org/drawingml/2006/main" noGrp="1"/>
          </p:cNvSpPr>
          <p:nvPr/>
        </p:nvSpPr>
        <p:spPr>
          <a:xfrm xmlns:a="http://schemas.openxmlformats.org/drawingml/2006/main">
            <a:off x="619125" y="1743075"/>
            <a:ext cx="32956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087F83"/>
                </a:solidFill>
                <a:latin typeface="Arial"/>
                <a:ea typeface="Arial"/>
                <a:cs typeface="Arial"/>
              </a:defRPr>
            </a:pPr>
            <a:r>
              <a:rPr sz="6525" b="1">
                <a:solidFill>
                  <a:srgbClr val="087F83"/>
                </a:solidFill>
                <a:latin typeface="Arial"/>
                <a:ea typeface="Arial"/>
                <a:cs typeface="Arial"/>
              </a:rPr>
              <a:t>68</a:t>
            </a:r>
          </a:p>
        </p:txBody>
      </p:sp>
      <p:sp>
        <p:nvSpPr>
          <p:cNvPr id="3" name="reveal-2::shape-136">
            <a:extLst xmlns:a="http://schemas.openxmlformats.org/drawingml/2006/main">
              <a:ext uri="{FF2B5EF4-FFF2-40B4-BE49-F238E27FC236}">
                <a16:creationId xmlns:a16="http://schemas.microsoft.com/office/drawing/2014/main" id="{A80308F5-D202-405E-A396-BBFC8E273503}"/>
              </a:ext>
            </a:extLst>
          </p:cNvPr>
          <p:cNvSpPr>
            <a:spLocks xmlns:a="http://schemas.openxmlformats.org/drawingml/2006/main" noGrp="1"/>
          </p:cNvSpPr>
          <p:nvPr/>
        </p:nvSpPr>
        <p:spPr>
          <a:xfrm xmlns:a="http://schemas.openxmlformats.org/drawingml/2006/main">
            <a:off x="619125" y="2962275"/>
            <a:ext cx="329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343"/>
                </a:solidFill>
                <a:latin typeface="Arial"/>
                <a:ea typeface="Arial"/>
                <a:cs typeface="Arial"/>
              </a:defRPr>
            </a:pPr>
            <a:r>
              <a:rPr sz="1950" b="0">
                <a:solidFill>
                  <a:srgbClr val="173343"/>
                </a:solidFill>
                <a:latin typeface="Arial"/>
                <a:ea typeface="Arial"/>
                <a:cs typeface="Arial"/>
              </a:rPr>
              <a:t>kataloqlaşdırılmış fayl</a:t>
            </a:r>
          </a:p>
        </p:txBody>
      </p:sp>
      <p:sp>
        <p:nvSpPr>
          <p:cNvPr id="4" name="reveal-3::shape-137">
            <a:extLst xmlns:a="http://schemas.openxmlformats.org/drawingml/2006/main">
              <a:ext uri="{FF2B5EF4-FFF2-40B4-BE49-F238E27FC236}">
                <a16:creationId xmlns:a16="http://schemas.microsoft.com/office/drawing/2014/main" id="{526F0B89-808C-4F31-9CDC-CC2BC00D0AFA}"/>
              </a:ext>
            </a:extLst>
          </p:cNvPr>
          <p:cNvSpPr>
            <a:spLocks xmlns:a="http://schemas.openxmlformats.org/drawingml/2006/main" noGrp="1"/>
          </p:cNvSpPr>
          <p:nvPr/>
        </p:nvSpPr>
        <p:spPr>
          <a:xfrm xmlns:a="http://schemas.openxmlformats.org/drawingml/2006/main">
            <a:off x="4086225" y="2362200"/>
            <a:ext cx="904875"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5" name="reveal-3::shape-138">
            <a:extLst xmlns:a="http://schemas.openxmlformats.org/drawingml/2006/main">
              <a:ext uri="{FF2B5EF4-FFF2-40B4-BE49-F238E27FC236}">
                <a16:creationId xmlns:a16="http://schemas.microsoft.com/office/drawing/2014/main" id="{2DE550D9-5E26-4342-97D1-5842A0EE237F}"/>
              </a:ext>
            </a:extLst>
          </p:cNvPr>
          <p:cNvSpPr>
            <a:spLocks xmlns:a="http://schemas.openxmlformats.org/drawingml/2006/main" noGrp="1"/>
          </p:cNvSpPr>
          <p:nvPr/>
        </p:nvSpPr>
        <p:spPr>
          <a:xfrm xmlns:a="http://schemas.openxmlformats.org/drawingml/2006/main">
            <a:off x="5486400" y="1743075"/>
            <a:ext cx="2476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087F83"/>
                </a:solidFill>
                <a:latin typeface="Arial"/>
                <a:ea typeface="Arial"/>
                <a:cs typeface="Arial"/>
              </a:defRPr>
            </a:pPr>
            <a:r>
              <a:rPr sz="6525" b="1">
                <a:solidFill>
                  <a:srgbClr val="087F83"/>
                </a:solidFill>
                <a:latin typeface="Arial"/>
                <a:ea typeface="Arial"/>
                <a:cs typeface="Arial"/>
              </a:rPr>
              <a:t>8</a:t>
            </a:r>
          </a:p>
        </p:txBody>
      </p:sp>
      <p:sp>
        <p:nvSpPr>
          <p:cNvPr id="6" name="reveal-3::shape-139">
            <a:extLst xmlns:a="http://schemas.openxmlformats.org/drawingml/2006/main">
              <a:ext uri="{FF2B5EF4-FFF2-40B4-BE49-F238E27FC236}">
                <a16:creationId xmlns:a16="http://schemas.microsoft.com/office/drawing/2014/main" id="{DE688036-9BFF-44C2-B574-553C47062EE8}"/>
              </a:ext>
            </a:extLst>
          </p:cNvPr>
          <p:cNvSpPr>
            <a:spLocks xmlns:a="http://schemas.openxmlformats.org/drawingml/2006/main" noGrp="1"/>
          </p:cNvSpPr>
          <p:nvPr/>
        </p:nvSpPr>
        <p:spPr>
          <a:xfrm xmlns:a="http://schemas.openxmlformats.org/drawingml/2006/main">
            <a:off x="5486400" y="2962275"/>
            <a:ext cx="247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343"/>
                </a:solidFill>
                <a:latin typeface="Arial"/>
                <a:ea typeface="Arial"/>
                <a:cs typeface="Arial"/>
              </a:defRPr>
            </a:pPr>
            <a:r>
              <a:rPr sz="1950" b="0">
                <a:solidFill>
                  <a:srgbClr val="173343"/>
                </a:solidFill>
                <a:latin typeface="Arial"/>
                <a:ea typeface="Arial"/>
                <a:cs typeface="Arial"/>
              </a:rPr>
              <a:t>praktiki dərs</a:t>
            </a:r>
          </a:p>
        </p:txBody>
      </p:sp>
      <p:sp>
        <p:nvSpPr>
          <p:cNvPr id="7" name="reveal-4::shape-140">
            <a:extLst xmlns:a="http://schemas.openxmlformats.org/drawingml/2006/main">
              <a:ext uri="{FF2B5EF4-FFF2-40B4-BE49-F238E27FC236}">
                <a16:creationId xmlns:a16="http://schemas.microsoft.com/office/drawing/2014/main" id="{212BB7F7-D4A4-4F8E-B52A-A413CAE23AEB}"/>
              </a:ext>
            </a:extLst>
          </p:cNvPr>
          <p:cNvSpPr>
            <a:spLocks xmlns:a="http://schemas.openxmlformats.org/drawingml/2006/main" noGrp="1"/>
          </p:cNvSpPr>
          <p:nvPr/>
        </p:nvSpPr>
        <p:spPr>
          <a:xfrm xmlns:a="http://schemas.openxmlformats.org/drawingml/2006/main">
            <a:off x="8248650" y="2362200"/>
            <a:ext cx="714375"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8" name="reveal-4::shape-141">
            <a:extLst xmlns:a="http://schemas.openxmlformats.org/drawingml/2006/main">
              <a:ext uri="{FF2B5EF4-FFF2-40B4-BE49-F238E27FC236}">
                <a16:creationId xmlns:a16="http://schemas.microsoft.com/office/drawing/2014/main" id="{754CB326-AE0A-483E-9902-D8F298900FDA}"/>
              </a:ext>
            </a:extLst>
          </p:cNvPr>
          <p:cNvSpPr>
            <a:spLocks xmlns:a="http://schemas.openxmlformats.org/drawingml/2006/main" noGrp="1"/>
          </p:cNvSpPr>
          <p:nvPr/>
        </p:nvSpPr>
        <p:spPr>
          <a:xfrm xmlns:a="http://schemas.openxmlformats.org/drawingml/2006/main">
            <a:off x="9382125" y="1743075"/>
            <a:ext cx="23717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525" b="1">
                <a:solidFill>
                  <a:srgbClr val="087F83"/>
                </a:solidFill>
                <a:latin typeface="Arial"/>
                <a:ea typeface="Arial"/>
                <a:cs typeface="Arial"/>
              </a:defRPr>
            </a:pPr>
            <a:r>
              <a:rPr sz="6525" b="1">
                <a:solidFill>
                  <a:srgbClr val="087F83"/>
                </a:solidFill>
                <a:latin typeface="Arial"/>
                <a:ea typeface="Arial"/>
                <a:cs typeface="Arial"/>
              </a:rPr>
              <a:t>24</a:t>
            </a:r>
          </a:p>
        </p:txBody>
      </p:sp>
      <p:sp>
        <p:nvSpPr>
          <p:cNvPr id="9" name="reveal-4::shape-142">
            <a:extLst xmlns:a="http://schemas.openxmlformats.org/drawingml/2006/main">
              <a:ext uri="{FF2B5EF4-FFF2-40B4-BE49-F238E27FC236}">
                <a16:creationId xmlns:a16="http://schemas.microsoft.com/office/drawing/2014/main" id="{5FE7DAB9-AB36-4B51-A85D-F9570415663A}"/>
              </a:ext>
            </a:extLst>
          </p:cNvPr>
          <p:cNvSpPr>
            <a:spLocks xmlns:a="http://schemas.openxmlformats.org/drawingml/2006/main" noGrp="1"/>
          </p:cNvSpPr>
          <p:nvPr/>
        </p:nvSpPr>
        <p:spPr>
          <a:xfrm xmlns:a="http://schemas.openxmlformats.org/drawingml/2006/main">
            <a:off x="9382125" y="2962275"/>
            <a:ext cx="23717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343"/>
                </a:solidFill>
                <a:latin typeface="Arial"/>
                <a:ea typeface="Arial"/>
                <a:cs typeface="Arial"/>
              </a:defRPr>
            </a:pPr>
            <a:r>
              <a:rPr sz="1950" b="0">
                <a:solidFill>
                  <a:srgbClr val="173343"/>
                </a:solidFill>
                <a:latin typeface="Arial"/>
                <a:ea typeface="Arial"/>
                <a:cs typeface="Arial"/>
              </a:rPr>
              <a:t>cavablı tapşırıq</a:t>
            </a:r>
          </a:p>
        </p:txBody>
      </p:sp>
      <p:sp>
        <p:nvSpPr>
          <p:cNvPr id="10" name="reveal-0::shape-143">
            <a:extLst xmlns:a="http://schemas.openxmlformats.org/drawingml/2006/main">
              <a:ext uri="{FF2B5EF4-FFF2-40B4-BE49-F238E27FC236}">
                <a16:creationId xmlns:a16="http://schemas.microsoft.com/office/drawing/2014/main" id="{1255F38F-D4F5-4630-8BD5-817E03C861E8}"/>
              </a:ext>
            </a:extLst>
          </p:cNvPr>
          <p:cNvSpPr>
            <a:spLocks xmlns:a="http://schemas.openxmlformats.org/drawingml/2006/main" noGrp="1"/>
          </p:cNvSpPr>
          <p:nvPr/>
        </p:nvSpPr>
        <p:spPr>
          <a:xfrm xmlns:a="http://schemas.openxmlformats.org/drawingml/2006/main">
            <a:off x="581025" y="4657725"/>
            <a:ext cx="11029950" cy="971550"/>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11" name="reveal-5::shape-144">
            <a:extLst xmlns:a="http://schemas.openxmlformats.org/drawingml/2006/main">
              <a:ext uri="{FF2B5EF4-FFF2-40B4-BE49-F238E27FC236}">
                <a16:creationId xmlns:a16="http://schemas.microsoft.com/office/drawing/2014/main" id="{5D8ED91A-2E81-4317-8310-750224BE7BE9}"/>
              </a:ext>
            </a:extLst>
          </p:cNvPr>
          <p:cNvSpPr>
            <a:spLocks xmlns:a="http://schemas.openxmlformats.org/drawingml/2006/main" noGrp="1"/>
          </p:cNvSpPr>
          <p:nvPr/>
        </p:nvSpPr>
        <p:spPr>
          <a:xfrm xmlns:a="http://schemas.openxmlformats.org/drawingml/2006/main">
            <a:off x="828675" y="488632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15 həftəlik proqram</a:t>
            </a:r>
          </a:p>
        </p:txBody>
      </p:sp>
      <p:sp>
        <p:nvSpPr>
          <p:cNvPr id="12" name="reveal-5::shape-145">
            <a:extLst xmlns:a="http://schemas.openxmlformats.org/drawingml/2006/main">
              <a:ext uri="{FF2B5EF4-FFF2-40B4-BE49-F238E27FC236}">
                <a16:creationId xmlns:a16="http://schemas.microsoft.com/office/drawing/2014/main" id="{9654A9A9-0D77-4817-AC6D-C473BEEB5EA7}"/>
              </a:ext>
            </a:extLst>
          </p:cNvPr>
          <p:cNvSpPr>
            <a:spLocks xmlns:a="http://schemas.openxmlformats.org/drawingml/2006/main" noGrp="1"/>
          </p:cNvSpPr>
          <p:nvPr/>
        </p:nvSpPr>
        <p:spPr>
          <a:xfrm xmlns:a="http://schemas.openxmlformats.org/drawingml/2006/main">
            <a:off x="6391275" y="4895850"/>
            <a:ext cx="4962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9DEC5"/>
                </a:solidFill>
                <a:latin typeface="Arial"/>
                <a:ea typeface="Arial"/>
                <a:cs typeface="Arial"/>
              </a:defRPr>
            </a:pPr>
            <a:r>
              <a:rPr sz="2175" b="0">
                <a:solidFill>
                  <a:srgbClr val="79DEC5"/>
                </a:solidFill>
                <a:latin typeface="Arial"/>
                <a:ea typeface="Arial"/>
                <a:cs typeface="Arial"/>
              </a:rPr>
              <a:t>14 səhifəlik PDF praktikum</a:t>
            </a:r>
          </a:p>
        </p:txBody>
      </p:sp>
      <p:sp>
        <p:nvSpPr>
          <p:cNvPr id="13" name="reveal-6::shape-146">
            <a:extLst xmlns:a="http://schemas.openxmlformats.org/drawingml/2006/main">
              <a:ext uri="{FF2B5EF4-FFF2-40B4-BE49-F238E27FC236}">
                <a16:creationId xmlns:a16="http://schemas.microsoft.com/office/drawing/2014/main" id="{26C2F930-FE5F-457A-8A31-A14F1CC15A95}"/>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61 unikal mənbə, 7 bayt səviyyəli dublikat. Mənbələr kataloqda izlənir.</a:t>
            </a:r>
          </a:p>
        </p:txBody>
      </p:sp>
      <p:sp>
        <p:nvSpPr>
          <p:cNvPr id="14" name="reveal-0::shape-147">
            <a:extLst xmlns:a="http://schemas.openxmlformats.org/drawingml/2006/main">
              <a:ext uri="{FF2B5EF4-FFF2-40B4-BE49-F238E27FC236}">
                <a16:creationId xmlns:a16="http://schemas.microsoft.com/office/drawing/2014/main" id="{492611BC-015C-4225-A5C3-15B75DCB79E7}"/>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16</a:t>
            </a:r>
          </a:p>
        </p:txBody>
      </p:sp>
    </p:spTree>
    <p:extLst>
      <p:ext uri="{BB962C8B-B14F-4D97-AF65-F5344CB8AC3E}">
        <p14:creationId xmlns:p14="http://schemas.microsoft.com/office/powerpoint/2010/main" val="1978970774"/>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15"/>
                                  </p:tgtEl>
                                  <p:attrNameLst>
                                    <p:attrName>style.visibility</p:attrName>
                                  </p:attrNameLst>
                                </p:cBhvr>
                                <p:to>
                                  <p:strVal val="visible"/>
                                </p:to>
                              </p:set>
                              <p:animEffect transition="in" filter="fade">
                                <p:cBhvr>
                                  <p:cTn id="6" dur="550" fill="hold"/>
                                  <p:tgtEl>
                                    <p:spTgt spid="15"/>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520"/>
                            </p:stCondLst>
                            <p:childTnList>
                              <p:set>
                                <p:cBhvr>
                                  <p:cTn id="17" dur="1" fill="hold">
                                    <p:stCondLst>
                                      <p:cond delay="0"/>
                                    </p:stCondLst>
                                  </p:cTn>
                                  <p:tgtEl>
                                    <p:spTgt spid="5"/>
                                  </p:tgtEl>
                                  <p:attrNameLst>
                                    <p:attrName>style.visibility</p:attrName>
                                  </p:attrNameLst>
                                </p:cBhvr>
                                <p:to>
                                  <p:strVal val="visible"/>
                                </p:to>
                              </p:set>
                              <p:animEffect transition="in" filter="fade">
                                <p:cBhvr>
                                  <p:cTn id="18" dur="550" fill="hold"/>
                                  <p:tgtEl>
                                    <p:spTgt spid="5"/>
                                  </p:tgtEl>
                                </p:cBhvr>
                              </p:animEffect>
                            </p:childTnList>
                          </p:cTn>
                        </p:par>
                        <p:par>
                          <p:cTn id="19" presetID="10" presetClass="entr" presetSubtype="0" fill="hold" grpId="0" nodeType="withEffect">
                            <p:stCondLst>
                              <p:cond delay="520"/>
                            </p:stCondLst>
                            <p:childTnList>
                              <p:set>
                                <p:cBhvr>
                                  <p:cTn id="20" dur="1" fill="hold">
                                    <p:stCondLst>
                                      <p:cond delay="0"/>
                                    </p:stCondLst>
                                  </p:cTn>
                                  <p:tgtEl>
                                    <p:spTgt spid="6"/>
                                  </p:tgtEl>
                                  <p:attrNameLst>
                                    <p:attrName>style.visibility</p:attrName>
                                  </p:attrNameLst>
                                </p:cBhvr>
                                <p:to>
                                  <p:strVal val="visible"/>
                                </p:to>
                              </p:set>
                              <p:animEffect transition="in" filter="fade">
                                <p:cBhvr>
                                  <p:cTn id="21" dur="550" fill="hold"/>
                                  <p:tgtEl>
                                    <p:spTgt spid="6"/>
                                  </p:tgtEl>
                                </p:cBhvr>
                              </p:animEffect>
                            </p:childTnList>
                          </p:cTn>
                        </p:par>
                        <p:par>
                          <p:cTn id="22" presetID="10" presetClass="entr" presetSubtype="0" fill="hold" grpId="0" nodeType="withEffect">
                            <p:stCondLst>
                              <p:cond delay="780"/>
                            </p:stCondLst>
                            <p:childTnList>
                              <p:set>
                                <p:cBhvr>
                                  <p:cTn id="23" dur="1" fill="hold">
                                    <p:stCondLst>
                                      <p:cond delay="0"/>
                                    </p:stCondLst>
                                  </p:cTn>
                                  <p:tgtEl>
                                    <p:spTgt spid="7"/>
                                  </p:tgtEl>
                                  <p:attrNameLst>
                                    <p:attrName>style.visibility</p:attrName>
                                  </p:attrNameLst>
                                </p:cBhvr>
                                <p:to>
                                  <p:strVal val="visible"/>
                                </p:to>
                              </p:set>
                              <p:animEffect transition="in" filter="fade">
                                <p:cBhvr>
                                  <p:cTn id="24" dur="550" fill="hold"/>
                                  <p:tgtEl>
                                    <p:spTgt spid="7"/>
                                  </p:tgtEl>
                                </p:cBhvr>
                              </p:animEffect>
                            </p:childTnList>
                          </p:cTn>
                        </p:par>
                        <p:par>
                          <p:cTn id="25" presetID="10" presetClass="entr" presetSubtype="0" fill="hold" grpId="0" nodeType="withEffect">
                            <p:stCondLst>
                              <p:cond delay="780"/>
                            </p:stCondLst>
                            <p:childTnList>
                              <p:set>
                                <p:cBhvr>
                                  <p:cTn id="26" dur="1" fill="hold">
                                    <p:stCondLst>
                                      <p:cond delay="0"/>
                                    </p:stCondLst>
                                  </p:cTn>
                                  <p:tgtEl>
                                    <p:spTgt spid="8"/>
                                  </p:tgtEl>
                                  <p:attrNameLst>
                                    <p:attrName>style.visibility</p:attrName>
                                  </p:attrNameLst>
                                </p:cBhvr>
                                <p:to>
                                  <p:strVal val="visible"/>
                                </p:to>
                              </p:set>
                              <p:animEffect transition="in" filter="fade">
                                <p:cBhvr>
                                  <p:cTn id="27" dur="550" fill="hold"/>
                                  <p:tgtEl>
                                    <p:spTgt spid="8"/>
                                  </p:tgtEl>
                                </p:cBhvr>
                              </p:animEffect>
                            </p:childTnList>
                          </p:cTn>
                        </p:par>
                        <p:par>
                          <p:cTn id="28" presetID="10" presetClass="entr" presetSubtype="0" fill="hold" grpId="0" nodeType="withEffect">
                            <p:stCondLst>
                              <p:cond delay="780"/>
                            </p:stCondLst>
                            <p:childTnList>
                              <p:set>
                                <p:cBhvr>
                                  <p:cTn id="29" dur="1" fill="hold">
                                    <p:stCondLst>
                                      <p:cond delay="0"/>
                                    </p:stCondLst>
                                  </p:cTn>
                                  <p:tgtEl>
                                    <p:spTgt spid="9"/>
                                  </p:tgtEl>
                                  <p:attrNameLst>
                                    <p:attrName>style.visibility</p:attrName>
                                  </p:attrNameLst>
                                </p:cBhvr>
                                <p:to>
                                  <p:strVal val="visible"/>
                                </p:to>
                              </p:set>
                              <p:animEffect transition="in" filter="fade">
                                <p:cBhvr>
                                  <p:cTn id="30" dur="550" fill="hold"/>
                                  <p:tgtEl>
                                    <p:spTgt spid="9"/>
                                  </p:tgtEl>
                                </p:cBhvr>
                              </p:animEffect>
                            </p:childTnList>
                          </p:cTn>
                        </p:par>
                        <p:par>
                          <p:cTn id="31" presetID="10" presetClass="entr" presetSubtype="0" fill="hold" grpId="0" nodeType="withEffect">
                            <p:stCondLst>
                              <p:cond delay="1040"/>
                            </p:stCondLst>
                            <p:childTnList>
                              <p:set>
                                <p:cBhvr>
                                  <p:cTn id="32" dur="1" fill="hold">
                                    <p:stCondLst>
                                      <p:cond delay="0"/>
                                    </p:stCondLst>
                                  </p:cTn>
                                  <p:tgtEl>
                                    <p:spTgt spid="11"/>
                                  </p:tgtEl>
                                  <p:attrNameLst>
                                    <p:attrName>style.visibility</p:attrName>
                                  </p:attrNameLst>
                                </p:cBhvr>
                                <p:to>
                                  <p:strVal val="visible"/>
                                </p:to>
                              </p:set>
                              <p:animEffect transition="in" filter="fade">
                                <p:cBhvr>
                                  <p:cTn id="33" dur="550" fill="hold"/>
                                  <p:tgtEl>
                                    <p:spTgt spid="11"/>
                                  </p:tgtEl>
                                </p:cBhvr>
                              </p:animEffect>
                            </p:childTnList>
                          </p:cTn>
                        </p:par>
                        <p:par>
                          <p:cTn id="34" presetID="10" presetClass="entr" presetSubtype="0" fill="hold" grpId="0" nodeType="withEffect">
                            <p:stCondLst>
                              <p:cond delay="1040"/>
                            </p:stCondLst>
                            <p:childTnList>
                              <p:set>
                                <p:cBhvr>
                                  <p:cTn id="35" dur="1" fill="hold">
                                    <p:stCondLst>
                                      <p:cond delay="0"/>
                                    </p:stCondLst>
                                  </p:cTn>
                                  <p:tgtEl>
                                    <p:spTgt spid="12"/>
                                  </p:tgtEl>
                                  <p:attrNameLst>
                                    <p:attrName>style.visibility</p:attrName>
                                  </p:attrNameLst>
                                </p:cBhvr>
                                <p:to>
                                  <p:strVal val="visible"/>
                                </p:to>
                              </p:set>
                              <p:animEffect transition="in" filter="fade">
                                <p:cBhvr>
                                  <p:cTn id="36" dur="550" fill="hold"/>
                                  <p:tgtEl>
                                    <p:spTgt spid="12"/>
                                  </p:tgtEl>
                                </p:cBhvr>
                              </p:animEffect>
                            </p:childTnList>
                          </p:cTn>
                        </p:par>
                        <p:par>
                          <p:cTn id="37" presetID="10" presetClass="entr" presetSubtype="0" fill="hold" grpId="0" nodeType="withEffect">
                            <p:stCondLst>
                              <p:cond delay="1300"/>
                            </p:stCondLst>
                            <p:childTnList>
                              <p:set>
                                <p:cBhvr>
                                  <p:cTn id="38" dur="1" fill="hold">
                                    <p:stCondLst>
                                      <p:cond delay="0"/>
                                    </p:stCondLst>
                                  </p:cTn>
                                  <p:tgtEl>
                                    <p:spTgt spid="13"/>
                                  </p:tgtEl>
                                  <p:attrNameLst>
                                    <p:attrName>style.visibility</p:attrName>
                                  </p:attrNameLst>
                                </p:cBhvr>
                                <p:to>
                                  <p:strVal val="visible"/>
                                </p:to>
                              </p:set>
                              <p:animEffect transition="in" filter="fade">
                                <p:cBhvr>
                                  <p:cTn id="39" dur="550" fill="hold"/>
                                  <p:tgtEl>
                                    <p:spTgt spid="13"/>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17.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1" name="reveal-1::shape-148">
            <a:extLst xmlns:a="http://schemas.openxmlformats.org/drawingml/2006/main">
              <a:ext uri="{FF2B5EF4-FFF2-40B4-BE49-F238E27FC236}">
                <a16:creationId xmlns:a16="http://schemas.microsoft.com/office/drawing/2014/main" id="{DD23524D-7786-4591-B571-9CABF716BB3F}"/>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Öyrənmə yolunun əsas dayanacaqları</a:t>
            </a:r>
          </a:p>
        </p:txBody>
      </p:sp>
      <p:sp>
        <p:nvSpPr>
          <p:cNvPr id="2" name="reveal-0::shape-149">
            <a:extLst xmlns:a="http://schemas.openxmlformats.org/drawingml/2006/main">
              <a:ext uri="{FF2B5EF4-FFF2-40B4-BE49-F238E27FC236}">
                <a16:creationId xmlns:a16="http://schemas.microsoft.com/office/drawing/2014/main" id="{007569DC-2FD4-4480-8110-2937BAA42600}"/>
              </a:ext>
            </a:extLst>
          </p:cNvPr>
          <p:cNvSpPr>
            <a:spLocks xmlns:a="http://schemas.openxmlformats.org/drawingml/2006/main" noGrp="1"/>
          </p:cNvSpPr>
          <p:nvPr/>
        </p:nvSpPr>
        <p:spPr>
          <a:xfrm xmlns:a="http://schemas.openxmlformats.org/drawingml/2006/main">
            <a:off x="933450" y="2952750"/>
            <a:ext cx="10096500" cy="47625"/>
          </a:xfrm>
          <a:prstGeom xmlns:a="http://schemas.openxmlformats.org/drawingml/2006/main" prst="rect">
            <a:avLst/>
          </a:prstGeom>
          <a:solidFill xmlns:a="http://schemas.openxmlformats.org/drawingml/2006/main">
            <a:srgbClr val="AFD7CC"/>
          </a:solidFill>
          <a:ln xmlns:a="http://schemas.openxmlformats.org/drawingml/2006/main" w="0">
            <a:noFill/>
          </a:ln>
        </p:spPr>
      </p:sp>
      <p:sp>
        <p:nvSpPr>
          <p:cNvPr id="3" name="reveal-2::shape-150">
            <a:extLst xmlns:a="http://schemas.openxmlformats.org/drawingml/2006/main">
              <a:ext uri="{FF2B5EF4-FFF2-40B4-BE49-F238E27FC236}">
                <a16:creationId xmlns:a16="http://schemas.microsoft.com/office/drawing/2014/main" id="{D0300766-AB26-4374-863E-0E12063AE44C}"/>
              </a:ext>
            </a:extLst>
          </p:cNvPr>
          <p:cNvSpPr>
            <a:spLocks xmlns:a="http://schemas.openxmlformats.org/drawingml/2006/main" noGrp="1"/>
          </p:cNvSpPr>
          <p:nvPr/>
        </p:nvSpPr>
        <p:spPr>
          <a:xfrm xmlns:a="http://schemas.openxmlformats.org/drawingml/2006/main">
            <a:off x="876300" y="2752725"/>
            <a:ext cx="428625" cy="428625"/>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4" name="reveal-2::shape-151">
            <a:extLst xmlns:a="http://schemas.openxmlformats.org/drawingml/2006/main">
              <a:ext uri="{FF2B5EF4-FFF2-40B4-BE49-F238E27FC236}">
                <a16:creationId xmlns:a16="http://schemas.microsoft.com/office/drawing/2014/main" id="{01DD1C0A-C6D3-4C62-B561-3ABA1F905804}"/>
              </a:ext>
            </a:extLst>
          </p:cNvPr>
          <p:cNvSpPr>
            <a:spLocks xmlns:a="http://schemas.openxmlformats.org/drawingml/2006/main" noGrp="1"/>
          </p:cNvSpPr>
          <p:nvPr/>
        </p:nvSpPr>
        <p:spPr>
          <a:xfrm xmlns:a="http://schemas.openxmlformats.org/drawingml/2006/main">
            <a:off x="981075" y="280035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5" name="reveal-2::shape-152">
            <a:extLst xmlns:a="http://schemas.openxmlformats.org/drawingml/2006/main">
              <a:ext uri="{FF2B5EF4-FFF2-40B4-BE49-F238E27FC236}">
                <a16:creationId xmlns:a16="http://schemas.microsoft.com/office/drawing/2014/main" id="{DE9FF81D-3D03-42D0-AF30-72DB846E12FD}"/>
              </a:ext>
            </a:extLst>
          </p:cNvPr>
          <p:cNvSpPr>
            <a:spLocks xmlns:a="http://schemas.openxmlformats.org/drawingml/2006/main" noGrp="1"/>
          </p:cNvSpPr>
          <p:nvPr/>
        </p:nvSpPr>
        <p:spPr>
          <a:xfrm xmlns:a="http://schemas.openxmlformats.org/drawingml/2006/main">
            <a:off x="590550" y="1962150"/>
            <a:ext cx="26765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343"/>
                </a:solidFill>
                <a:latin typeface="Arial"/>
                <a:ea typeface="Arial"/>
                <a:cs typeface="Arial"/>
              </a:defRPr>
            </a:pPr>
            <a:r>
              <a:rPr sz="2400" b="1">
                <a:solidFill>
                  <a:srgbClr val="173343"/>
                </a:solidFill>
                <a:latin typeface="Arial"/>
                <a:ea typeface="Arial"/>
                <a:cs typeface="Arial"/>
              </a:rPr>
              <a:t>Biologiya</a:t>
            </a:r>
          </a:p>
        </p:txBody>
      </p:sp>
      <p:sp>
        <p:nvSpPr>
          <p:cNvPr id="6" name="reveal-2::shape-153">
            <a:extLst xmlns:a="http://schemas.openxmlformats.org/drawingml/2006/main">
              <a:ext uri="{FF2B5EF4-FFF2-40B4-BE49-F238E27FC236}">
                <a16:creationId xmlns:a16="http://schemas.microsoft.com/office/drawing/2014/main" id="{F6F2B4CD-D914-4D49-B6CF-7E738B638CBA}"/>
              </a:ext>
            </a:extLst>
          </p:cNvPr>
          <p:cNvSpPr>
            <a:spLocks xmlns:a="http://schemas.openxmlformats.org/drawingml/2006/main" noGrp="1"/>
          </p:cNvSpPr>
          <p:nvPr/>
        </p:nvSpPr>
        <p:spPr>
          <a:xfrm xmlns:a="http://schemas.openxmlformats.org/drawingml/2006/main">
            <a:off x="590550" y="3590925"/>
            <a:ext cx="26289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16 anlayış</a:t>
            </a:r>
          </a:p>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11 format</a:t>
            </a:r>
          </a:p>
        </p:txBody>
      </p:sp>
      <p:sp>
        <p:nvSpPr>
          <p:cNvPr id="7" name="reveal-3::shape-154">
            <a:extLst xmlns:a="http://schemas.openxmlformats.org/drawingml/2006/main">
              <a:ext uri="{FF2B5EF4-FFF2-40B4-BE49-F238E27FC236}">
                <a16:creationId xmlns:a16="http://schemas.microsoft.com/office/drawing/2014/main" id="{744AA2A9-2F09-4C68-B0B9-F4C7760B2BCD}"/>
              </a:ext>
            </a:extLst>
          </p:cNvPr>
          <p:cNvSpPr>
            <a:spLocks xmlns:a="http://schemas.openxmlformats.org/drawingml/2006/main" noGrp="1"/>
          </p:cNvSpPr>
          <p:nvPr/>
        </p:nvSpPr>
        <p:spPr>
          <a:xfrm xmlns:a="http://schemas.openxmlformats.org/drawingml/2006/main">
            <a:off x="3771900" y="2752725"/>
            <a:ext cx="428625" cy="428625"/>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8" name="reveal-3::shape-155">
            <a:extLst xmlns:a="http://schemas.openxmlformats.org/drawingml/2006/main">
              <a:ext uri="{FF2B5EF4-FFF2-40B4-BE49-F238E27FC236}">
                <a16:creationId xmlns:a16="http://schemas.microsoft.com/office/drawing/2014/main" id="{3C6037BE-41FB-493D-8F1D-0314380EF566}"/>
              </a:ext>
            </a:extLst>
          </p:cNvPr>
          <p:cNvSpPr>
            <a:spLocks xmlns:a="http://schemas.openxmlformats.org/drawingml/2006/main" noGrp="1"/>
          </p:cNvSpPr>
          <p:nvPr/>
        </p:nvSpPr>
        <p:spPr>
          <a:xfrm xmlns:a="http://schemas.openxmlformats.org/drawingml/2006/main">
            <a:off x="3876675" y="280035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9" name="reveal-3::shape-156">
            <a:extLst xmlns:a="http://schemas.openxmlformats.org/drawingml/2006/main">
              <a:ext uri="{FF2B5EF4-FFF2-40B4-BE49-F238E27FC236}">
                <a16:creationId xmlns:a16="http://schemas.microsoft.com/office/drawing/2014/main" id="{B9C77F7C-9949-471E-A051-11FC4A16EC2C}"/>
              </a:ext>
            </a:extLst>
          </p:cNvPr>
          <p:cNvSpPr>
            <a:spLocks xmlns:a="http://schemas.openxmlformats.org/drawingml/2006/main" noGrp="1"/>
          </p:cNvSpPr>
          <p:nvPr/>
        </p:nvSpPr>
        <p:spPr>
          <a:xfrm xmlns:a="http://schemas.openxmlformats.org/drawingml/2006/main">
            <a:off x="3486150" y="1962150"/>
            <a:ext cx="26765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343"/>
                </a:solidFill>
                <a:latin typeface="Arial"/>
                <a:ea typeface="Arial"/>
                <a:cs typeface="Arial"/>
              </a:defRPr>
            </a:pPr>
            <a:r>
              <a:rPr sz="2400" b="1">
                <a:solidFill>
                  <a:srgbClr val="173343"/>
                </a:solidFill>
                <a:latin typeface="Arial"/>
                <a:ea typeface="Arial"/>
                <a:cs typeface="Arial"/>
              </a:rPr>
              <a:t>Python</a:t>
            </a:r>
          </a:p>
        </p:txBody>
      </p:sp>
      <p:sp>
        <p:nvSpPr>
          <p:cNvPr id="10" name="reveal-3::shape-157">
            <a:extLst xmlns:a="http://schemas.openxmlformats.org/drawingml/2006/main">
              <a:ext uri="{FF2B5EF4-FFF2-40B4-BE49-F238E27FC236}">
                <a16:creationId xmlns:a16="http://schemas.microsoft.com/office/drawing/2014/main" id="{41402BFD-71C0-4A74-98B9-A3A9C1A7A6EB}"/>
              </a:ext>
            </a:extLst>
          </p:cNvPr>
          <p:cNvSpPr>
            <a:spLocks xmlns:a="http://schemas.openxmlformats.org/drawingml/2006/main" noGrp="1"/>
          </p:cNvSpPr>
          <p:nvPr/>
        </p:nvSpPr>
        <p:spPr>
          <a:xfrm xmlns:a="http://schemas.openxmlformats.org/drawingml/2006/main">
            <a:off x="3486150" y="3590925"/>
            <a:ext cx="26289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İşlək layihələr</a:t>
            </a:r>
          </a:p>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8 notebook</a:t>
            </a:r>
          </a:p>
        </p:txBody>
      </p:sp>
      <p:sp>
        <p:nvSpPr>
          <p:cNvPr id="11" name="reveal-4::shape-158">
            <a:extLst xmlns:a="http://schemas.openxmlformats.org/drawingml/2006/main">
              <a:ext uri="{FF2B5EF4-FFF2-40B4-BE49-F238E27FC236}">
                <a16:creationId xmlns:a16="http://schemas.microsoft.com/office/drawing/2014/main" id="{D370DB44-60F3-4F15-BD79-B2E8CE96ACEA}"/>
              </a:ext>
            </a:extLst>
          </p:cNvPr>
          <p:cNvSpPr>
            <a:spLocks xmlns:a="http://schemas.openxmlformats.org/drawingml/2006/main" noGrp="1"/>
          </p:cNvSpPr>
          <p:nvPr/>
        </p:nvSpPr>
        <p:spPr>
          <a:xfrm xmlns:a="http://schemas.openxmlformats.org/drawingml/2006/main">
            <a:off x="6667500" y="2752725"/>
            <a:ext cx="428625" cy="428625"/>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12" name="reveal-4::shape-159">
            <a:extLst xmlns:a="http://schemas.openxmlformats.org/drawingml/2006/main">
              <a:ext uri="{FF2B5EF4-FFF2-40B4-BE49-F238E27FC236}">
                <a16:creationId xmlns:a16="http://schemas.microsoft.com/office/drawing/2014/main" id="{3D242190-BFA4-48C2-AFE6-0FA858F404B4}"/>
              </a:ext>
            </a:extLst>
          </p:cNvPr>
          <p:cNvSpPr>
            <a:spLocks xmlns:a="http://schemas.openxmlformats.org/drawingml/2006/main" noGrp="1"/>
          </p:cNvSpPr>
          <p:nvPr/>
        </p:nvSpPr>
        <p:spPr>
          <a:xfrm xmlns:a="http://schemas.openxmlformats.org/drawingml/2006/main">
            <a:off x="6772275" y="280035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3" name="reveal-4::shape-160">
            <a:extLst xmlns:a="http://schemas.openxmlformats.org/drawingml/2006/main">
              <a:ext uri="{FF2B5EF4-FFF2-40B4-BE49-F238E27FC236}">
                <a16:creationId xmlns:a16="http://schemas.microsoft.com/office/drawing/2014/main" id="{AD88FDA4-0048-4F38-B7BB-1D38B369D99B}"/>
              </a:ext>
            </a:extLst>
          </p:cNvPr>
          <p:cNvSpPr>
            <a:spLocks xmlns:a="http://schemas.openxmlformats.org/drawingml/2006/main" noGrp="1"/>
          </p:cNvSpPr>
          <p:nvPr/>
        </p:nvSpPr>
        <p:spPr>
          <a:xfrm xmlns:a="http://schemas.openxmlformats.org/drawingml/2006/main">
            <a:off x="6381750" y="1962150"/>
            <a:ext cx="26765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343"/>
                </a:solidFill>
                <a:latin typeface="Arial"/>
                <a:ea typeface="Arial"/>
                <a:cs typeface="Arial"/>
              </a:defRPr>
            </a:pPr>
            <a:r>
              <a:rPr sz="2400" b="1">
                <a:solidFill>
                  <a:srgbClr val="173343"/>
                </a:solidFill>
                <a:latin typeface="Arial"/>
                <a:ea typeface="Arial"/>
                <a:cs typeface="Arial"/>
              </a:rPr>
              <a:t>Real data</a:t>
            </a:r>
          </a:p>
        </p:txBody>
      </p:sp>
      <p:sp>
        <p:nvSpPr>
          <p:cNvPr id="14" name="reveal-4::shape-161">
            <a:extLst xmlns:a="http://schemas.openxmlformats.org/drawingml/2006/main">
              <a:ext uri="{FF2B5EF4-FFF2-40B4-BE49-F238E27FC236}">
                <a16:creationId xmlns:a16="http://schemas.microsoft.com/office/drawing/2014/main" id="{36501A22-2D1B-4BFB-BACE-BF0B6CFF0A75}"/>
              </a:ext>
            </a:extLst>
          </p:cNvPr>
          <p:cNvSpPr>
            <a:spLocks xmlns:a="http://schemas.openxmlformats.org/drawingml/2006/main" noGrp="1"/>
          </p:cNvSpPr>
          <p:nvPr/>
        </p:nvSpPr>
        <p:spPr>
          <a:xfrm xmlns:a="http://schemas.openxmlformats.org/drawingml/2006/main">
            <a:off x="6381750" y="3590925"/>
            <a:ext cx="26289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18 database kartı</a:t>
            </a:r>
          </a:p>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PDF kitablar</a:t>
            </a:r>
          </a:p>
        </p:txBody>
      </p:sp>
      <p:sp>
        <p:nvSpPr>
          <p:cNvPr id="15" name="reveal-5::shape-162">
            <a:extLst xmlns:a="http://schemas.openxmlformats.org/drawingml/2006/main">
              <a:ext uri="{FF2B5EF4-FFF2-40B4-BE49-F238E27FC236}">
                <a16:creationId xmlns:a16="http://schemas.microsoft.com/office/drawing/2014/main" id="{6426C75C-E00E-4C9A-8A7B-663D6649247B}"/>
              </a:ext>
            </a:extLst>
          </p:cNvPr>
          <p:cNvSpPr>
            <a:spLocks xmlns:a="http://schemas.openxmlformats.org/drawingml/2006/main" noGrp="1"/>
          </p:cNvSpPr>
          <p:nvPr/>
        </p:nvSpPr>
        <p:spPr>
          <a:xfrm xmlns:a="http://schemas.openxmlformats.org/drawingml/2006/main">
            <a:off x="9563100" y="2752725"/>
            <a:ext cx="428625" cy="428625"/>
          </a:xfrm>
          <a:prstGeom xmlns:a="http://schemas.openxmlformats.org/drawingml/2006/main" prst="ellipse">
            <a:avLst/>
          </a:prstGeom>
          <a:solidFill xmlns:a="http://schemas.openxmlformats.org/drawingml/2006/main">
            <a:srgbClr val="087F83"/>
          </a:solidFill>
          <a:ln xmlns:a="http://schemas.openxmlformats.org/drawingml/2006/main" w="0">
            <a:noFill/>
          </a:ln>
        </p:spPr>
      </p:sp>
      <p:sp>
        <p:nvSpPr>
          <p:cNvPr id="16" name="reveal-5::shape-163">
            <a:extLst xmlns:a="http://schemas.openxmlformats.org/drawingml/2006/main">
              <a:ext uri="{FF2B5EF4-FFF2-40B4-BE49-F238E27FC236}">
                <a16:creationId xmlns:a16="http://schemas.microsoft.com/office/drawing/2014/main" id="{C45825B0-CCB2-439C-AA43-6C5D1C58F2E9}"/>
              </a:ext>
            </a:extLst>
          </p:cNvPr>
          <p:cNvSpPr>
            <a:spLocks xmlns:a="http://schemas.openxmlformats.org/drawingml/2006/main" noGrp="1"/>
          </p:cNvSpPr>
          <p:nvPr/>
        </p:nvSpPr>
        <p:spPr>
          <a:xfrm xmlns:a="http://schemas.openxmlformats.org/drawingml/2006/main">
            <a:off x="9667875" y="280035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17" name="reveal-5::shape-164">
            <a:extLst xmlns:a="http://schemas.openxmlformats.org/drawingml/2006/main">
              <a:ext uri="{FF2B5EF4-FFF2-40B4-BE49-F238E27FC236}">
                <a16:creationId xmlns:a16="http://schemas.microsoft.com/office/drawing/2014/main" id="{CDC32F41-0056-443D-9776-47E1CE0CB6FC}"/>
              </a:ext>
            </a:extLst>
          </p:cNvPr>
          <p:cNvSpPr>
            <a:spLocks xmlns:a="http://schemas.openxmlformats.org/drawingml/2006/main" noGrp="1"/>
          </p:cNvSpPr>
          <p:nvPr/>
        </p:nvSpPr>
        <p:spPr>
          <a:xfrm xmlns:a="http://schemas.openxmlformats.org/drawingml/2006/main">
            <a:off x="9277350" y="1962150"/>
            <a:ext cx="26765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343"/>
                </a:solidFill>
                <a:latin typeface="Arial"/>
                <a:ea typeface="Arial"/>
                <a:cs typeface="Arial"/>
              </a:defRPr>
            </a:pPr>
            <a:r>
              <a:rPr sz="2400" b="1">
                <a:solidFill>
                  <a:srgbClr val="173343"/>
                </a:solidFill>
                <a:latin typeface="Arial"/>
                <a:ea typeface="Arial"/>
                <a:cs typeface="Arial"/>
              </a:rPr>
              <a:t>Tədqiqat</a:t>
            </a:r>
          </a:p>
        </p:txBody>
      </p:sp>
      <p:sp>
        <p:nvSpPr>
          <p:cNvPr id="18" name="reveal-5::shape-165">
            <a:extLst xmlns:a="http://schemas.openxmlformats.org/drawingml/2006/main">
              <a:ext uri="{FF2B5EF4-FFF2-40B4-BE49-F238E27FC236}">
                <a16:creationId xmlns:a16="http://schemas.microsoft.com/office/drawing/2014/main" id="{13681870-5502-4FB9-A7D8-452D20065357}"/>
              </a:ext>
            </a:extLst>
          </p:cNvPr>
          <p:cNvSpPr>
            <a:spLocks xmlns:a="http://schemas.openxmlformats.org/drawingml/2006/main" noGrp="1"/>
          </p:cNvSpPr>
          <p:nvPr/>
        </p:nvSpPr>
        <p:spPr>
          <a:xfrm xmlns:a="http://schemas.openxmlformats.org/drawingml/2006/main">
            <a:off x="9277350" y="3590925"/>
            <a:ext cx="26289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11 məqalə qeydi</a:t>
            </a:r>
          </a:p>
          <a:p xmlns:a="http://schemas.openxmlformats.org/drawingml/2006/main">
            <a:pPr>
              <a:defRPr sz="1875" b="0">
                <a:solidFill>
                  <a:srgbClr val="55717F"/>
                </a:solidFill>
                <a:latin typeface="Arial"/>
                <a:ea typeface="Arial"/>
                <a:cs typeface="Arial"/>
              </a:defRPr>
            </a:pPr>
            <a:r>
              <a:rPr sz="1875" b="0">
                <a:solidFill>
                  <a:srgbClr val="55717F"/>
                </a:solidFill>
                <a:latin typeface="Arial"/>
                <a:ea typeface="Arial"/>
                <a:cs typeface="Arial"/>
              </a:rPr>
              <a:t>9 mini-review</a:t>
            </a:r>
          </a:p>
        </p:txBody>
      </p:sp>
      <p:sp>
        <p:nvSpPr>
          <p:cNvPr id="19" name="reveal-6::shape-166">
            <a:extLst xmlns:a="http://schemas.openxmlformats.org/drawingml/2006/main">
              <a:ext uri="{FF2B5EF4-FFF2-40B4-BE49-F238E27FC236}">
                <a16:creationId xmlns:a16="http://schemas.microsoft.com/office/drawing/2014/main" id="{7E71A683-BE58-4427-8CFA-277B560119E2}"/>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Tam yol 10 mərhələdən ibarətdir. Məqalə qeydləri systematic review deyil.</a:t>
            </a:r>
          </a:p>
        </p:txBody>
      </p:sp>
      <p:sp>
        <p:nvSpPr>
          <p:cNvPr id="20" name="reveal-0::shape-167">
            <a:extLst xmlns:a="http://schemas.openxmlformats.org/drawingml/2006/main">
              <a:ext uri="{FF2B5EF4-FFF2-40B4-BE49-F238E27FC236}">
                <a16:creationId xmlns:a16="http://schemas.microsoft.com/office/drawing/2014/main" id="{9A1AF117-0434-4F99-AB58-61E4C8BA85D8}"/>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17</a:t>
            </a:r>
          </a:p>
        </p:txBody>
      </p:sp>
    </p:spTree>
    <p:extLst>
      <p:ext uri="{BB962C8B-B14F-4D97-AF65-F5344CB8AC3E}">
        <p14:creationId xmlns:p14="http://schemas.microsoft.com/office/powerpoint/2010/main" val="695739844"/>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21"/>
                                  </p:tgtEl>
                                  <p:attrNameLst>
                                    <p:attrName>style.visibility</p:attrName>
                                  </p:attrNameLst>
                                </p:cBhvr>
                                <p:to>
                                  <p:strVal val="visible"/>
                                </p:to>
                              </p:set>
                              <p:animEffect transition="in" filter="fade">
                                <p:cBhvr>
                                  <p:cTn id="6" dur="550" fill="hold"/>
                                  <p:tgtEl>
                                    <p:spTgt spid="21"/>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3"/>
                                  </p:tgtEl>
                                  <p:attrNameLst>
                                    <p:attrName>style.visibility</p:attrName>
                                  </p:attrNameLst>
                                </p:cBhvr>
                                <p:to>
                                  <p:strVal val="visible"/>
                                </p:to>
                              </p:set>
                              <p:animEffect transition="in" filter="fade">
                                <p:cBhvr>
                                  <p:cTn id="9" dur="550" fill="hold"/>
                                  <p:tgtEl>
                                    <p:spTgt spid="3"/>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4"/>
                                  </p:tgtEl>
                                  <p:attrNameLst>
                                    <p:attrName>style.visibility</p:attrName>
                                  </p:attrNameLst>
                                </p:cBhvr>
                                <p:to>
                                  <p:strVal val="visible"/>
                                </p:to>
                              </p:set>
                              <p:animEffect transition="in" filter="fade">
                                <p:cBhvr>
                                  <p:cTn id="12" dur="550" fill="hold"/>
                                  <p:tgtEl>
                                    <p:spTgt spid="4"/>
                                  </p:tgtEl>
                                </p:cBhvr>
                              </p:animEffect>
                            </p:childTnList>
                          </p:cTn>
                        </p:par>
                        <p:par>
                          <p:cTn id="13" presetID="10" presetClass="entr" presetSubtype="0" fill="hold" grpId="0" nodeType="withEffect">
                            <p:stCondLst>
                              <p:cond delay="260"/>
                            </p:stCondLst>
                            <p:childTnList>
                              <p:set>
                                <p:cBhvr>
                                  <p:cTn id="14" dur="1" fill="hold">
                                    <p:stCondLst>
                                      <p:cond delay="0"/>
                                    </p:stCondLst>
                                  </p:cTn>
                                  <p:tgtEl>
                                    <p:spTgt spid="5"/>
                                  </p:tgtEl>
                                  <p:attrNameLst>
                                    <p:attrName>style.visibility</p:attrName>
                                  </p:attrNameLst>
                                </p:cBhvr>
                                <p:to>
                                  <p:strVal val="visible"/>
                                </p:to>
                              </p:set>
                              <p:animEffect transition="in" filter="fade">
                                <p:cBhvr>
                                  <p:cTn id="15" dur="550" fill="hold"/>
                                  <p:tgtEl>
                                    <p:spTgt spid="5"/>
                                  </p:tgtEl>
                                </p:cBhvr>
                              </p:animEffect>
                            </p:childTnList>
                          </p:cTn>
                        </p:par>
                        <p:par>
                          <p:cTn id="16" presetID="10" presetClass="entr" presetSubtype="0" fill="hold" grpId="0" nodeType="withEffect">
                            <p:stCondLst>
                              <p:cond delay="26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par>
                          <p:cTn id="19" presetID="10" presetClass="entr" presetSubtype="0" fill="hold" grpId="0" nodeType="withEffect">
                            <p:stCondLst>
                              <p:cond delay="520"/>
                            </p:stCondLst>
                            <p:childTnList>
                              <p:set>
                                <p:cBhvr>
                                  <p:cTn id="20" dur="1" fill="hold">
                                    <p:stCondLst>
                                      <p:cond delay="0"/>
                                    </p:stCondLst>
                                  </p:cTn>
                                  <p:tgtEl>
                                    <p:spTgt spid="10"/>
                                  </p:tgtEl>
                                  <p:attrNameLst>
                                    <p:attrName>style.visibility</p:attrName>
                                  </p:attrNameLst>
                                </p:cBhvr>
                                <p:to>
                                  <p:strVal val="visible"/>
                                </p:to>
                              </p:set>
                              <p:animEffect transition="in" filter="fade">
                                <p:cBhvr>
                                  <p:cTn id="21" dur="550" fill="hold"/>
                                  <p:tgtEl>
                                    <p:spTgt spid="10"/>
                                  </p:tgtEl>
                                </p:cBhvr>
                              </p:animEffect>
                            </p:childTnList>
                          </p:cTn>
                        </p:par>
                        <p:par>
                          <p:cTn id="22" presetID="10" presetClass="entr" presetSubtype="0" fill="hold" grpId="0" nodeType="withEffect">
                            <p:stCondLst>
                              <p:cond delay="520"/>
                            </p:stCondLst>
                            <p:childTnList>
                              <p:set>
                                <p:cBhvr>
                                  <p:cTn id="23" dur="1" fill="hold">
                                    <p:stCondLst>
                                      <p:cond delay="0"/>
                                    </p:stCondLst>
                                  </p:cTn>
                                  <p:tgtEl>
                                    <p:spTgt spid="7"/>
                                  </p:tgtEl>
                                  <p:attrNameLst>
                                    <p:attrName>style.visibility</p:attrName>
                                  </p:attrNameLst>
                                </p:cBhvr>
                                <p:to>
                                  <p:strVal val="visible"/>
                                </p:to>
                              </p:set>
                              <p:animEffect transition="in" filter="fade">
                                <p:cBhvr>
                                  <p:cTn id="24" dur="550" fill="hold"/>
                                  <p:tgtEl>
                                    <p:spTgt spid="7"/>
                                  </p:tgtEl>
                                </p:cBhvr>
                              </p:animEffect>
                            </p:childTnList>
                          </p:cTn>
                        </p:par>
                        <p:par>
                          <p:cTn id="25" presetID="10" presetClass="entr" presetSubtype="0" fill="hold" grpId="0" nodeType="withEffect">
                            <p:stCondLst>
                              <p:cond delay="520"/>
                            </p:stCondLst>
                            <p:childTnList>
                              <p:set>
                                <p:cBhvr>
                                  <p:cTn id="26" dur="1" fill="hold">
                                    <p:stCondLst>
                                      <p:cond delay="0"/>
                                    </p:stCondLst>
                                  </p:cTn>
                                  <p:tgtEl>
                                    <p:spTgt spid="8"/>
                                  </p:tgtEl>
                                  <p:attrNameLst>
                                    <p:attrName>style.visibility</p:attrName>
                                  </p:attrNameLst>
                                </p:cBhvr>
                                <p:to>
                                  <p:strVal val="visible"/>
                                </p:to>
                              </p:set>
                              <p:animEffect transition="in" filter="fade">
                                <p:cBhvr>
                                  <p:cTn id="27" dur="550" fill="hold"/>
                                  <p:tgtEl>
                                    <p:spTgt spid="8"/>
                                  </p:tgtEl>
                                </p:cBhvr>
                              </p:animEffect>
                            </p:childTnList>
                          </p:cTn>
                        </p:par>
                        <p:par>
                          <p:cTn id="28" presetID="10" presetClass="entr" presetSubtype="0" fill="hold" grpId="0" nodeType="withEffect">
                            <p:stCondLst>
                              <p:cond delay="520"/>
                            </p:stCondLst>
                            <p:childTnList>
                              <p:set>
                                <p:cBhvr>
                                  <p:cTn id="29" dur="1" fill="hold">
                                    <p:stCondLst>
                                      <p:cond delay="0"/>
                                    </p:stCondLst>
                                  </p:cTn>
                                  <p:tgtEl>
                                    <p:spTgt spid="9"/>
                                  </p:tgtEl>
                                  <p:attrNameLst>
                                    <p:attrName>style.visibility</p:attrName>
                                  </p:attrNameLst>
                                </p:cBhvr>
                                <p:to>
                                  <p:strVal val="visible"/>
                                </p:to>
                              </p:set>
                              <p:animEffect transition="in" filter="fade">
                                <p:cBhvr>
                                  <p:cTn id="30" dur="550" fill="hold"/>
                                  <p:tgtEl>
                                    <p:spTgt spid="9"/>
                                  </p:tgtEl>
                                </p:cBhvr>
                              </p:animEffect>
                            </p:childTnList>
                          </p:cTn>
                        </p:par>
                        <p:par>
                          <p:cTn id="31" presetID="10" presetClass="entr" presetSubtype="0" fill="hold" grpId="0" nodeType="withEffect">
                            <p:stCondLst>
                              <p:cond delay="780"/>
                            </p:stCondLst>
                            <p:childTnList>
                              <p:set>
                                <p:cBhvr>
                                  <p:cTn id="32" dur="1" fill="hold">
                                    <p:stCondLst>
                                      <p:cond delay="0"/>
                                    </p:stCondLst>
                                  </p:cTn>
                                  <p:tgtEl>
                                    <p:spTgt spid="11"/>
                                  </p:tgtEl>
                                  <p:attrNameLst>
                                    <p:attrName>style.visibility</p:attrName>
                                  </p:attrNameLst>
                                </p:cBhvr>
                                <p:to>
                                  <p:strVal val="visible"/>
                                </p:to>
                              </p:set>
                              <p:animEffect transition="in" filter="fade">
                                <p:cBhvr>
                                  <p:cTn id="33" dur="550" fill="hold"/>
                                  <p:tgtEl>
                                    <p:spTgt spid="11"/>
                                  </p:tgtEl>
                                </p:cBhvr>
                              </p:animEffect>
                            </p:childTnList>
                          </p:cTn>
                        </p:par>
                        <p:par>
                          <p:cTn id="34" presetID="10" presetClass="entr" presetSubtype="0" fill="hold" grpId="0" nodeType="withEffect">
                            <p:stCondLst>
                              <p:cond delay="780"/>
                            </p:stCondLst>
                            <p:childTnList>
                              <p:set>
                                <p:cBhvr>
                                  <p:cTn id="35" dur="1" fill="hold">
                                    <p:stCondLst>
                                      <p:cond delay="0"/>
                                    </p:stCondLst>
                                  </p:cTn>
                                  <p:tgtEl>
                                    <p:spTgt spid="12"/>
                                  </p:tgtEl>
                                  <p:attrNameLst>
                                    <p:attrName>style.visibility</p:attrName>
                                  </p:attrNameLst>
                                </p:cBhvr>
                                <p:to>
                                  <p:strVal val="visible"/>
                                </p:to>
                              </p:set>
                              <p:animEffect transition="in" filter="fade">
                                <p:cBhvr>
                                  <p:cTn id="36" dur="550" fill="hold"/>
                                  <p:tgtEl>
                                    <p:spTgt spid="12"/>
                                  </p:tgtEl>
                                </p:cBhvr>
                              </p:animEffect>
                            </p:childTnList>
                          </p:cTn>
                        </p:par>
                        <p:par>
                          <p:cTn id="37" presetID="10" presetClass="entr" presetSubtype="0" fill="hold" grpId="0" nodeType="withEffect">
                            <p:stCondLst>
                              <p:cond delay="780"/>
                            </p:stCondLst>
                            <p:childTnList>
                              <p:set>
                                <p:cBhvr>
                                  <p:cTn id="38" dur="1" fill="hold">
                                    <p:stCondLst>
                                      <p:cond delay="0"/>
                                    </p:stCondLst>
                                  </p:cTn>
                                  <p:tgtEl>
                                    <p:spTgt spid="13"/>
                                  </p:tgtEl>
                                  <p:attrNameLst>
                                    <p:attrName>style.visibility</p:attrName>
                                  </p:attrNameLst>
                                </p:cBhvr>
                                <p:to>
                                  <p:strVal val="visible"/>
                                </p:to>
                              </p:set>
                              <p:animEffect transition="in" filter="fade">
                                <p:cBhvr>
                                  <p:cTn id="39" dur="550" fill="hold"/>
                                  <p:tgtEl>
                                    <p:spTgt spid="13"/>
                                  </p:tgtEl>
                                </p:cBhvr>
                              </p:animEffect>
                            </p:childTnList>
                          </p:cTn>
                        </p:par>
                        <p:par>
                          <p:cTn id="40" presetID="10" presetClass="entr" presetSubtype="0" fill="hold" grpId="0" nodeType="withEffect">
                            <p:stCondLst>
                              <p:cond delay="780"/>
                            </p:stCondLst>
                            <p:childTnList>
                              <p:set>
                                <p:cBhvr>
                                  <p:cTn id="41" dur="1" fill="hold">
                                    <p:stCondLst>
                                      <p:cond delay="0"/>
                                    </p:stCondLst>
                                  </p:cTn>
                                  <p:tgtEl>
                                    <p:spTgt spid="14"/>
                                  </p:tgtEl>
                                  <p:attrNameLst>
                                    <p:attrName>style.visibility</p:attrName>
                                  </p:attrNameLst>
                                </p:cBhvr>
                                <p:to>
                                  <p:strVal val="visible"/>
                                </p:to>
                              </p:set>
                              <p:animEffect transition="in" filter="fade">
                                <p:cBhvr>
                                  <p:cTn id="42" dur="550" fill="hold"/>
                                  <p:tgtEl>
                                    <p:spTgt spid="14"/>
                                  </p:tgtEl>
                                </p:cBhvr>
                              </p:animEffect>
                            </p:childTnList>
                          </p:cTn>
                        </p:par>
                        <p:par>
                          <p:cTn id="43" presetID="10" presetClass="entr" presetSubtype="0" fill="hold" grpId="0" nodeType="withEffect">
                            <p:stCondLst>
                              <p:cond delay="1040"/>
                            </p:stCondLst>
                            <p:childTnList>
                              <p:set>
                                <p:cBhvr>
                                  <p:cTn id="44" dur="1" fill="hold">
                                    <p:stCondLst>
                                      <p:cond delay="0"/>
                                    </p:stCondLst>
                                  </p:cTn>
                                  <p:tgtEl>
                                    <p:spTgt spid="15"/>
                                  </p:tgtEl>
                                  <p:attrNameLst>
                                    <p:attrName>style.visibility</p:attrName>
                                  </p:attrNameLst>
                                </p:cBhvr>
                                <p:to>
                                  <p:strVal val="visible"/>
                                </p:to>
                              </p:set>
                              <p:animEffect transition="in" filter="fade">
                                <p:cBhvr>
                                  <p:cTn id="45" dur="550" fill="hold"/>
                                  <p:tgtEl>
                                    <p:spTgt spid="15"/>
                                  </p:tgtEl>
                                </p:cBhvr>
                              </p:animEffect>
                            </p:childTnList>
                          </p:cTn>
                        </p:par>
                        <p:par>
                          <p:cTn id="46" presetID="10" presetClass="entr" presetSubtype="0" fill="hold" grpId="0" nodeType="withEffect">
                            <p:stCondLst>
                              <p:cond delay="1040"/>
                            </p:stCondLst>
                            <p:childTnList>
                              <p:set>
                                <p:cBhvr>
                                  <p:cTn id="47" dur="1" fill="hold">
                                    <p:stCondLst>
                                      <p:cond delay="0"/>
                                    </p:stCondLst>
                                  </p:cTn>
                                  <p:tgtEl>
                                    <p:spTgt spid="16"/>
                                  </p:tgtEl>
                                  <p:attrNameLst>
                                    <p:attrName>style.visibility</p:attrName>
                                  </p:attrNameLst>
                                </p:cBhvr>
                                <p:to>
                                  <p:strVal val="visible"/>
                                </p:to>
                              </p:set>
                              <p:animEffect transition="in" filter="fade">
                                <p:cBhvr>
                                  <p:cTn id="48" dur="550" fill="hold"/>
                                  <p:tgtEl>
                                    <p:spTgt spid="16"/>
                                  </p:tgtEl>
                                </p:cBhvr>
                              </p:animEffect>
                            </p:childTnList>
                          </p:cTn>
                        </p:par>
                        <p:par>
                          <p:cTn id="49" presetID="10" presetClass="entr" presetSubtype="0" fill="hold" grpId="0" nodeType="withEffect">
                            <p:stCondLst>
                              <p:cond delay="1040"/>
                            </p:stCondLst>
                            <p:childTnList>
                              <p:set>
                                <p:cBhvr>
                                  <p:cTn id="50" dur="1" fill="hold">
                                    <p:stCondLst>
                                      <p:cond delay="0"/>
                                    </p:stCondLst>
                                  </p:cTn>
                                  <p:tgtEl>
                                    <p:spTgt spid="17"/>
                                  </p:tgtEl>
                                  <p:attrNameLst>
                                    <p:attrName>style.visibility</p:attrName>
                                  </p:attrNameLst>
                                </p:cBhvr>
                                <p:to>
                                  <p:strVal val="visible"/>
                                </p:to>
                              </p:set>
                              <p:animEffect transition="in" filter="fade">
                                <p:cBhvr>
                                  <p:cTn id="51" dur="550" fill="hold"/>
                                  <p:tgtEl>
                                    <p:spTgt spid="17"/>
                                  </p:tgtEl>
                                </p:cBhvr>
                              </p:animEffect>
                            </p:childTnList>
                          </p:cTn>
                        </p:par>
                        <p:par>
                          <p:cTn id="52" presetID="10" presetClass="entr" presetSubtype="0" fill="hold" grpId="0" nodeType="withEffect">
                            <p:stCondLst>
                              <p:cond delay="1040"/>
                            </p:stCondLst>
                            <p:childTnList>
                              <p:set>
                                <p:cBhvr>
                                  <p:cTn id="53" dur="1" fill="hold">
                                    <p:stCondLst>
                                      <p:cond delay="0"/>
                                    </p:stCondLst>
                                  </p:cTn>
                                  <p:tgtEl>
                                    <p:spTgt spid="18"/>
                                  </p:tgtEl>
                                  <p:attrNameLst>
                                    <p:attrName>style.visibility</p:attrName>
                                  </p:attrNameLst>
                                </p:cBhvr>
                                <p:to>
                                  <p:strVal val="visible"/>
                                </p:to>
                              </p:set>
                              <p:animEffect transition="in" filter="fade">
                                <p:cBhvr>
                                  <p:cTn id="54" dur="550" fill="hold"/>
                                  <p:tgtEl>
                                    <p:spTgt spid="18"/>
                                  </p:tgtEl>
                                </p:cBhvr>
                              </p:animEffect>
                            </p:childTnList>
                          </p:cTn>
                        </p:par>
                        <p:par>
                          <p:cTn id="55" presetID="10" presetClass="entr" presetSubtype="0" fill="hold" grpId="0" nodeType="withEffect">
                            <p:stCondLst>
                              <p:cond delay="1300"/>
                            </p:stCondLst>
                            <p:childTnList>
                              <p:set>
                                <p:cBhvr>
                                  <p:cTn id="56" dur="1" fill="hold">
                                    <p:stCondLst>
                                      <p:cond delay="0"/>
                                    </p:stCondLst>
                                  </p:cTn>
                                  <p:tgtEl>
                                    <p:spTgt spid="19"/>
                                  </p:tgtEl>
                                  <p:attrNameLst>
                                    <p:attrName>style.visibility</p:attrName>
                                  </p:attrNameLst>
                                </p:cBhvr>
                                <p:to>
                                  <p:strVal val="visible"/>
                                </p:to>
                              </p:set>
                              <p:animEffect transition="in" filter="fade">
                                <p:cBhvr>
                                  <p:cTn id="57" dur="550" fill="hold"/>
                                  <p:tgtEl>
                                    <p:spTgt spid="19"/>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18.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5" name="reveal-1::shape-168">
            <a:extLst xmlns:a="http://schemas.openxmlformats.org/drawingml/2006/main">
              <a:ext uri="{FF2B5EF4-FFF2-40B4-BE49-F238E27FC236}">
                <a16:creationId xmlns:a16="http://schemas.microsoft.com/office/drawing/2014/main" id="{9E2B92FB-2769-467E-B853-62F88C7FA643}"/>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Real data, sintetik nümunə və protokol</a:t>
            </a:r>
          </a:p>
        </p:txBody>
      </p:sp>
      <p:graphicFrame>
        <p:nvGraphicFramePr>
          <p:cNvPr id="6" name=""/>
          <p:cNvGraphicFramePr/>
          <p:nvPr/>
        </p:nvGraphicFramePr>
        <p:xfrm>
          <a:off xmlns:a="http://schemas.openxmlformats.org/drawingml/2006/main" x="571500" y="1809750"/>
          <a:ext xmlns:a="http://schemas.openxmlformats.org/drawingml/2006/main" cx="11049000" cy="3238500"/>
        </p:xfrm>
        <a:graphic xmlns:a="http://schemas.openxmlformats.org/drawingml/2006/main">
          <a:graphicData uri="http://schemas.openxmlformats.org/drawingml/2006/table">
            <a:tbl>
              <a:tblPr/>
              <a:tblGrid>
                <a:gridCol w="3105150"/>
                <a:gridCol w="4076700"/>
                <a:gridCol w="3867150"/>
              </a:tblGrid>
              <a:tr h="809625">
                <a:tc>
                  <a:txBody>
                    <a:bodyPr/>
                    <a:lstStyle/>
                    <a:p>
                      <a:r>
                        <a:rPr sz="1725" b="1">
                          <a:solidFill>
                            <a:srgbClr val="FFFFFF"/>
                          </a:solidFill>
                          <a:latin typeface="Arial"/>
                          <a:ea typeface="Arial"/>
                          <a:cs typeface="Arial"/>
                        </a:rPr>
                        <a:t>Material</a:t>
                      </a:r>
                    </a:p>
                  </a:txBody>
                  <a:tcPr marL="91440" marR="91440" marT="45720" marB="45720">
                    <a:solidFill>
                      <a:srgbClr val="092333"/>
                    </a:solidFill>
                  </a:tcPr>
                </a:tc>
                <a:tc>
                  <a:txBody>
                    <a:bodyPr/>
                    <a:lstStyle/>
                    <a:p>
                      <a:r>
                        <a:rPr sz="1725" b="1">
                          <a:solidFill>
                            <a:srgbClr val="FFFFFF"/>
                          </a:solidFill>
                          <a:latin typeface="Arial"/>
                          <a:ea typeface="Arial"/>
                          <a:cs typeface="Arial"/>
                        </a:rPr>
                        <a:t>İstifadə məqsədi</a:t>
                      </a:r>
                    </a:p>
                  </a:txBody>
                  <a:tcPr marL="91440" marR="91440" marT="45720" marB="45720">
                    <a:solidFill>
                      <a:srgbClr val="092333"/>
                    </a:solidFill>
                  </a:tcPr>
                </a:tc>
                <a:tc>
                  <a:txBody>
                    <a:bodyPr/>
                    <a:lstStyle/>
                    <a:p>
                      <a:r>
                        <a:rPr sz="1725" b="1">
                          <a:solidFill>
                            <a:srgbClr val="FFFFFF"/>
                          </a:solidFill>
                          <a:latin typeface="Arial"/>
                          <a:ea typeface="Arial"/>
                          <a:cs typeface="Arial"/>
                        </a:rPr>
                        <a:t>Nə yoxlanır?</a:t>
                      </a:r>
                    </a:p>
                  </a:txBody>
                  <a:tcPr marL="91440" marR="91440" marT="45720" marB="45720">
                    <a:solidFill>
                      <a:srgbClr val="092333"/>
                    </a:solidFill>
                  </a:tcPr>
                </a:tc>
              </a:tr>
              <a:tr h="809625">
                <a:tc>
                  <a:txBody>
                    <a:bodyPr/>
                    <a:lstStyle/>
                    <a:p>
                      <a:r>
                        <a:rPr sz="1650" b="0">
                          <a:solidFill>
                            <a:srgbClr val="173343"/>
                          </a:solidFill>
                          <a:latin typeface="Arial"/>
                          <a:ea typeface="Arial"/>
                          <a:cs typeface="Arial"/>
                        </a:rPr>
                        <a:t>Real dataset</a:t>
                      </a:r>
                    </a:p>
                  </a:txBody>
                  <a:tcPr marL="91440" marR="91440" marT="45720" marB="45720">
                    <a:solidFill>
                      <a:srgbClr val="FFFFFF"/>
                    </a:solidFill>
                  </a:tcPr>
                </a:tc>
                <a:tc>
                  <a:txBody>
                    <a:bodyPr/>
                    <a:lstStyle/>
                    <a:p>
                      <a:r>
                        <a:rPr sz="1650" b="0">
                          <a:solidFill>
                            <a:srgbClr val="173343"/>
                          </a:solidFill>
                          <a:latin typeface="Arial"/>
                          <a:ea typeface="Arial"/>
                          <a:cs typeface="Arial"/>
                        </a:rPr>
                        <a:t>Məhdud bioloji sual</a:t>
                      </a:r>
                    </a:p>
                  </a:txBody>
                  <a:tcPr marL="91440" marR="91440" marT="45720" marB="45720">
                    <a:solidFill>
                      <a:srgbClr val="FFFFFF"/>
                    </a:solidFill>
                  </a:tcPr>
                </a:tc>
                <a:tc>
                  <a:txBody>
                    <a:bodyPr/>
                    <a:lstStyle/>
                    <a:p>
                      <a:r>
                        <a:rPr sz="1650" b="0">
                          <a:solidFill>
                            <a:srgbClr val="173343"/>
                          </a:solidFill>
                          <a:latin typeface="Arial"/>
                          <a:ea typeface="Arial"/>
                          <a:cs typeface="Arial"/>
                        </a:rPr>
                        <a:t>Mənşə, dizayn, ölçü</a:t>
                      </a:r>
                    </a:p>
                  </a:txBody>
                  <a:tcPr marL="91440" marR="91440" marT="45720" marB="45720">
                    <a:solidFill>
                      <a:srgbClr val="FFFFFF"/>
                    </a:solidFill>
                  </a:tcPr>
                </a:tc>
              </a:tr>
              <a:tr h="809625">
                <a:tc>
                  <a:txBody>
                    <a:bodyPr/>
                    <a:lstStyle/>
                    <a:p>
                      <a:r>
                        <a:rPr sz="1650" b="0">
                          <a:solidFill>
                            <a:srgbClr val="173343"/>
                          </a:solidFill>
                          <a:latin typeface="Arial"/>
                          <a:ea typeface="Arial"/>
                          <a:cs typeface="Arial"/>
                        </a:rPr>
                        <a:t>Sintetik nümunə</a:t>
                      </a:r>
                    </a:p>
                  </a:txBody>
                  <a:tcPr marL="91440" marR="91440" marT="45720" marB="45720">
                    <a:solidFill>
                      <a:srgbClr val="E7F1ED"/>
                    </a:solidFill>
                  </a:tcPr>
                </a:tc>
                <a:tc>
                  <a:txBody>
                    <a:bodyPr/>
                    <a:lstStyle/>
                    <a:p>
                      <a:r>
                        <a:rPr sz="1650" b="0">
                          <a:solidFill>
                            <a:srgbClr val="173343"/>
                          </a:solidFill>
                          <a:latin typeface="Arial"/>
                          <a:ea typeface="Arial"/>
                          <a:cs typeface="Arial"/>
                        </a:rPr>
                        <a:t>Metod və məlum nəzarət</a:t>
                      </a:r>
                    </a:p>
                  </a:txBody>
                  <a:tcPr marL="91440" marR="91440" marT="45720" marB="45720">
                    <a:solidFill>
                      <a:srgbClr val="E7F1ED"/>
                    </a:solidFill>
                  </a:tcPr>
                </a:tc>
                <a:tc>
                  <a:txBody>
                    <a:bodyPr/>
                    <a:lstStyle/>
                    <a:p>
                      <a:r>
                        <a:rPr sz="1650" b="0">
                          <a:solidFill>
                            <a:srgbClr val="173343"/>
                          </a:solidFill>
                          <a:latin typeface="Arial"/>
                          <a:ea typeface="Arial"/>
                          <a:cs typeface="Arial"/>
                        </a:rPr>
                        <a:t>Gözlənilən davranış</a:t>
                      </a:r>
                    </a:p>
                  </a:txBody>
                  <a:tcPr marL="91440" marR="91440" marT="45720" marB="45720">
                    <a:solidFill>
                      <a:srgbClr val="E7F1ED"/>
                    </a:solidFill>
                  </a:tcPr>
                </a:tc>
              </a:tr>
              <a:tr h="809625">
                <a:tc>
                  <a:txBody>
                    <a:bodyPr/>
                    <a:lstStyle/>
                    <a:p>
                      <a:r>
                        <a:rPr sz="1650" b="0">
                          <a:solidFill>
                            <a:srgbClr val="173343"/>
                          </a:solidFill>
                          <a:latin typeface="Arial"/>
                          <a:ea typeface="Arial"/>
                          <a:cs typeface="Arial"/>
                        </a:rPr>
                        <a:t>Gələcək protokol</a:t>
                      </a:r>
                    </a:p>
                  </a:txBody>
                  <a:tcPr marL="91440" marR="91440" marT="45720" marB="45720">
                    <a:solidFill>
                      <a:srgbClr val="FFFFFF"/>
                    </a:solidFill>
                  </a:tcPr>
                </a:tc>
                <a:tc>
                  <a:txBody>
                    <a:bodyPr/>
                    <a:lstStyle/>
                    <a:p>
                      <a:r>
                        <a:rPr sz="1650" b="0">
                          <a:solidFill>
                            <a:srgbClr val="173343"/>
                          </a:solidFill>
                          <a:latin typeface="Arial"/>
                          <a:ea typeface="Arial"/>
                          <a:cs typeface="Arial"/>
                        </a:rPr>
                        <a:t>Yeni tədqiqat planı</a:t>
                      </a:r>
                    </a:p>
                  </a:txBody>
                  <a:tcPr marL="91440" marR="91440" marT="45720" marB="45720">
                    <a:solidFill>
                      <a:srgbClr val="FFFFFF"/>
                    </a:solidFill>
                  </a:tcPr>
                </a:tc>
                <a:tc>
                  <a:txBody>
                    <a:bodyPr/>
                    <a:lstStyle/>
                    <a:p>
                      <a:r>
                        <a:rPr sz="1650" b="0">
                          <a:solidFill>
                            <a:srgbClr val="173343"/>
                          </a:solidFill>
                          <a:latin typeface="Arial"/>
                          <a:ea typeface="Arial"/>
                          <a:cs typeface="Arial"/>
                        </a:rPr>
                        <a:t>Sual və qəbul meyarı</a:t>
                      </a:r>
                    </a:p>
                  </a:txBody>
                  <a:tcPr marL="91440" marR="91440" marT="45720" marB="45720">
                    <a:solidFill>
                      <a:srgbClr val="FFFFFF"/>
                    </a:solidFill>
                  </a:tcPr>
                </a:tc>
              </a:tr>
            </a:tbl>
          </a:graphicData>
        </a:graphic>
      </p:graphicFrame>
      <p:sp>
        <p:nvSpPr>
          <p:cNvPr id="3" name="reveal-6::shape-169">
            <a:extLst xmlns:a="http://schemas.openxmlformats.org/drawingml/2006/main">
              <a:ext uri="{FF2B5EF4-FFF2-40B4-BE49-F238E27FC236}">
                <a16:creationId xmlns:a16="http://schemas.microsoft.com/office/drawing/2014/main" id="{2402809A-D5E2-4548-BDE3-2D7CF9F88E08}"/>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Böyük raw fayllar Git-ə daxil edilmir. Mənbə və istifadə şərti dataset kartında saxlanır.</a:t>
            </a:r>
          </a:p>
        </p:txBody>
      </p:sp>
      <p:sp>
        <p:nvSpPr>
          <p:cNvPr id="4" name="reveal-0::shape-170">
            <a:extLst xmlns:a="http://schemas.openxmlformats.org/drawingml/2006/main">
              <a:ext uri="{FF2B5EF4-FFF2-40B4-BE49-F238E27FC236}">
                <a16:creationId xmlns:a16="http://schemas.microsoft.com/office/drawing/2014/main" id="{FEF2ACB3-B723-470F-BFF1-CD519613F11F}"/>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18</a:t>
            </a:r>
          </a:p>
        </p:txBody>
      </p:sp>
    </p:spTree>
    <p:extLst>
      <p:ext uri="{BB962C8B-B14F-4D97-AF65-F5344CB8AC3E}">
        <p14:creationId xmlns:p14="http://schemas.microsoft.com/office/powerpoint/2010/main" val="1092477498"/>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5"/>
                                  </p:tgtEl>
                                  <p:attrNameLst>
                                    <p:attrName>style.visibility</p:attrName>
                                  </p:attrNameLst>
                                </p:cBhvr>
                                <p:to>
                                  <p:strVal val="visible"/>
                                </p:to>
                              </p:set>
                              <p:animEffect transition="in" filter="fade">
                                <p:cBhvr>
                                  <p:cTn id="6" dur="550" fill="hold"/>
                                  <p:tgtEl>
                                    <p:spTgt spid="5"/>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6"/>
                                  </p:tgtEl>
                                  <p:attrNameLst>
                                    <p:attrName>style.visibility</p:attrName>
                                  </p:attrNameLst>
                                </p:cBhvr>
                                <p:to>
                                  <p:strVal val="visible"/>
                                </p:to>
                              </p:set>
                              <p:animEffect transition="in" filter="fade">
                                <p:cBhvr>
                                  <p:cTn id="9" dur="550" fill="hold"/>
                                  <p:tgtEl>
                                    <p:spTgt spid="6"/>
                                  </p:tgtEl>
                                </p:cBhvr>
                              </p:animEffect>
                            </p:childTnList>
                          </p:cTn>
                        </p:par>
                        <p:par>
                          <p:cTn id="10" presetID="10" presetClass="entr" presetSubtype="0" fill="hold" grpId="0" nodeType="withEffect">
                            <p:stCondLst>
                              <p:cond delay="130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19.xml><?xml version="1.0" encoding="utf-8"?>
<p:sld xmlns:p="http://schemas.openxmlformats.org/presentationml/2006/main">
  <p:cSld>
    <p:bg>
      <p:bgPr>
        <a:solidFill xmlns:a="http://schemas.openxmlformats.org/drawingml/2006/main">
          <a:srgbClr val="092333"/>
        </a:solidFill>
      </p:bgPr>
    </p:bg>
    <p:spTree>
      <p:nvGrpSpPr>
        <p:cNvPr id="1" name=""/>
        <p:cNvGrpSpPr/>
        <p:nvPr/>
      </p:nvGrpSpPr>
      <p:grpSpPr>
        <a:xfrm xmlns:a="http://schemas.openxmlformats.org/drawingml/2006/main"/>
      </p:grpSpPr>
      <p:sp>
        <p:nvSpPr>
          <p:cNvPr id="8" name="reveal-1::shape-171">
            <a:extLst xmlns:a="http://schemas.openxmlformats.org/drawingml/2006/main">
              <a:ext uri="{FF2B5EF4-FFF2-40B4-BE49-F238E27FC236}">
                <a16:creationId xmlns:a16="http://schemas.microsoft.com/office/drawing/2014/main" id="{B14DB834-7724-4697-A2CB-A81ABAFAE9E8}"/>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Model nəticəsindən elmi iddiaya</a:t>
            </a:r>
          </a:p>
        </p:txBody>
      </p:sp>
      <p:sp>
        <p:nvSpPr>
          <p:cNvPr id="2" name="reveal-2::shape-172">
            <a:extLst xmlns:a="http://schemas.openxmlformats.org/drawingml/2006/main">
              <a:ext uri="{FF2B5EF4-FFF2-40B4-BE49-F238E27FC236}">
                <a16:creationId xmlns:a16="http://schemas.microsoft.com/office/drawing/2014/main" id="{CE012E66-D0AD-4D8F-8926-09F70449CE64}"/>
              </a:ext>
            </a:extLst>
          </p:cNvPr>
          <p:cNvSpPr>
            <a:spLocks xmlns:a="http://schemas.openxmlformats.org/drawingml/2006/main" noGrp="1"/>
          </p:cNvSpPr>
          <p:nvPr/>
        </p:nvSpPr>
        <p:spPr>
          <a:xfrm xmlns:a="http://schemas.openxmlformats.org/drawingml/2006/main">
            <a:off x="581025" y="1809750"/>
            <a:ext cx="509587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75" b="1">
                <a:solidFill>
                  <a:srgbClr val="79DEC5"/>
                </a:solidFill>
                <a:latin typeface="Arial"/>
                <a:ea typeface="Arial"/>
                <a:cs typeface="Arial"/>
              </a:defRPr>
            </a:pPr>
            <a:r>
              <a:rPr sz="6075" b="1">
                <a:solidFill>
                  <a:srgbClr val="79DEC5"/>
                </a:solidFill>
                <a:latin typeface="Arial"/>
                <a:ea typeface="Arial"/>
                <a:cs typeface="Arial"/>
              </a:rPr>
              <a:t>Yüksək</a:t>
            </a:r>
          </a:p>
          <a:p xmlns:a="http://schemas.openxmlformats.org/drawingml/2006/main">
            <a:pPr>
              <a:defRPr sz="6075" b="1">
                <a:solidFill>
                  <a:srgbClr val="79DEC5"/>
                </a:solidFill>
                <a:latin typeface="Arial"/>
                <a:ea typeface="Arial"/>
                <a:cs typeface="Arial"/>
              </a:defRPr>
            </a:pPr>
            <a:r>
              <a:rPr sz="6075" b="1">
                <a:solidFill>
                  <a:srgbClr val="79DEC5"/>
                </a:solidFill>
                <a:latin typeface="Arial"/>
                <a:ea typeface="Arial"/>
                <a:cs typeface="Arial"/>
              </a:rPr>
              <a:t>score</a:t>
            </a:r>
          </a:p>
        </p:txBody>
      </p:sp>
      <p:sp>
        <p:nvSpPr>
          <p:cNvPr id="3" name="reveal-0::shape-173">
            <a:extLst xmlns:a="http://schemas.openxmlformats.org/drawingml/2006/main">
              <a:ext uri="{FF2B5EF4-FFF2-40B4-BE49-F238E27FC236}">
                <a16:creationId xmlns:a16="http://schemas.microsoft.com/office/drawing/2014/main" id="{5F97FFE8-839A-42D8-BD42-39BED19CAEFC}"/>
              </a:ext>
            </a:extLst>
          </p:cNvPr>
          <p:cNvSpPr>
            <a:spLocks xmlns:a="http://schemas.openxmlformats.org/drawingml/2006/main" noGrp="1"/>
          </p:cNvSpPr>
          <p:nvPr/>
        </p:nvSpPr>
        <p:spPr>
          <a:xfrm xmlns:a="http://schemas.openxmlformats.org/drawingml/2006/main">
            <a:off x="6057900" y="1657350"/>
            <a:ext cx="19050" cy="3762375"/>
          </a:xfrm>
          <a:prstGeom xmlns:a="http://schemas.openxmlformats.org/drawingml/2006/main" prst="rect">
            <a:avLst/>
          </a:prstGeom>
          <a:solidFill xmlns:a="http://schemas.openxmlformats.org/drawingml/2006/main">
            <a:srgbClr val="41616C"/>
          </a:solidFill>
          <a:ln xmlns:a="http://schemas.openxmlformats.org/drawingml/2006/main" w="0">
            <a:noFill/>
          </a:ln>
        </p:spPr>
      </p:sp>
      <p:sp>
        <p:nvSpPr>
          <p:cNvPr id="4" name="reveal-3::shape-174">
            <a:extLst xmlns:a="http://schemas.openxmlformats.org/drawingml/2006/main">
              <a:ext uri="{FF2B5EF4-FFF2-40B4-BE49-F238E27FC236}">
                <a16:creationId xmlns:a16="http://schemas.microsoft.com/office/drawing/2014/main" id="{CDE8D682-6B10-4E91-8453-E540F30A3ED4}"/>
              </a:ext>
            </a:extLst>
          </p:cNvPr>
          <p:cNvSpPr>
            <a:spLocks xmlns:a="http://schemas.openxmlformats.org/drawingml/2006/main" noGrp="1"/>
          </p:cNvSpPr>
          <p:nvPr/>
        </p:nvSpPr>
        <p:spPr>
          <a:xfrm xmlns:a="http://schemas.openxmlformats.org/drawingml/2006/main">
            <a:off x="6781800" y="1771650"/>
            <a:ext cx="4772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Ayrıca sübut tələb edənlər</a:t>
            </a:r>
          </a:p>
        </p:txBody>
      </p:sp>
      <p:sp>
        <p:nvSpPr>
          <p:cNvPr id="5" name="reveal-4::shape-175">
            <a:extLst xmlns:a="http://schemas.openxmlformats.org/drawingml/2006/main">
              <a:ext uri="{FF2B5EF4-FFF2-40B4-BE49-F238E27FC236}">
                <a16:creationId xmlns:a16="http://schemas.microsoft.com/office/drawing/2014/main" id="{008823A6-FE61-4DAF-B123-B8CB7F51E9B5}"/>
              </a:ext>
            </a:extLst>
          </p:cNvPr>
          <p:cNvSpPr>
            <a:spLocks xmlns:a="http://schemas.openxmlformats.org/drawingml/2006/main" noGrp="1"/>
          </p:cNvSpPr>
          <p:nvPr/>
        </p:nvSpPr>
        <p:spPr>
          <a:xfrm xmlns:a="http://schemas.openxmlformats.org/drawingml/2006/main">
            <a:off x="6781800" y="2971800"/>
            <a:ext cx="4572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Yeni cohort-da doğrulama</a:t>
            </a:r>
          </a:p>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Probe seçiminin sabitliyi</a:t>
            </a:r>
          </a:p>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Klinik fayda</a:t>
            </a:r>
          </a:p>
        </p:txBody>
      </p:sp>
      <p:sp>
        <p:nvSpPr>
          <p:cNvPr id="6" name="reveal-6::shape-176">
            <a:extLst xmlns:a="http://schemas.openxmlformats.org/drawingml/2006/main">
              <a:ext uri="{FF2B5EF4-FFF2-40B4-BE49-F238E27FC236}">
                <a16:creationId xmlns:a16="http://schemas.microsoft.com/office/drawing/2014/main" id="{696177DA-C8C7-4235-AEE1-BE99E8F530DC}"/>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1D2D7"/>
                </a:solidFill>
                <a:latin typeface="Arial"/>
                <a:ea typeface="Arial"/>
                <a:cs typeface="Arial"/>
              </a:defRPr>
            </a:pPr>
            <a:r>
              <a:rPr sz="1575" b="0">
                <a:solidFill>
                  <a:srgbClr val="B1D2D7"/>
                </a:solidFill>
                <a:latin typeface="Arial"/>
                <a:ea typeface="Arial"/>
                <a:cs typeface="Arial"/>
              </a:rPr>
              <a:t>Kiçik dataset və texniki dizayn nəticənin tətbiq sərhədini müəyyən edir.</a:t>
            </a:r>
          </a:p>
        </p:txBody>
      </p:sp>
      <p:sp>
        <p:nvSpPr>
          <p:cNvPr id="7" name="reveal-0::shape-177">
            <a:extLst xmlns:a="http://schemas.openxmlformats.org/drawingml/2006/main">
              <a:ext uri="{FF2B5EF4-FFF2-40B4-BE49-F238E27FC236}">
                <a16:creationId xmlns:a16="http://schemas.microsoft.com/office/drawing/2014/main" id="{EBD73620-0979-4FA0-80D4-FA1A946F5470}"/>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2B2BB"/>
                </a:solidFill>
                <a:latin typeface="Arial"/>
                <a:ea typeface="Arial"/>
                <a:cs typeface="Arial"/>
              </a:defRPr>
            </a:pPr>
            <a:r>
              <a:rPr sz="1050" b="0">
                <a:solidFill>
                  <a:srgbClr val="92B2BB"/>
                </a:solidFill>
                <a:latin typeface="Arial"/>
                <a:ea typeface="Arial"/>
                <a:cs typeface="Arial"/>
              </a:rPr>
              <a:t>19</a:t>
            </a:r>
          </a:p>
        </p:txBody>
      </p:sp>
    </p:spTree>
    <p:extLst>
      <p:ext uri="{BB962C8B-B14F-4D97-AF65-F5344CB8AC3E}">
        <p14:creationId xmlns:p14="http://schemas.microsoft.com/office/powerpoint/2010/main" val="1326171214"/>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8"/>
                                  </p:tgtEl>
                                  <p:attrNameLst>
                                    <p:attrName>style.visibility</p:attrName>
                                  </p:attrNameLst>
                                </p:cBhvr>
                                <p:to>
                                  <p:strVal val="visible"/>
                                </p:to>
                              </p:set>
                              <p:animEffect transition="in" filter="fade">
                                <p:cBhvr>
                                  <p:cTn id="6" dur="550" fill="hold"/>
                                  <p:tgtEl>
                                    <p:spTgt spid="8"/>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520"/>
                            </p:stCondLst>
                            <p:childTnList>
                              <p:set>
                                <p:cBhvr>
                                  <p:cTn id="11" dur="1" fill="hold">
                                    <p:stCondLst>
                                      <p:cond delay="0"/>
                                    </p:stCondLst>
                                  </p:cTn>
                                  <p:tgtEl>
                                    <p:spTgt spid="4"/>
                                  </p:tgtEl>
                                  <p:attrNameLst>
                                    <p:attrName>style.visibility</p:attrName>
                                  </p:attrNameLst>
                                </p:cBhvr>
                                <p:to>
                                  <p:strVal val="visible"/>
                                </p:to>
                              </p:set>
                              <p:animEffect transition="in" filter="fade">
                                <p:cBhvr>
                                  <p:cTn id="12" dur="550" fill="hold"/>
                                  <p:tgtEl>
                                    <p:spTgt spid="4"/>
                                  </p:tgtEl>
                                </p:cBhvr>
                              </p:animEffect>
                            </p:childTnList>
                          </p:cTn>
                        </p:par>
                        <p:par>
                          <p:cTn id="13" presetID="10" presetClass="entr" presetSubtype="0" fill="hold" grpId="0" nodeType="withEffect">
                            <p:stCondLst>
                              <p:cond delay="780"/>
                            </p:stCondLst>
                            <p:childTnList>
                              <p:set>
                                <p:cBhvr>
                                  <p:cTn id="14" dur="1" fill="hold">
                                    <p:stCondLst>
                                      <p:cond delay="0"/>
                                    </p:stCondLst>
                                  </p:cTn>
                                  <p:tgtEl>
                                    <p:spTgt spid="5"/>
                                  </p:tgtEl>
                                  <p:attrNameLst>
                                    <p:attrName>style.visibility</p:attrName>
                                  </p:attrNameLst>
                                </p:cBhvr>
                                <p:to>
                                  <p:strVal val="visible"/>
                                </p:to>
                              </p:set>
                              <p:animEffect transition="in" filter="fade">
                                <p:cBhvr>
                                  <p:cTn id="15" dur="550" fill="hold"/>
                                  <p:tgtEl>
                                    <p:spTgt spid="5"/>
                                  </p:tgtEl>
                                </p:cBhvr>
                              </p:animEffect>
                            </p:childTnList>
                          </p:cTn>
                        </p:par>
                        <p:par>
                          <p:cTn id="16" presetID="10" presetClass="entr" presetSubtype="0" fill="hold" grpId="0" nodeType="withEffect">
                            <p:stCondLst>
                              <p:cond delay="130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20.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6" name="reveal-1::shape-178">
            <a:extLst xmlns:a="http://schemas.openxmlformats.org/drawingml/2006/main">
              <a:ext uri="{FF2B5EF4-FFF2-40B4-BE49-F238E27FC236}">
                <a16:creationId xmlns:a16="http://schemas.microsoft.com/office/drawing/2014/main" id="{BDE3DF84-B5D9-423B-BAA8-67696E97A2EA}"/>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Növbəti tədqiqatların planı</a:t>
            </a:r>
          </a:p>
        </p:txBody>
      </p:sp>
      <p:sp>
        <p:nvSpPr>
          <p:cNvPr id="2" name="reveal-2::shape-179">
            <a:extLst xmlns:a="http://schemas.openxmlformats.org/drawingml/2006/main">
              <a:ext uri="{FF2B5EF4-FFF2-40B4-BE49-F238E27FC236}">
                <a16:creationId xmlns:a16="http://schemas.microsoft.com/office/drawing/2014/main" id="{C81989BC-674A-4E28-9718-00FD485B8C3D}"/>
              </a:ext>
            </a:extLst>
          </p:cNvPr>
          <p:cNvSpPr>
            <a:spLocks xmlns:a="http://schemas.openxmlformats.org/drawingml/2006/main" noGrp="1"/>
          </p:cNvSpPr>
          <p:nvPr/>
        </p:nvSpPr>
        <p:spPr>
          <a:xfrm xmlns:a="http://schemas.openxmlformats.org/drawingml/2006/main">
            <a:off x="581025" y="1752600"/>
            <a:ext cx="981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F83"/>
                </a:solidFill>
                <a:latin typeface="Arial"/>
                <a:ea typeface="Arial"/>
                <a:cs typeface="Arial"/>
              </a:defRPr>
            </a:pPr>
            <a:r>
              <a:rPr sz="3150" b="1">
                <a:solidFill>
                  <a:srgbClr val="087F83"/>
                </a:solidFill>
                <a:latin typeface="Arial"/>
                <a:ea typeface="Arial"/>
                <a:cs typeface="Arial"/>
              </a:rPr>
              <a:t>01</a:t>
            </a:r>
          </a:p>
        </p:txBody>
      </p:sp>
      <p:sp>
        <p:nvSpPr>
          <p:cNvPr id="3" name="reveal-2::shape-180">
            <a:extLst xmlns:a="http://schemas.openxmlformats.org/drawingml/2006/main">
              <a:ext uri="{FF2B5EF4-FFF2-40B4-BE49-F238E27FC236}">
                <a16:creationId xmlns:a16="http://schemas.microsoft.com/office/drawing/2014/main" id="{4E21A290-87A3-43AA-BE28-01425A13214E}"/>
              </a:ext>
            </a:extLst>
          </p:cNvPr>
          <p:cNvSpPr>
            <a:spLocks xmlns:a="http://schemas.openxmlformats.org/drawingml/2006/main" noGrp="1"/>
          </p:cNvSpPr>
          <p:nvPr/>
        </p:nvSpPr>
        <p:spPr>
          <a:xfrm xmlns:a="http://schemas.openxmlformats.org/drawingml/2006/main">
            <a:off x="1971675" y="1752600"/>
            <a:ext cx="27813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343"/>
                </a:solidFill>
                <a:latin typeface="Arial"/>
                <a:ea typeface="Arial"/>
                <a:cs typeface="Arial"/>
              </a:defRPr>
            </a:pPr>
            <a:r>
              <a:rPr sz="2550" b="1">
                <a:solidFill>
                  <a:srgbClr val="173343"/>
                </a:solidFill>
                <a:latin typeface="Arial"/>
                <a:ea typeface="Arial"/>
                <a:cs typeface="Arial"/>
              </a:rPr>
              <a:t>Khan</a:t>
            </a:r>
          </a:p>
        </p:txBody>
      </p:sp>
      <p:sp>
        <p:nvSpPr>
          <p:cNvPr id="4" name="reveal-2::shape-181">
            <a:extLst xmlns:a="http://schemas.openxmlformats.org/drawingml/2006/main">
              <a:ext uri="{FF2B5EF4-FFF2-40B4-BE49-F238E27FC236}">
                <a16:creationId xmlns:a16="http://schemas.microsoft.com/office/drawing/2014/main" id="{0E050F02-24F3-4E22-A5AB-98C1B19B55B9}"/>
              </a:ext>
            </a:extLst>
          </p:cNvPr>
          <p:cNvSpPr>
            <a:spLocks xmlns:a="http://schemas.openxmlformats.org/drawingml/2006/main" noGrp="1"/>
          </p:cNvSpPr>
          <p:nvPr/>
        </p:nvSpPr>
        <p:spPr>
          <a:xfrm xmlns:a="http://schemas.openxmlformats.org/drawingml/2006/main">
            <a:off x="5334000" y="1752600"/>
            <a:ext cx="60864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717F"/>
                </a:solidFill>
                <a:latin typeface="Arial"/>
                <a:ea typeface="Arial"/>
                <a:cs typeface="Arial"/>
              </a:defRPr>
            </a:pPr>
            <a:r>
              <a:rPr sz="2175" b="0">
                <a:solidFill>
                  <a:srgbClr val="55717F"/>
                </a:solidFill>
                <a:latin typeface="Arial"/>
                <a:ea typeface="Arial"/>
                <a:cs typeface="Arial"/>
              </a:rPr>
              <a:t>Müstəqil cohort</a:t>
            </a:r>
          </a:p>
          <a:p xmlns:a="http://schemas.openxmlformats.org/drawingml/2006/main">
            <a:pPr>
              <a:defRPr sz="2175" b="0">
                <a:solidFill>
                  <a:srgbClr val="55717F"/>
                </a:solidFill>
                <a:latin typeface="Arial"/>
                <a:ea typeface="Arial"/>
                <a:cs typeface="Arial"/>
              </a:defRPr>
            </a:pPr>
            <a:r>
              <a:rPr sz="2175" b="0">
                <a:solidFill>
                  <a:srgbClr val="55717F"/>
                </a:solidFill>
                <a:latin typeface="Arial"/>
                <a:ea typeface="Arial"/>
                <a:cs typeface="Arial"/>
              </a:rPr>
              <a:t>Sabit k ilə sabitlik</a:t>
            </a:r>
          </a:p>
        </p:txBody>
      </p:sp>
      <p:sp>
        <p:nvSpPr>
          <p:cNvPr id="5" name="reveal-0::shape-182">
            <a:extLst xmlns:a="http://schemas.openxmlformats.org/drawingml/2006/main">
              <a:ext uri="{FF2B5EF4-FFF2-40B4-BE49-F238E27FC236}">
                <a16:creationId xmlns:a16="http://schemas.microsoft.com/office/drawing/2014/main" id="{C5841195-BFE7-4BEA-B834-856873BEEBE6}"/>
              </a:ext>
            </a:extLst>
          </p:cNvPr>
          <p:cNvSpPr>
            <a:spLocks xmlns:a="http://schemas.openxmlformats.org/drawingml/2006/main" noGrp="1"/>
          </p:cNvSpPr>
          <p:nvPr/>
        </p:nvSpPr>
        <p:spPr>
          <a:xfrm xmlns:a="http://schemas.openxmlformats.org/drawingml/2006/main">
            <a:off x="581025" y="2809875"/>
            <a:ext cx="10991850" cy="9525"/>
          </a:xfrm>
          <a:prstGeom xmlns:a="http://schemas.openxmlformats.org/drawingml/2006/main" prst="rect">
            <a:avLst/>
          </a:prstGeom>
          <a:solidFill xmlns:a="http://schemas.openxmlformats.org/drawingml/2006/main">
            <a:srgbClr val="C6DBD4"/>
          </a:solidFill>
          <a:ln xmlns:a="http://schemas.openxmlformats.org/drawingml/2006/main" w="0">
            <a:noFill/>
          </a:ln>
        </p:spPr>
      </p:sp>
      <p:sp>
        <p:nvSpPr>
          <p:cNvPr id="6" name="reveal-3::shape-183">
            <a:extLst xmlns:a="http://schemas.openxmlformats.org/drawingml/2006/main">
              <a:ext uri="{FF2B5EF4-FFF2-40B4-BE49-F238E27FC236}">
                <a16:creationId xmlns:a16="http://schemas.microsoft.com/office/drawing/2014/main" id="{4FEC9A4F-8B1D-42E0-87DB-421D8A451BFA}"/>
              </a:ext>
            </a:extLst>
          </p:cNvPr>
          <p:cNvSpPr>
            <a:spLocks xmlns:a="http://schemas.openxmlformats.org/drawingml/2006/main" noGrp="1"/>
          </p:cNvSpPr>
          <p:nvPr/>
        </p:nvSpPr>
        <p:spPr>
          <a:xfrm xmlns:a="http://schemas.openxmlformats.org/drawingml/2006/main">
            <a:off x="581025" y="3009900"/>
            <a:ext cx="981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F83"/>
                </a:solidFill>
                <a:latin typeface="Arial"/>
                <a:ea typeface="Arial"/>
                <a:cs typeface="Arial"/>
              </a:defRPr>
            </a:pPr>
            <a:r>
              <a:rPr sz="3150" b="1">
                <a:solidFill>
                  <a:srgbClr val="087F83"/>
                </a:solidFill>
                <a:latin typeface="Arial"/>
                <a:ea typeface="Arial"/>
                <a:cs typeface="Arial"/>
              </a:rPr>
              <a:t>02</a:t>
            </a:r>
          </a:p>
        </p:txBody>
      </p:sp>
      <p:sp>
        <p:nvSpPr>
          <p:cNvPr id="7" name="reveal-3::shape-184">
            <a:extLst xmlns:a="http://schemas.openxmlformats.org/drawingml/2006/main">
              <a:ext uri="{FF2B5EF4-FFF2-40B4-BE49-F238E27FC236}">
                <a16:creationId xmlns:a16="http://schemas.microsoft.com/office/drawing/2014/main" id="{76DB743F-A752-49E6-B921-693DF8793629}"/>
              </a:ext>
            </a:extLst>
          </p:cNvPr>
          <p:cNvSpPr>
            <a:spLocks xmlns:a="http://schemas.openxmlformats.org/drawingml/2006/main" noGrp="1"/>
          </p:cNvSpPr>
          <p:nvPr/>
        </p:nvSpPr>
        <p:spPr>
          <a:xfrm xmlns:a="http://schemas.openxmlformats.org/drawingml/2006/main">
            <a:off x="1971675" y="3009900"/>
            <a:ext cx="27813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343"/>
                </a:solidFill>
                <a:latin typeface="Arial"/>
                <a:ea typeface="Arial"/>
                <a:cs typeface="Arial"/>
              </a:defRPr>
            </a:pPr>
            <a:r>
              <a:rPr sz="2550" b="1">
                <a:solidFill>
                  <a:srgbClr val="173343"/>
                </a:solidFill>
                <a:latin typeface="Arial"/>
                <a:ea typeface="Arial"/>
                <a:cs typeface="Arial"/>
              </a:rPr>
              <a:t>GO</a:t>
            </a:r>
          </a:p>
        </p:txBody>
      </p:sp>
      <p:sp>
        <p:nvSpPr>
          <p:cNvPr id="8" name="reveal-3::shape-185">
            <a:extLst xmlns:a="http://schemas.openxmlformats.org/drawingml/2006/main">
              <a:ext uri="{FF2B5EF4-FFF2-40B4-BE49-F238E27FC236}">
                <a16:creationId xmlns:a16="http://schemas.microsoft.com/office/drawing/2014/main" id="{C385414E-A49E-4B21-AAF4-DC3261134033}"/>
              </a:ext>
            </a:extLst>
          </p:cNvPr>
          <p:cNvSpPr>
            <a:spLocks xmlns:a="http://schemas.openxmlformats.org/drawingml/2006/main" noGrp="1"/>
          </p:cNvSpPr>
          <p:nvPr/>
        </p:nvSpPr>
        <p:spPr>
          <a:xfrm xmlns:a="http://schemas.openxmlformats.org/drawingml/2006/main">
            <a:off x="5334000" y="3009900"/>
            <a:ext cx="60864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717F"/>
                </a:solidFill>
                <a:latin typeface="Arial"/>
                <a:ea typeface="Arial"/>
                <a:cs typeface="Arial"/>
              </a:defRPr>
            </a:pPr>
            <a:r>
              <a:rPr sz="2175" b="0">
                <a:solidFill>
                  <a:srgbClr val="55717F"/>
                </a:solidFill>
                <a:latin typeface="Arial"/>
                <a:ea typeface="Arial"/>
                <a:cs typeface="Arial"/>
              </a:rPr>
              <a:t>Foreground ölçüsü</a:t>
            </a:r>
          </a:p>
          <a:p xmlns:a="http://schemas.openxmlformats.org/drawingml/2006/main">
            <a:pPr>
              <a:defRPr sz="2175" b="0">
                <a:solidFill>
                  <a:srgbClr val="55717F"/>
                </a:solidFill>
                <a:latin typeface="Arial"/>
                <a:ea typeface="Arial"/>
                <a:cs typeface="Arial"/>
              </a:defRPr>
            </a:pPr>
            <a:r>
              <a:rPr sz="2175" b="0">
                <a:solidFill>
                  <a:srgbClr val="55717F"/>
                </a:solidFill>
                <a:latin typeface="Arial"/>
                <a:ea typeface="Arial"/>
                <a:cs typeface="Arial"/>
              </a:rPr>
              <a:t>Universe həssaslığı</a:t>
            </a:r>
          </a:p>
        </p:txBody>
      </p:sp>
      <p:sp>
        <p:nvSpPr>
          <p:cNvPr id="9" name="reveal-0::shape-186">
            <a:extLst xmlns:a="http://schemas.openxmlformats.org/drawingml/2006/main">
              <a:ext uri="{FF2B5EF4-FFF2-40B4-BE49-F238E27FC236}">
                <a16:creationId xmlns:a16="http://schemas.microsoft.com/office/drawing/2014/main" id="{CE1AB99D-4399-4BA2-9CBC-E01321F8962D}"/>
              </a:ext>
            </a:extLst>
          </p:cNvPr>
          <p:cNvSpPr>
            <a:spLocks xmlns:a="http://schemas.openxmlformats.org/drawingml/2006/main" noGrp="1"/>
          </p:cNvSpPr>
          <p:nvPr/>
        </p:nvSpPr>
        <p:spPr>
          <a:xfrm xmlns:a="http://schemas.openxmlformats.org/drawingml/2006/main">
            <a:off x="581025" y="4067175"/>
            <a:ext cx="10991850" cy="9525"/>
          </a:xfrm>
          <a:prstGeom xmlns:a="http://schemas.openxmlformats.org/drawingml/2006/main" prst="rect">
            <a:avLst/>
          </a:prstGeom>
          <a:solidFill xmlns:a="http://schemas.openxmlformats.org/drawingml/2006/main">
            <a:srgbClr val="C6DBD4"/>
          </a:solidFill>
          <a:ln xmlns:a="http://schemas.openxmlformats.org/drawingml/2006/main" w="0">
            <a:noFill/>
          </a:ln>
        </p:spPr>
      </p:sp>
      <p:sp>
        <p:nvSpPr>
          <p:cNvPr id="10" name="reveal-4::shape-187">
            <a:extLst xmlns:a="http://schemas.openxmlformats.org/drawingml/2006/main">
              <a:ext uri="{FF2B5EF4-FFF2-40B4-BE49-F238E27FC236}">
                <a16:creationId xmlns:a16="http://schemas.microsoft.com/office/drawing/2014/main" id="{BE5A225D-27B8-4317-84D8-9DFD891505D3}"/>
              </a:ext>
            </a:extLst>
          </p:cNvPr>
          <p:cNvSpPr>
            <a:spLocks xmlns:a="http://schemas.openxmlformats.org/drawingml/2006/main" noGrp="1"/>
          </p:cNvSpPr>
          <p:nvPr/>
        </p:nvSpPr>
        <p:spPr>
          <a:xfrm xmlns:a="http://schemas.openxmlformats.org/drawingml/2006/main">
            <a:off x="581025" y="4267200"/>
            <a:ext cx="981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F83"/>
                </a:solidFill>
                <a:latin typeface="Arial"/>
                <a:ea typeface="Arial"/>
                <a:cs typeface="Arial"/>
              </a:defRPr>
            </a:pPr>
            <a:r>
              <a:rPr sz="3150" b="1">
                <a:solidFill>
                  <a:srgbClr val="087F83"/>
                </a:solidFill>
                <a:latin typeface="Arial"/>
                <a:ea typeface="Arial"/>
                <a:cs typeface="Arial"/>
              </a:rPr>
              <a:t>03</a:t>
            </a:r>
          </a:p>
        </p:txBody>
      </p:sp>
      <p:sp>
        <p:nvSpPr>
          <p:cNvPr id="11" name="reveal-4::shape-188">
            <a:extLst xmlns:a="http://schemas.openxmlformats.org/drawingml/2006/main">
              <a:ext uri="{FF2B5EF4-FFF2-40B4-BE49-F238E27FC236}">
                <a16:creationId xmlns:a16="http://schemas.microsoft.com/office/drawing/2014/main" id="{628C511A-ECDC-49C9-B275-F8FD22FF7DD4}"/>
              </a:ext>
            </a:extLst>
          </p:cNvPr>
          <p:cNvSpPr>
            <a:spLocks xmlns:a="http://schemas.openxmlformats.org/drawingml/2006/main" noGrp="1"/>
          </p:cNvSpPr>
          <p:nvPr/>
        </p:nvSpPr>
        <p:spPr>
          <a:xfrm xmlns:a="http://schemas.openxmlformats.org/drawingml/2006/main">
            <a:off x="1971675" y="4267200"/>
            <a:ext cx="27813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343"/>
                </a:solidFill>
                <a:latin typeface="Arial"/>
                <a:ea typeface="Arial"/>
                <a:cs typeface="Arial"/>
              </a:defRPr>
            </a:pPr>
            <a:r>
              <a:rPr sz="2550" b="1">
                <a:solidFill>
                  <a:srgbClr val="173343"/>
                </a:solidFill>
                <a:latin typeface="Arial"/>
                <a:ea typeface="Arial"/>
                <a:cs typeface="Arial"/>
              </a:rPr>
              <a:t>Xam workflow</a:t>
            </a:r>
          </a:p>
        </p:txBody>
      </p:sp>
      <p:sp>
        <p:nvSpPr>
          <p:cNvPr id="12" name="reveal-4::shape-189">
            <a:extLst xmlns:a="http://schemas.openxmlformats.org/drawingml/2006/main">
              <a:ext uri="{FF2B5EF4-FFF2-40B4-BE49-F238E27FC236}">
                <a16:creationId xmlns:a16="http://schemas.microsoft.com/office/drawing/2014/main" id="{A0495B03-1A71-469E-B037-46FBD8C47D90}"/>
              </a:ext>
            </a:extLst>
          </p:cNvPr>
          <p:cNvSpPr>
            <a:spLocks xmlns:a="http://schemas.openxmlformats.org/drawingml/2006/main" noGrp="1"/>
          </p:cNvSpPr>
          <p:nvPr/>
        </p:nvSpPr>
        <p:spPr>
          <a:xfrm xmlns:a="http://schemas.openxmlformats.org/drawingml/2006/main">
            <a:off x="5334000" y="4267200"/>
            <a:ext cx="60864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717F"/>
                </a:solidFill>
                <a:latin typeface="Arial"/>
                <a:ea typeface="Arial"/>
                <a:cs typeface="Arial"/>
              </a:defRPr>
            </a:pPr>
            <a:r>
              <a:rPr sz="2175" b="0">
                <a:solidFill>
                  <a:srgbClr val="55717F"/>
                </a:solidFill>
                <a:latin typeface="Arial"/>
                <a:ea typeface="Arial"/>
                <a:cs typeface="Arial"/>
              </a:rPr>
              <a:t>Truth dataset</a:t>
            </a:r>
          </a:p>
          <a:p xmlns:a="http://schemas.openxmlformats.org/drawingml/2006/main">
            <a:pPr>
              <a:defRPr sz="2175" b="0">
                <a:solidFill>
                  <a:srgbClr val="55717F"/>
                </a:solidFill>
                <a:latin typeface="Arial"/>
                <a:ea typeface="Arial"/>
                <a:cs typeface="Arial"/>
              </a:defRPr>
            </a:pPr>
            <a:r>
              <a:rPr sz="2175" b="0">
                <a:solidFill>
                  <a:srgbClr val="55717F"/>
                </a:solidFill>
                <a:latin typeface="Arial"/>
                <a:ea typeface="Arial"/>
                <a:cs typeface="Arial"/>
              </a:rPr>
              <a:t>Daha böyük miqyas</a:t>
            </a:r>
          </a:p>
        </p:txBody>
      </p:sp>
      <p:sp>
        <p:nvSpPr>
          <p:cNvPr id="13" name="reveal-0::shape-190">
            <a:extLst xmlns:a="http://schemas.openxmlformats.org/drawingml/2006/main">
              <a:ext uri="{FF2B5EF4-FFF2-40B4-BE49-F238E27FC236}">
                <a16:creationId xmlns:a16="http://schemas.microsoft.com/office/drawing/2014/main" id="{23364E70-CEE4-4EF7-87DB-3BDA8A114FA7}"/>
              </a:ext>
            </a:extLst>
          </p:cNvPr>
          <p:cNvSpPr>
            <a:spLocks xmlns:a="http://schemas.openxmlformats.org/drawingml/2006/main" noGrp="1"/>
          </p:cNvSpPr>
          <p:nvPr/>
        </p:nvSpPr>
        <p:spPr>
          <a:xfrm xmlns:a="http://schemas.openxmlformats.org/drawingml/2006/main">
            <a:off x="581025" y="5324475"/>
            <a:ext cx="10991850" cy="9525"/>
          </a:xfrm>
          <a:prstGeom xmlns:a="http://schemas.openxmlformats.org/drawingml/2006/main" prst="rect">
            <a:avLst/>
          </a:prstGeom>
          <a:solidFill xmlns:a="http://schemas.openxmlformats.org/drawingml/2006/main">
            <a:srgbClr val="C6DBD4"/>
          </a:solidFill>
          <a:ln xmlns:a="http://schemas.openxmlformats.org/drawingml/2006/main" w="0">
            <a:noFill/>
          </a:ln>
        </p:spPr>
      </p:sp>
      <p:sp>
        <p:nvSpPr>
          <p:cNvPr id="14" name="reveal-6::shape-191">
            <a:extLst xmlns:a="http://schemas.openxmlformats.org/drawingml/2006/main">
              <a:ext uri="{FF2B5EF4-FFF2-40B4-BE49-F238E27FC236}">
                <a16:creationId xmlns:a16="http://schemas.microsoft.com/office/drawing/2014/main" id="{94DAED4F-E5F2-44C4-9F56-4491D0FDE1D9}"/>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Bunlar gələcək işlərdir. 30 ideyanın hamısı icra edilməyib.</a:t>
            </a:r>
          </a:p>
        </p:txBody>
      </p:sp>
      <p:sp>
        <p:nvSpPr>
          <p:cNvPr id="15" name="reveal-0::shape-192">
            <a:extLst xmlns:a="http://schemas.openxmlformats.org/drawingml/2006/main">
              <a:ext uri="{FF2B5EF4-FFF2-40B4-BE49-F238E27FC236}">
                <a16:creationId xmlns:a16="http://schemas.microsoft.com/office/drawing/2014/main" id="{B31CE3F7-1A35-4020-AFFA-586932E20856}"/>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20</a:t>
            </a:r>
          </a:p>
        </p:txBody>
      </p:sp>
    </p:spTree>
    <p:extLst>
      <p:ext uri="{BB962C8B-B14F-4D97-AF65-F5344CB8AC3E}">
        <p14:creationId xmlns:p14="http://schemas.microsoft.com/office/powerpoint/2010/main" val="35728920"/>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16"/>
                                  </p:tgtEl>
                                  <p:attrNameLst>
                                    <p:attrName>style.visibility</p:attrName>
                                  </p:attrNameLst>
                                </p:cBhvr>
                                <p:to>
                                  <p:strVal val="visible"/>
                                </p:to>
                              </p:set>
                              <p:animEffect transition="in" filter="fade">
                                <p:cBhvr>
                                  <p:cTn id="6" dur="550" fill="hold"/>
                                  <p:tgtEl>
                                    <p:spTgt spid="16"/>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26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52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par>
                          <p:cTn id="19" presetID="10" presetClass="entr" presetSubtype="0" fill="hold" grpId="0" nodeType="withEffect">
                            <p:stCondLst>
                              <p:cond delay="520"/>
                            </p:stCondLst>
                            <p:childTnList>
                              <p:set>
                                <p:cBhvr>
                                  <p:cTn id="20" dur="1" fill="hold">
                                    <p:stCondLst>
                                      <p:cond delay="0"/>
                                    </p:stCondLst>
                                  </p:cTn>
                                  <p:tgtEl>
                                    <p:spTgt spid="7"/>
                                  </p:tgtEl>
                                  <p:attrNameLst>
                                    <p:attrName>style.visibility</p:attrName>
                                  </p:attrNameLst>
                                </p:cBhvr>
                                <p:to>
                                  <p:strVal val="visible"/>
                                </p:to>
                              </p:set>
                              <p:animEffect transition="in" filter="fade">
                                <p:cBhvr>
                                  <p:cTn id="21" dur="550" fill="hold"/>
                                  <p:tgtEl>
                                    <p:spTgt spid="7"/>
                                  </p:tgtEl>
                                </p:cBhvr>
                              </p:animEffect>
                            </p:childTnList>
                          </p:cTn>
                        </p:par>
                        <p:par>
                          <p:cTn id="22" presetID="10" presetClass="entr" presetSubtype="0" fill="hold" grpId="0" nodeType="withEffect">
                            <p:stCondLst>
                              <p:cond delay="520"/>
                            </p:stCondLst>
                            <p:childTnList>
                              <p:set>
                                <p:cBhvr>
                                  <p:cTn id="23" dur="1" fill="hold">
                                    <p:stCondLst>
                                      <p:cond delay="0"/>
                                    </p:stCondLst>
                                  </p:cTn>
                                  <p:tgtEl>
                                    <p:spTgt spid="8"/>
                                  </p:tgtEl>
                                  <p:attrNameLst>
                                    <p:attrName>style.visibility</p:attrName>
                                  </p:attrNameLst>
                                </p:cBhvr>
                                <p:to>
                                  <p:strVal val="visible"/>
                                </p:to>
                              </p:set>
                              <p:animEffect transition="in" filter="fade">
                                <p:cBhvr>
                                  <p:cTn id="24" dur="550" fill="hold"/>
                                  <p:tgtEl>
                                    <p:spTgt spid="8"/>
                                  </p:tgtEl>
                                </p:cBhvr>
                              </p:animEffect>
                            </p:childTnList>
                          </p:cTn>
                        </p:par>
                        <p:par>
                          <p:cTn id="25" presetID="10" presetClass="entr" presetSubtype="0" fill="hold" grpId="0" nodeType="withEffect">
                            <p:stCondLst>
                              <p:cond delay="780"/>
                            </p:stCondLst>
                            <p:childTnList>
                              <p:set>
                                <p:cBhvr>
                                  <p:cTn id="26" dur="1" fill="hold">
                                    <p:stCondLst>
                                      <p:cond delay="0"/>
                                    </p:stCondLst>
                                  </p:cTn>
                                  <p:tgtEl>
                                    <p:spTgt spid="10"/>
                                  </p:tgtEl>
                                  <p:attrNameLst>
                                    <p:attrName>style.visibility</p:attrName>
                                  </p:attrNameLst>
                                </p:cBhvr>
                                <p:to>
                                  <p:strVal val="visible"/>
                                </p:to>
                              </p:set>
                              <p:animEffect transition="in" filter="fade">
                                <p:cBhvr>
                                  <p:cTn id="27" dur="550" fill="hold"/>
                                  <p:tgtEl>
                                    <p:spTgt spid="10"/>
                                  </p:tgtEl>
                                </p:cBhvr>
                              </p:animEffect>
                            </p:childTnList>
                          </p:cTn>
                        </p:par>
                        <p:par>
                          <p:cTn id="28" presetID="10" presetClass="entr" presetSubtype="0" fill="hold" grpId="0" nodeType="withEffect">
                            <p:stCondLst>
                              <p:cond delay="780"/>
                            </p:stCondLst>
                            <p:childTnList>
                              <p:set>
                                <p:cBhvr>
                                  <p:cTn id="29" dur="1" fill="hold">
                                    <p:stCondLst>
                                      <p:cond delay="0"/>
                                    </p:stCondLst>
                                  </p:cTn>
                                  <p:tgtEl>
                                    <p:spTgt spid="11"/>
                                  </p:tgtEl>
                                  <p:attrNameLst>
                                    <p:attrName>style.visibility</p:attrName>
                                  </p:attrNameLst>
                                </p:cBhvr>
                                <p:to>
                                  <p:strVal val="visible"/>
                                </p:to>
                              </p:set>
                              <p:animEffect transition="in" filter="fade">
                                <p:cBhvr>
                                  <p:cTn id="30" dur="550" fill="hold"/>
                                  <p:tgtEl>
                                    <p:spTgt spid="11"/>
                                  </p:tgtEl>
                                </p:cBhvr>
                              </p:animEffect>
                            </p:childTnList>
                          </p:cTn>
                        </p:par>
                        <p:par>
                          <p:cTn id="31" presetID="10" presetClass="entr" presetSubtype="0" fill="hold" grpId="0" nodeType="withEffect">
                            <p:stCondLst>
                              <p:cond delay="780"/>
                            </p:stCondLst>
                            <p:childTnList>
                              <p:set>
                                <p:cBhvr>
                                  <p:cTn id="32" dur="1" fill="hold">
                                    <p:stCondLst>
                                      <p:cond delay="0"/>
                                    </p:stCondLst>
                                  </p:cTn>
                                  <p:tgtEl>
                                    <p:spTgt spid="12"/>
                                  </p:tgtEl>
                                  <p:attrNameLst>
                                    <p:attrName>style.visibility</p:attrName>
                                  </p:attrNameLst>
                                </p:cBhvr>
                                <p:to>
                                  <p:strVal val="visible"/>
                                </p:to>
                              </p:set>
                              <p:animEffect transition="in" filter="fade">
                                <p:cBhvr>
                                  <p:cTn id="33" dur="550" fill="hold"/>
                                  <p:tgtEl>
                                    <p:spTgt spid="12"/>
                                  </p:tgtEl>
                                </p:cBhvr>
                              </p:animEffect>
                            </p:childTnList>
                          </p:cTn>
                        </p:par>
                        <p:par>
                          <p:cTn id="34" presetID="10" presetClass="entr" presetSubtype="0" fill="hold" grpId="0" nodeType="withEffect">
                            <p:stCondLst>
                              <p:cond delay="1300"/>
                            </p:stCondLst>
                            <p:childTnList>
                              <p:set>
                                <p:cBhvr>
                                  <p:cTn id="35" dur="1" fill="hold">
                                    <p:stCondLst>
                                      <p:cond delay="0"/>
                                    </p:stCondLst>
                                  </p:cTn>
                                  <p:tgtEl>
                                    <p:spTgt spid="14"/>
                                  </p:tgtEl>
                                  <p:attrNameLst>
                                    <p:attrName>style.visibility</p:attrName>
                                  </p:attrNameLst>
                                </p:cBhvr>
                                <p:to>
                                  <p:strVal val="visible"/>
                                </p:to>
                              </p:set>
                              <p:animEffect transition="in" filter="fade">
                                <p:cBhvr>
                                  <p:cTn id="36" dur="550" fill="hold"/>
                                  <p:tgtEl>
                                    <p:spTgt spid="14"/>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21.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8" name="reveal-1::shape-193">
            <a:extLst xmlns:a="http://schemas.openxmlformats.org/drawingml/2006/main">
              <a:ext uri="{FF2B5EF4-FFF2-40B4-BE49-F238E27FC236}">
                <a16:creationId xmlns:a16="http://schemas.microsoft.com/office/drawing/2014/main" id="{21DCC8EE-B2E3-482F-B9D0-6E0E0EB26B23}"/>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Başlanğıc 1. Repo xəritəsi</a:t>
            </a:r>
          </a:p>
        </p:txBody>
      </p:sp>
      <p:sp>
        <p:nvSpPr>
          <p:cNvPr id="2" name="reveal-2::shape-194">
            <a:extLst xmlns:a="http://schemas.openxmlformats.org/drawingml/2006/main">
              <a:ext uri="{FF2B5EF4-FFF2-40B4-BE49-F238E27FC236}">
                <a16:creationId xmlns:a16="http://schemas.microsoft.com/office/drawing/2014/main" id="{22AF5548-E58C-42DB-BB46-286DCFFAC723}"/>
              </a:ext>
            </a:extLst>
          </p:cNvPr>
          <p:cNvSpPr>
            <a:spLocks xmlns:a="http://schemas.openxmlformats.org/drawingml/2006/main" noGrp="1"/>
          </p:cNvSpPr>
          <p:nvPr/>
        </p:nvSpPr>
        <p:spPr>
          <a:xfrm xmlns:a="http://schemas.openxmlformats.org/drawingml/2006/main">
            <a:off x="581025" y="1657350"/>
            <a:ext cx="95345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7F83"/>
                </a:solidFill>
                <a:latin typeface="Arial"/>
                <a:ea typeface="Arial"/>
                <a:cs typeface="Arial"/>
              </a:defRPr>
            </a:pPr>
            <a:r>
              <a:rPr sz="3600" b="1">
                <a:solidFill>
                  <a:srgbClr val="087F83"/>
                </a:solidFill>
                <a:latin typeface="Arial"/>
                <a:ea typeface="Arial"/>
                <a:cs typeface="Arial"/>
              </a:rPr>
              <a:t>bioinformatics-lab</a:t>
            </a:r>
          </a:p>
        </p:txBody>
      </p:sp>
      <p:sp>
        <p:nvSpPr>
          <p:cNvPr id="3" name="reveal-0::shape-195">
            <a:extLst xmlns:a="http://schemas.openxmlformats.org/drawingml/2006/main">
              <a:ext uri="{FF2B5EF4-FFF2-40B4-BE49-F238E27FC236}">
                <a16:creationId xmlns:a16="http://schemas.microsoft.com/office/drawing/2014/main" id="{0F0CCC7C-87BF-4A8B-B521-352B014E6133}"/>
              </a:ext>
            </a:extLst>
          </p:cNvPr>
          <p:cNvSpPr>
            <a:spLocks xmlns:a="http://schemas.openxmlformats.org/drawingml/2006/main" noGrp="1"/>
          </p:cNvSpPr>
          <p:nvPr/>
        </p:nvSpPr>
        <p:spPr>
          <a:xfrm xmlns:a="http://schemas.openxmlformats.org/drawingml/2006/main">
            <a:off x="819150" y="2628900"/>
            <a:ext cx="28575" cy="2905125"/>
          </a:xfrm>
          <a:prstGeom xmlns:a="http://schemas.openxmlformats.org/drawingml/2006/main" prst="rect">
            <a:avLst/>
          </a:prstGeom>
          <a:solidFill xmlns:a="http://schemas.openxmlformats.org/drawingml/2006/main">
            <a:srgbClr val="AFD7CC"/>
          </a:solidFill>
          <a:ln xmlns:a="http://schemas.openxmlformats.org/drawingml/2006/main" w="0">
            <a:noFill/>
          </a:ln>
        </p:spPr>
      </p:sp>
      <p:sp>
        <p:nvSpPr>
          <p:cNvPr id="4" name="reveal-0::shape-196">
            <a:extLst xmlns:a="http://schemas.openxmlformats.org/drawingml/2006/main">
              <a:ext uri="{FF2B5EF4-FFF2-40B4-BE49-F238E27FC236}">
                <a16:creationId xmlns:a16="http://schemas.microsoft.com/office/drawing/2014/main" id="{B885FBE4-CB94-4089-95FD-F6B04B91AF1B}"/>
              </a:ext>
            </a:extLst>
          </p:cNvPr>
          <p:cNvSpPr>
            <a:spLocks xmlns:a="http://schemas.openxmlformats.org/drawingml/2006/main" noGrp="1"/>
          </p:cNvSpPr>
          <p:nvPr/>
        </p:nvSpPr>
        <p:spPr>
          <a:xfrm xmlns:a="http://schemas.openxmlformats.org/drawingml/2006/main">
            <a:off x="819150" y="2819400"/>
            <a:ext cx="514350" cy="28575"/>
          </a:xfrm>
          <a:prstGeom xmlns:a="http://schemas.openxmlformats.org/drawingml/2006/main" prst="rect">
            <a:avLst/>
          </a:prstGeom>
          <a:solidFill xmlns:a="http://schemas.openxmlformats.org/drawingml/2006/main">
            <a:srgbClr val="AFD7CC"/>
          </a:solidFill>
          <a:ln xmlns:a="http://schemas.openxmlformats.org/drawingml/2006/main" w="0">
            <a:noFill/>
          </a:ln>
        </p:spPr>
      </p:sp>
      <p:sp>
        <p:nvSpPr>
          <p:cNvPr id="5" name="reveal-2::shape-197">
            <a:extLst xmlns:a="http://schemas.openxmlformats.org/drawingml/2006/main">
              <a:ext uri="{FF2B5EF4-FFF2-40B4-BE49-F238E27FC236}">
                <a16:creationId xmlns:a16="http://schemas.microsoft.com/office/drawing/2014/main" id="{02B7F5D8-56D5-4D53-AA3A-1CAD0C70708D}"/>
              </a:ext>
            </a:extLst>
          </p:cNvPr>
          <p:cNvSpPr>
            <a:spLocks xmlns:a="http://schemas.openxmlformats.org/drawingml/2006/main" noGrp="1"/>
          </p:cNvSpPr>
          <p:nvPr/>
        </p:nvSpPr>
        <p:spPr>
          <a:xfrm xmlns:a="http://schemas.openxmlformats.org/drawingml/2006/main">
            <a:off x="1543050" y="2609850"/>
            <a:ext cx="4067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START_HERE</a:t>
            </a:r>
          </a:p>
        </p:txBody>
      </p:sp>
      <p:sp>
        <p:nvSpPr>
          <p:cNvPr id="6" name="reveal-2::shape-198">
            <a:extLst xmlns:a="http://schemas.openxmlformats.org/drawingml/2006/main">
              <a:ext uri="{FF2B5EF4-FFF2-40B4-BE49-F238E27FC236}">
                <a16:creationId xmlns:a16="http://schemas.microsoft.com/office/drawing/2014/main" id="{F3736A98-DC6A-4E4A-B9E9-785B058C0AAF}"/>
              </a:ext>
            </a:extLst>
          </p:cNvPr>
          <p:cNvSpPr>
            <a:spLocks xmlns:a="http://schemas.openxmlformats.org/drawingml/2006/main" noGrp="1"/>
          </p:cNvSpPr>
          <p:nvPr/>
        </p:nvSpPr>
        <p:spPr>
          <a:xfrm xmlns:a="http://schemas.openxmlformats.org/drawingml/2006/main">
            <a:off x="6134100" y="2628900"/>
            <a:ext cx="52482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717F"/>
                </a:solidFill>
                <a:latin typeface="Arial"/>
                <a:ea typeface="Arial"/>
                <a:cs typeface="Arial"/>
              </a:defRPr>
            </a:pPr>
            <a:r>
              <a:rPr sz="2025" b="0">
                <a:solidFill>
                  <a:srgbClr val="55717F"/>
                </a:solidFill>
                <a:latin typeface="Arial"/>
                <a:ea typeface="Arial"/>
                <a:cs typeface="Arial"/>
              </a:rPr>
              <a:t>Başlanğıc yolu</a:t>
            </a:r>
          </a:p>
        </p:txBody>
      </p:sp>
      <p:sp>
        <p:nvSpPr>
          <p:cNvPr id="7" name="reveal-0::shape-199">
            <a:extLst xmlns:a="http://schemas.openxmlformats.org/drawingml/2006/main">
              <a:ext uri="{FF2B5EF4-FFF2-40B4-BE49-F238E27FC236}">
                <a16:creationId xmlns:a16="http://schemas.microsoft.com/office/drawing/2014/main" id="{E876FB57-38C2-43EA-8729-CD0715CDAB48}"/>
              </a:ext>
            </a:extLst>
          </p:cNvPr>
          <p:cNvSpPr>
            <a:spLocks xmlns:a="http://schemas.openxmlformats.org/drawingml/2006/main" noGrp="1"/>
          </p:cNvSpPr>
          <p:nvPr/>
        </p:nvSpPr>
        <p:spPr>
          <a:xfrm xmlns:a="http://schemas.openxmlformats.org/drawingml/2006/main">
            <a:off x="819150" y="3609975"/>
            <a:ext cx="514350" cy="28575"/>
          </a:xfrm>
          <a:prstGeom xmlns:a="http://schemas.openxmlformats.org/drawingml/2006/main" prst="rect">
            <a:avLst/>
          </a:prstGeom>
          <a:solidFill xmlns:a="http://schemas.openxmlformats.org/drawingml/2006/main">
            <a:srgbClr val="AFD7CC"/>
          </a:solidFill>
          <a:ln xmlns:a="http://schemas.openxmlformats.org/drawingml/2006/main" w="0">
            <a:noFill/>
          </a:ln>
        </p:spPr>
      </p:sp>
      <p:sp>
        <p:nvSpPr>
          <p:cNvPr id="8" name="reveal-3::shape-200">
            <a:extLst xmlns:a="http://schemas.openxmlformats.org/drawingml/2006/main">
              <a:ext uri="{FF2B5EF4-FFF2-40B4-BE49-F238E27FC236}">
                <a16:creationId xmlns:a16="http://schemas.microsoft.com/office/drawing/2014/main" id="{76C0A138-8157-4901-A9C0-4037D825DFF0}"/>
              </a:ext>
            </a:extLst>
          </p:cNvPr>
          <p:cNvSpPr>
            <a:spLocks xmlns:a="http://schemas.openxmlformats.org/drawingml/2006/main" noGrp="1"/>
          </p:cNvSpPr>
          <p:nvPr/>
        </p:nvSpPr>
        <p:spPr>
          <a:xfrm xmlns:a="http://schemas.openxmlformats.org/drawingml/2006/main">
            <a:off x="1543050" y="3400425"/>
            <a:ext cx="4067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SETUP</a:t>
            </a:r>
          </a:p>
        </p:txBody>
      </p:sp>
      <p:sp>
        <p:nvSpPr>
          <p:cNvPr id="9" name="reveal-3::shape-201">
            <a:extLst xmlns:a="http://schemas.openxmlformats.org/drawingml/2006/main">
              <a:ext uri="{FF2B5EF4-FFF2-40B4-BE49-F238E27FC236}">
                <a16:creationId xmlns:a16="http://schemas.microsoft.com/office/drawing/2014/main" id="{73D1708B-FAC5-478D-A4A3-A231F4E79FBD}"/>
              </a:ext>
            </a:extLst>
          </p:cNvPr>
          <p:cNvSpPr>
            <a:spLocks xmlns:a="http://schemas.openxmlformats.org/drawingml/2006/main" noGrp="1"/>
          </p:cNvSpPr>
          <p:nvPr/>
        </p:nvSpPr>
        <p:spPr>
          <a:xfrm xmlns:a="http://schemas.openxmlformats.org/drawingml/2006/main">
            <a:off x="6134100" y="3419475"/>
            <a:ext cx="52482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717F"/>
                </a:solidFill>
                <a:latin typeface="Arial"/>
                <a:ea typeface="Arial"/>
                <a:cs typeface="Arial"/>
              </a:defRPr>
            </a:pPr>
            <a:r>
              <a:rPr sz="2025" b="0">
                <a:solidFill>
                  <a:srgbClr val="55717F"/>
                </a:solidFill>
                <a:latin typeface="Arial"/>
                <a:ea typeface="Arial"/>
                <a:cs typeface="Arial"/>
              </a:rPr>
              <a:t>Mühit qurulması</a:t>
            </a:r>
          </a:p>
        </p:txBody>
      </p:sp>
      <p:sp>
        <p:nvSpPr>
          <p:cNvPr id="10" name="reveal-0::shape-202">
            <a:extLst xmlns:a="http://schemas.openxmlformats.org/drawingml/2006/main">
              <a:ext uri="{FF2B5EF4-FFF2-40B4-BE49-F238E27FC236}">
                <a16:creationId xmlns:a16="http://schemas.microsoft.com/office/drawing/2014/main" id="{D0B9A9F8-3581-4B73-8A02-AE10DEE32A1F}"/>
              </a:ext>
            </a:extLst>
          </p:cNvPr>
          <p:cNvSpPr>
            <a:spLocks xmlns:a="http://schemas.openxmlformats.org/drawingml/2006/main" noGrp="1"/>
          </p:cNvSpPr>
          <p:nvPr/>
        </p:nvSpPr>
        <p:spPr>
          <a:xfrm xmlns:a="http://schemas.openxmlformats.org/drawingml/2006/main">
            <a:off x="819150" y="4400550"/>
            <a:ext cx="514350" cy="28575"/>
          </a:xfrm>
          <a:prstGeom xmlns:a="http://schemas.openxmlformats.org/drawingml/2006/main" prst="rect">
            <a:avLst/>
          </a:prstGeom>
          <a:solidFill xmlns:a="http://schemas.openxmlformats.org/drawingml/2006/main">
            <a:srgbClr val="AFD7CC"/>
          </a:solidFill>
          <a:ln xmlns:a="http://schemas.openxmlformats.org/drawingml/2006/main" w="0">
            <a:noFill/>
          </a:ln>
        </p:spPr>
      </p:sp>
      <p:sp>
        <p:nvSpPr>
          <p:cNvPr id="11" name="reveal-4::shape-203">
            <a:extLst xmlns:a="http://schemas.openxmlformats.org/drawingml/2006/main">
              <a:ext uri="{FF2B5EF4-FFF2-40B4-BE49-F238E27FC236}">
                <a16:creationId xmlns:a16="http://schemas.microsoft.com/office/drawing/2014/main" id="{7F61A79F-18C8-4735-B9B3-05CDC080C63E}"/>
              </a:ext>
            </a:extLst>
          </p:cNvPr>
          <p:cNvSpPr>
            <a:spLocks xmlns:a="http://schemas.openxmlformats.org/drawingml/2006/main" noGrp="1"/>
          </p:cNvSpPr>
          <p:nvPr/>
        </p:nvSpPr>
        <p:spPr>
          <a:xfrm xmlns:a="http://schemas.openxmlformats.org/drawingml/2006/main">
            <a:off x="1543050" y="4191000"/>
            <a:ext cx="4067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PROJECTS</a:t>
            </a:r>
          </a:p>
        </p:txBody>
      </p:sp>
      <p:sp>
        <p:nvSpPr>
          <p:cNvPr id="12" name="reveal-4::shape-204">
            <a:extLst xmlns:a="http://schemas.openxmlformats.org/drawingml/2006/main">
              <a:ext uri="{FF2B5EF4-FFF2-40B4-BE49-F238E27FC236}">
                <a16:creationId xmlns:a16="http://schemas.microsoft.com/office/drawing/2014/main" id="{0FA2E0B6-1D51-4131-A124-243B1FA8B313}"/>
              </a:ext>
            </a:extLst>
          </p:cNvPr>
          <p:cNvSpPr>
            <a:spLocks xmlns:a="http://schemas.openxmlformats.org/drawingml/2006/main" noGrp="1"/>
          </p:cNvSpPr>
          <p:nvPr/>
        </p:nvSpPr>
        <p:spPr>
          <a:xfrm xmlns:a="http://schemas.openxmlformats.org/drawingml/2006/main">
            <a:off x="6134100" y="4210050"/>
            <a:ext cx="52482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717F"/>
                </a:solidFill>
                <a:latin typeface="Arial"/>
                <a:ea typeface="Arial"/>
                <a:cs typeface="Arial"/>
              </a:defRPr>
            </a:pPr>
            <a:r>
              <a:rPr sz="2025" b="0">
                <a:solidFill>
                  <a:srgbClr val="55717F"/>
                </a:solidFill>
                <a:latin typeface="Arial"/>
                <a:ea typeface="Arial"/>
                <a:cs typeface="Arial"/>
              </a:rPr>
              <a:t>Analizin seçilməsi</a:t>
            </a:r>
          </a:p>
        </p:txBody>
      </p:sp>
      <p:sp>
        <p:nvSpPr>
          <p:cNvPr id="13" name="reveal-0::shape-205">
            <a:extLst xmlns:a="http://schemas.openxmlformats.org/drawingml/2006/main">
              <a:ext uri="{FF2B5EF4-FFF2-40B4-BE49-F238E27FC236}">
                <a16:creationId xmlns:a16="http://schemas.microsoft.com/office/drawing/2014/main" id="{402ADB8B-216E-497F-B4EE-8F03D5CF3C7E}"/>
              </a:ext>
            </a:extLst>
          </p:cNvPr>
          <p:cNvSpPr>
            <a:spLocks xmlns:a="http://schemas.openxmlformats.org/drawingml/2006/main" noGrp="1"/>
          </p:cNvSpPr>
          <p:nvPr/>
        </p:nvSpPr>
        <p:spPr>
          <a:xfrm xmlns:a="http://schemas.openxmlformats.org/drawingml/2006/main">
            <a:off x="819150" y="5191125"/>
            <a:ext cx="514350" cy="28575"/>
          </a:xfrm>
          <a:prstGeom xmlns:a="http://schemas.openxmlformats.org/drawingml/2006/main" prst="rect">
            <a:avLst/>
          </a:prstGeom>
          <a:solidFill xmlns:a="http://schemas.openxmlformats.org/drawingml/2006/main">
            <a:srgbClr val="AFD7CC"/>
          </a:solidFill>
          <a:ln xmlns:a="http://schemas.openxmlformats.org/drawingml/2006/main" w="0">
            <a:noFill/>
          </a:ln>
        </p:spPr>
      </p:sp>
      <p:sp>
        <p:nvSpPr>
          <p:cNvPr id="14" name="reveal-5::shape-206">
            <a:extLst xmlns:a="http://schemas.openxmlformats.org/drawingml/2006/main">
              <a:ext uri="{FF2B5EF4-FFF2-40B4-BE49-F238E27FC236}">
                <a16:creationId xmlns:a16="http://schemas.microsoft.com/office/drawing/2014/main" id="{423FB377-705B-4700-9376-BC7CF9BCD013}"/>
              </a:ext>
            </a:extLst>
          </p:cNvPr>
          <p:cNvSpPr>
            <a:spLocks xmlns:a="http://schemas.openxmlformats.org/drawingml/2006/main" noGrp="1"/>
          </p:cNvSpPr>
          <p:nvPr/>
        </p:nvSpPr>
        <p:spPr>
          <a:xfrm xmlns:a="http://schemas.openxmlformats.org/drawingml/2006/main">
            <a:off x="1543050" y="4981575"/>
            <a:ext cx="4067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343"/>
                </a:solidFill>
                <a:latin typeface="Arial"/>
                <a:ea typeface="Arial"/>
                <a:cs typeface="Arial"/>
              </a:defRPr>
            </a:pPr>
            <a:r>
              <a:rPr sz="2250" b="1">
                <a:solidFill>
                  <a:srgbClr val="173343"/>
                </a:solidFill>
                <a:latin typeface="Arial"/>
                <a:ea typeface="Arial"/>
                <a:cs typeface="Arial"/>
              </a:rPr>
              <a:t>STATUS</a:t>
            </a:r>
          </a:p>
        </p:txBody>
      </p:sp>
      <p:sp>
        <p:nvSpPr>
          <p:cNvPr id="15" name="reveal-5::shape-207">
            <a:extLst xmlns:a="http://schemas.openxmlformats.org/drawingml/2006/main">
              <a:ext uri="{FF2B5EF4-FFF2-40B4-BE49-F238E27FC236}">
                <a16:creationId xmlns:a16="http://schemas.microsoft.com/office/drawing/2014/main" id="{24836A99-2746-4BA1-B486-5C04B0364BF4}"/>
              </a:ext>
            </a:extLst>
          </p:cNvPr>
          <p:cNvSpPr>
            <a:spLocks xmlns:a="http://schemas.openxmlformats.org/drawingml/2006/main" noGrp="1"/>
          </p:cNvSpPr>
          <p:nvPr/>
        </p:nvSpPr>
        <p:spPr>
          <a:xfrm xmlns:a="http://schemas.openxmlformats.org/drawingml/2006/main">
            <a:off x="6134100" y="5000625"/>
            <a:ext cx="52482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717F"/>
                </a:solidFill>
                <a:latin typeface="Arial"/>
                <a:ea typeface="Arial"/>
                <a:cs typeface="Arial"/>
              </a:defRPr>
            </a:pPr>
            <a:r>
              <a:rPr sz="2025" b="0">
                <a:solidFill>
                  <a:srgbClr val="55717F"/>
                </a:solidFill>
                <a:latin typeface="Arial"/>
                <a:ea typeface="Arial"/>
                <a:cs typeface="Arial"/>
              </a:rPr>
              <a:t>İcra əhatəsi</a:t>
            </a:r>
          </a:p>
        </p:txBody>
      </p:sp>
      <p:sp>
        <p:nvSpPr>
          <p:cNvPr id="16" name="reveal-6::shape-208">
            <a:extLst xmlns:a="http://schemas.openxmlformats.org/drawingml/2006/main">
              <a:ext uri="{FF2B5EF4-FFF2-40B4-BE49-F238E27FC236}">
                <a16:creationId xmlns:a16="http://schemas.microsoft.com/office/drawing/2014/main" id="{5E75A2B2-241C-42B3-A88B-EAEC25E1A9BC}"/>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Dəqiq yollar: docs/START_HERE.md, SETUP.md, projects/README.md, STATUS.md.</a:t>
            </a:r>
          </a:p>
        </p:txBody>
      </p:sp>
      <p:sp>
        <p:nvSpPr>
          <p:cNvPr id="17" name="reveal-0::shape-209">
            <a:extLst xmlns:a="http://schemas.openxmlformats.org/drawingml/2006/main">
              <a:ext uri="{FF2B5EF4-FFF2-40B4-BE49-F238E27FC236}">
                <a16:creationId xmlns:a16="http://schemas.microsoft.com/office/drawing/2014/main" id="{5446595B-8B33-4651-871C-A1202DC3C980}"/>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21</a:t>
            </a:r>
          </a:p>
        </p:txBody>
      </p:sp>
    </p:spTree>
    <p:extLst>
      <p:ext uri="{BB962C8B-B14F-4D97-AF65-F5344CB8AC3E}">
        <p14:creationId xmlns:p14="http://schemas.microsoft.com/office/powerpoint/2010/main" val="1440448817"/>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18"/>
                                  </p:tgtEl>
                                  <p:attrNameLst>
                                    <p:attrName>style.visibility</p:attrName>
                                  </p:attrNameLst>
                                </p:cBhvr>
                                <p:to>
                                  <p:strVal val="visible"/>
                                </p:to>
                              </p:set>
                              <p:animEffect transition="in" filter="fade">
                                <p:cBhvr>
                                  <p:cTn id="6" dur="550" fill="hold"/>
                                  <p:tgtEl>
                                    <p:spTgt spid="18"/>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5"/>
                                  </p:tgtEl>
                                  <p:attrNameLst>
                                    <p:attrName>style.visibility</p:attrName>
                                  </p:attrNameLst>
                                </p:cBhvr>
                                <p:to>
                                  <p:strVal val="visible"/>
                                </p:to>
                              </p:set>
                              <p:animEffect transition="in" filter="fade">
                                <p:cBhvr>
                                  <p:cTn id="12" dur="550" fill="hold"/>
                                  <p:tgtEl>
                                    <p:spTgt spid="5"/>
                                  </p:tgtEl>
                                </p:cBhvr>
                              </p:animEffect>
                            </p:childTnList>
                          </p:cTn>
                        </p:par>
                        <p:par>
                          <p:cTn id="13" presetID="10" presetClass="entr" presetSubtype="0" fill="hold" grpId="0" nodeType="withEffect">
                            <p:stCondLst>
                              <p:cond delay="260"/>
                            </p:stCondLst>
                            <p:childTnList>
                              <p:set>
                                <p:cBhvr>
                                  <p:cTn id="14" dur="1" fill="hold">
                                    <p:stCondLst>
                                      <p:cond delay="0"/>
                                    </p:stCondLst>
                                  </p:cTn>
                                  <p:tgtEl>
                                    <p:spTgt spid="6"/>
                                  </p:tgtEl>
                                  <p:attrNameLst>
                                    <p:attrName>style.visibility</p:attrName>
                                  </p:attrNameLst>
                                </p:cBhvr>
                                <p:to>
                                  <p:strVal val="visible"/>
                                </p:to>
                              </p:set>
                              <p:animEffect transition="in" filter="fade">
                                <p:cBhvr>
                                  <p:cTn id="15" dur="550" fill="hold"/>
                                  <p:tgtEl>
                                    <p:spTgt spid="6"/>
                                  </p:tgtEl>
                                </p:cBhvr>
                              </p:animEffect>
                            </p:childTnList>
                          </p:cTn>
                        </p:par>
                        <p:par>
                          <p:cTn id="16" presetID="10" presetClass="entr" presetSubtype="0" fill="hold" grpId="0" nodeType="withEffect">
                            <p:stCondLst>
                              <p:cond delay="520"/>
                            </p:stCondLst>
                            <p:childTnList>
                              <p:set>
                                <p:cBhvr>
                                  <p:cTn id="17" dur="1" fill="hold">
                                    <p:stCondLst>
                                      <p:cond delay="0"/>
                                    </p:stCondLst>
                                  </p:cTn>
                                  <p:tgtEl>
                                    <p:spTgt spid="8"/>
                                  </p:tgtEl>
                                  <p:attrNameLst>
                                    <p:attrName>style.visibility</p:attrName>
                                  </p:attrNameLst>
                                </p:cBhvr>
                                <p:to>
                                  <p:strVal val="visible"/>
                                </p:to>
                              </p:set>
                              <p:animEffect transition="in" filter="fade">
                                <p:cBhvr>
                                  <p:cTn id="18" dur="550" fill="hold"/>
                                  <p:tgtEl>
                                    <p:spTgt spid="8"/>
                                  </p:tgtEl>
                                </p:cBhvr>
                              </p:animEffect>
                            </p:childTnList>
                          </p:cTn>
                        </p:par>
                        <p:par>
                          <p:cTn id="19" presetID="10" presetClass="entr" presetSubtype="0" fill="hold" grpId="0" nodeType="withEffect">
                            <p:stCondLst>
                              <p:cond delay="520"/>
                            </p:stCondLst>
                            <p:childTnList>
                              <p:set>
                                <p:cBhvr>
                                  <p:cTn id="20" dur="1" fill="hold">
                                    <p:stCondLst>
                                      <p:cond delay="0"/>
                                    </p:stCondLst>
                                  </p:cTn>
                                  <p:tgtEl>
                                    <p:spTgt spid="9"/>
                                  </p:tgtEl>
                                  <p:attrNameLst>
                                    <p:attrName>style.visibility</p:attrName>
                                  </p:attrNameLst>
                                </p:cBhvr>
                                <p:to>
                                  <p:strVal val="visible"/>
                                </p:to>
                              </p:set>
                              <p:animEffect transition="in" filter="fade">
                                <p:cBhvr>
                                  <p:cTn id="21" dur="550" fill="hold"/>
                                  <p:tgtEl>
                                    <p:spTgt spid="9"/>
                                  </p:tgtEl>
                                </p:cBhvr>
                              </p:animEffect>
                            </p:childTnList>
                          </p:cTn>
                        </p:par>
                        <p:par>
                          <p:cTn id="22" presetID="10" presetClass="entr" presetSubtype="0" fill="hold" grpId="0" nodeType="withEffect">
                            <p:stCondLst>
                              <p:cond delay="780"/>
                            </p:stCondLst>
                            <p:childTnList>
                              <p:set>
                                <p:cBhvr>
                                  <p:cTn id="23" dur="1" fill="hold">
                                    <p:stCondLst>
                                      <p:cond delay="0"/>
                                    </p:stCondLst>
                                  </p:cTn>
                                  <p:tgtEl>
                                    <p:spTgt spid="11"/>
                                  </p:tgtEl>
                                  <p:attrNameLst>
                                    <p:attrName>style.visibility</p:attrName>
                                  </p:attrNameLst>
                                </p:cBhvr>
                                <p:to>
                                  <p:strVal val="visible"/>
                                </p:to>
                              </p:set>
                              <p:animEffect transition="in" filter="fade">
                                <p:cBhvr>
                                  <p:cTn id="24" dur="550" fill="hold"/>
                                  <p:tgtEl>
                                    <p:spTgt spid="11"/>
                                  </p:tgtEl>
                                </p:cBhvr>
                              </p:animEffect>
                            </p:childTnList>
                          </p:cTn>
                        </p:par>
                        <p:par>
                          <p:cTn id="25" presetID="10" presetClass="entr" presetSubtype="0" fill="hold" grpId="0" nodeType="withEffect">
                            <p:stCondLst>
                              <p:cond delay="780"/>
                            </p:stCondLst>
                            <p:childTnList>
                              <p:set>
                                <p:cBhvr>
                                  <p:cTn id="26" dur="1" fill="hold">
                                    <p:stCondLst>
                                      <p:cond delay="0"/>
                                    </p:stCondLst>
                                  </p:cTn>
                                  <p:tgtEl>
                                    <p:spTgt spid="12"/>
                                  </p:tgtEl>
                                  <p:attrNameLst>
                                    <p:attrName>style.visibility</p:attrName>
                                  </p:attrNameLst>
                                </p:cBhvr>
                                <p:to>
                                  <p:strVal val="visible"/>
                                </p:to>
                              </p:set>
                              <p:animEffect transition="in" filter="fade">
                                <p:cBhvr>
                                  <p:cTn id="27" dur="550" fill="hold"/>
                                  <p:tgtEl>
                                    <p:spTgt spid="12"/>
                                  </p:tgtEl>
                                </p:cBhvr>
                              </p:animEffect>
                            </p:childTnList>
                          </p:cTn>
                        </p:par>
                        <p:par>
                          <p:cTn id="28" presetID="10" presetClass="entr" presetSubtype="0" fill="hold" grpId="0" nodeType="withEffect">
                            <p:stCondLst>
                              <p:cond delay="1040"/>
                            </p:stCondLst>
                            <p:childTnList>
                              <p:set>
                                <p:cBhvr>
                                  <p:cTn id="29" dur="1" fill="hold">
                                    <p:stCondLst>
                                      <p:cond delay="0"/>
                                    </p:stCondLst>
                                  </p:cTn>
                                  <p:tgtEl>
                                    <p:spTgt spid="14"/>
                                  </p:tgtEl>
                                  <p:attrNameLst>
                                    <p:attrName>style.visibility</p:attrName>
                                  </p:attrNameLst>
                                </p:cBhvr>
                                <p:to>
                                  <p:strVal val="visible"/>
                                </p:to>
                              </p:set>
                              <p:animEffect transition="in" filter="fade">
                                <p:cBhvr>
                                  <p:cTn id="30" dur="550" fill="hold"/>
                                  <p:tgtEl>
                                    <p:spTgt spid="14"/>
                                  </p:tgtEl>
                                </p:cBhvr>
                              </p:animEffect>
                            </p:childTnList>
                          </p:cTn>
                        </p:par>
                        <p:par>
                          <p:cTn id="31" presetID="10" presetClass="entr" presetSubtype="0" fill="hold" grpId="0" nodeType="withEffect">
                            <p:stCondLst>
                              <p:cond delay="1040"/>
                            </p:stCondLst>
                            <p:childTnList>
                              <p:set>
                                <p:cBhvr>
                                  <p:cTn id="32" dur="1" fill="hold">
                                    <p:stCondLst>
                                      <p:cond delay="0"/>
                                    </p:stCondLst>
                                  </p:cTn>
                                  <p:tgtEl>
                                    <p:spTgt spid="15"/>
                                  </p:tgtEl>
                                  <p:attrNameLst>
                                    <p:attrName>style.visibility</p:attrName>
                                  </p:attrNameLst>
                                </p:cBhvr>
                                <p:to>
                                  <p:strVal val="visible"/>
                                </p:to>
                              </p:set>
                              <p:animEffect transition="in" filter="fade">
                                <p:cBhvr>
                                  <p:cTn id="33" dur="550" fill="hold"/>
                                  <p:tgtEl>
                                    <p:spTgt spid="15"/>
                                  </p:tgtEl>
                                </p:cBhvr>
                              </p:animEffect>
                            </p:childTnList>
                          </p:cTn>
                        </p:par>
                        <p:par>
                          <p:cTn id="34" presetID="10" presetClass="entr" presetSubtype="0" fill="hold" grpId="0" nodeType="withEffect">
                            <p:stCondLst>
                              <p:cond delay="1300"/>
                            </p:stCondLst>
                            <p:childTnList>
                              <p:set>
                                <p:cBhvr>
                                  <p:cTn id="35" dur="1" fill="hold">
                                    <p:stCondLst>
                                      <p:cond delay="0"/>
                                    </p:stCondLst>
                                  </p:cTn>
                                  <p:tgtEl>
                                    <p:spTgt spid="16"/>
                                  </p:tgtEl>
                                  <p:attrNameLst>
                                    <p:attrName>style.visibility</p:attrName>
                                  </p:attrNameLst>
                                </p:cBhvr>
                                <p:to>
                                  <p:strVal val="visible"/>
                                </p:to>
                              </p:set>
                              <p:animEffect transition="in" filter="fade">
                                <p:cBhvr>
                                  <p:cTn id="36" dur="550" fill="hold"/>
                                  <p:tgtEl>
                                    <p:spTgt spid="16"/>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2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6" name="reveal-1::shape-210">
            <a:extLst xmlns:a="http://schemas.openxmlformats.org/drawingml/2006/main">
              <a:ext uri="{FF2B5EF4-FFF2-40B4-BE49-F238E27FC236}">
                <a16:creationId xmlns:a16="http://schemas.microsoft.com/office/drawing/2014/main" id="{1FD48A2B-2A1F-4728-ADAF-F35E982EA773}"/>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Başlanğıc 2. Python mühiti</a:t>
            </a:r>
          </a:p>
        </p:txBody>
      </p:sp>
      <p:sp>
        <p:nvSpPr>
          <p:cNvPr id="2" name="reveal-2::shape-211">
            <a:extLst xmlns:a="http://schemas.openxmlformats.org/drawingml/2006/main">
              <a:ext uri="{FF2B5EF4-FFF2-40B4-BE49-F238E27FC236}">
                <a16:creationId xmlns:a16="http://schemas.microsoft.com/office/drawing/2014/main" id="{929548C3-4220-4137-BC21-B761E35A86F7}"/>
              </a:ext>
            </a:extLst>
          </p:cNvPr>
          <p:cNvSpPr>
            <a:spLocks xmlns:a="http://schemas.openxmlformats.org/drawingml/2006/main" noGrp="1"/>
          </p:cNvSpPr>
          <p:nvPr/>
        </p:nvSpPr>
        <p:spPr>
          <a:xfrm xmlns:a="http://schemas.openxmlformats.org/drawingml/2006/main">
            <a:off x="590550" y="1733550"/>
            <a:ext cx="1000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3"/>
                </a:solidFill>
                <a:latin typeface="Arial"/>
                <a:ea typeface="Arial"/>
                <a:cs typeface="Arial"/>
              </a:defRPr>
            </a:pPr>
            <a:r>
              <a:rPr sz="3000" b="1">
                <a:solidFill>
                  <a:srgbClr val="087F83"/>
                </a:solidFill>
                <a:latin typeface="Arial"/>
                <a:ea typeface="Arial"/>
                <a:cs typeface="Arial"/>
              </a:rPr>
              <a:t>01</a:t>
            </a:r>
          </a:p>
        </p:txBody>
      </p:sp>
      <p:sp>
        <p:nvSpPr>
          <p:cNvPr id="3" name="reveal-2::shape-212">
            <a:extLst xmlns:a="http://schemas.openxmlformats.org/drawingml/2006/main">
              <a:ext uri="{FF2B5EF4-FFF2-40B4-BE49-F238E27FC236}">
                <a16:creationId xmlns:a16="http://schemas.microsoft.com/office/drawing/2014/main" id="{D2B98586-6B04-40F0-BF9B-B6D93E92BBD4}"/>
              </a:ext>
            </a:extLst>
          </p:cNvPr>
          <p:cNvSpPr>
            <a:spLocks xmlns:a="http://schemas.openxmlformats.org/drawingml/2006/main" noGrp="1"/>
          </p:cNvSpPr>
          <p:nvPr/>
        </p:nvSpPr>
        <p:spPr>
          <a:xfrm xmlns:a="http://schemas.openxmlformats.org/drawingml/2006/main">
            <a:off x="1733550" y="1752600"/>
            <a:ext cx="24669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343"/>
                </a:solidFill>
                <a:latin typeface="Arial"/>
                <a:ea typeface="Arial"/>
                <a:cs typeface="Arial"/>
              </a:defRPr>
            </a:pPr>
            <a:r>
              <a:rPr sz="2175" b="1">
                <a:solidFill>
                  <a:srgbClr val="173343"/>
                </a:solidFill>
                <a:latin typeface="Arial"/>
                <a:ea typeface="Arial"/>
                <a:cs typeface="Arial"/>
              </a:rPr>
              <a:t>Mühit yarat</a:t>
            </a:r>
          </a:p>
        </p:txBody>
      </p:sp>
      <p:sp>
        <p:nvSpPr>
          <p:cNvPr id="4" name="reveal-2::shape-213">
            <a:extLst xmlns:a="http://schemas.openxmlformats.org/drawingml/2006/main">
              <a:ext uri="{FF2B5EF4-FFF2-40B4-BE49-F238E27FC236}">
                <a16:creationId xmlns:a16="http://schemas.microsoft.com/office/drawing/2014/main" id="{7FFCE005-CE26-4DCB-BEF5-708DDD734D0F}"/>
              </a:ext>
            </a:extLst>
          </p:cNvPr>
          <p:cNvSpPr>
            <a:spLocks xmlns:a="http://schemas.openxmlformats.org/drawingml/2006/main" noGrp="1"/>
          </p:cNvSpPr>
          <p:nvPr/>
        </p:nvSpPr>
        <p:spPr>
          <a:xfrm xmlns:a="http://schemas.openxmlformats.org/drawingml/2006/main">
            <a:off x="4324350" y="1685925"/>
            <a:ext cx="7277100" cy="866775"/>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5" name="reveal-2::shape-214">
            <a:extLst xmlns:a="http://schemas.openxmlformats.org/drawingml/2006/main">
              <a:ext uri="{FF2B5EF4-FFF2-40B4-BE49-F238E27FC236}">
                <a16:creationId xmlns:a16="http://schemas.microsoft.com/office/drawing/2014/main" id="{3EC6DE62-71AB-4658-B25A-539A49CC574F}"/>
              </a:ext>
            </a:extLst>
          </p:cNvPr>
          <p:cNvSpPr>
            <a:spLocks xmlns:a="http://schemas.openxmlformats.org/drawingml/2006/main" noGrp="1"/>
          </p:cNvSpPr>
          <p:nvPr/>
        </p:nvSpPr>
        <p:spPr>
          <a:xfrm xmlns:a="http://schemas.openxmlformats.org/drawingml/2006/main">
            <a:off x="4486275" y="1914525"/>
            <a:ext cx="6972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python -m venv .venv</a:t>
            </a:r>
          </a:p>
        </p:txBody>
      </p:sp>
      <p:sp>
        <p:nvSpPr>
          <p:cNvPr id="6" name="reveal-3::shape-215">
            <a:extLst xmlns:a="http://schemas.openxmlformats.org/drawingml/2006/main">
              <a:ext uri="{FF2B5EF4-FFF2-40B4-BE49-F238E27FC236}">
                <a16:creationId xmlns:a16="http://schemas.microsoft.com/office/drawing/2014/main" id="{E4B12D7D-E95B-44C9-B49D-10FE99FB2BC6}"/>
              </a:ext>
            </a:extLst>
          </p:cNvPr>
          <p:cNvSpPr>
            <a:spLocks xmlns:a="http://schemas.openxmlformats.org/drawingml/2006/main" noGrp="1"/>
          </p:cNvSpPr>
          <p:nvPr/>
        </p:nvSpPr>
        <p:spPr>
          <a:xfrm xmlns:a="http://schemas.openxmlformats.org/drawingml/2006/main">
            <a:off x="590550" y="2990850"/>
            <a:ext cx="1000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3"/>
                </a:solidFill>
                <a:latin typeface="Arial"/>
                <a:ea typeface="Arial"/>
                <a:cs typeface="Arial"/>
              </a:defRPr>
            </a:pPr>
            <a:r>
              <a:rPr sz="3000" b="1">
                <a:solidFill>
                  <a:srgbClr val="087F83"/>
                </a:solidFill>
                <a:latin typeface="Arial"/>
                <a:ea typeface="Arial"/>
                <a:cs typeface="Arial"/>
              </a:rPr>
              <a:t>02</a:t>
            </a:r>
          </a:p>
        </p:txBody>
      </p:sp>
      <p:sp>
        <p:nvSpPr>
          <p:cNvPr id="7" name="reveal-3::shape-216">
            <a:extLst xmlns:a="http://schemas.openxmlformats.org/drawingml/2006/main">
              <a:ext uri="{FF2B5EF4-FFF2-40B4-BE49-F238E27FC236}">
                <a16:creationId xmlns:a16="http://schemas.microsoft.com/office/drawing/2014/main" id="{60A4674F-7EF7-4431-81C2-8FB292A39DA5}"/>
              </a:ext>
            </a:extLst>
          </p:cNvPr>
          <p:cNvSpPr>
            <a:spLocks xmlns:a="http://schemas.openxmlformats.org/drawingml/2006/main" noGrp="1"/>
          </p:cNvSpPr>
          <p:nvPr/>
        </p:nvSpPr>
        <p:spPr>
          <a:xfrm xmlns:a="http://schemas.openxmlformats.org/drawingml/2006/main">
            <a:off x="1733550" y="3009900"/>
            <a:ext cx="24669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343"/>
                </a:solidFill>
                <a:latin typeface="Arial"/>
                <a:ea typeface="Arial"/>
                <a:cs typeface="Arial"/>
              </a:defRPr>
            </a:pPr>
            <a:r>
              <a:rPr sz="2175" b="1">
                <a:solidFill>
                  <a:srgbClr val="173343"/>
                </a:solidFill>
                <a:latin typeface="Arial"/>
                <a:ea typeface="Arial"/>
                <a:cs typeface="Arial"/>
              </a:rPr>
              <a:t>Aktivləşdir</a:t>
            </a:r>
          </a:p>
        </p:txBody>
      </p:sp>
      <p:sp>
        <p:nvSpPr>
          <p:cNvPr id="8" name="reveal-3::shape-217">
            <a:extLst xmlns:a="http://schemas.openxmlformats.org/drawingml/2006/main">
              <a:ext uri="{FF2B5EF4-FFF2-40B4-BE49-F238E27FC236}">
                <a16:creationId xmlns:a16="http://schemas.microsoft.com/office/drawing/2014/main" id="{06555B9A-2CCA-4C4A-983A-35DFBF6A05FC}"/>
              </a:ext>
            </a:extLst>
          </p:cNvPr>
          <p:cNvSpPr>
            <a:spLocks xmlns:a="http://schemas.openxmlformats.org/drawingml/2006/main" noGrp="1"/>
          </p:cNvSpPr>
          <p:nvPr/>
        </p:nvSpPr>
        <p:spPr>
          <a:xfrm xmlns:a="http://schemas.openxmlformats.org/drawingml/2006/main">
            <a:off x="4324350" y="2943225"/>
            <a:ext cx="7277100" cy="866775"/>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9" name="reveal-3::shape-218">
            <a:extLst xmlns:a="http://schemas.openxmlformats.org/drawingml/2006/main">
              <a:ext uri="{FF2B5EF4-FFF2-40B4-BE49-F238E27FC236}">
                <a16:creationId xmlns:a16="http://schemas.microsoft.com/office/drawing/2014/main" id="{B1FC16FD-1416-4081-B04A-39E26167F521}"/>
              </a:ext>
            </a:extLst>
          </p:cNvPr>
          <p:cNvSpPr>
            <a:spLocks xmlns:a="http://schemas.openxmlformats.org/drawingml/2006/main" noGrp="1"/>
          </p:cNvSpPr>
          <p:nvPr/>
        </p:nvSpPr>
        <p:spPr>
          <a:xfrm xmlns:a="http://schemas.openxmlformats.org/drawingml/2006/main">
            <a:off x="4486275" y="3171825"/>
            <a:ext cx="6972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.venv\Scripts\Activate.ps1</a:t>
            </a:r>
          </a:p>
        </p:txBody>
      </p:sp>
      <p:sp>
        <p:nvSpPr>
          <p:cNvPr id="10" name="reveal-4::shape-219">
            <a:extLst xmlns:a="http://schemas.openxmlformats.org/drawingml/2006/main">
              <a:ext uri="{FF2B5EF4-FFF2-40B4-BE49-F238E27FC236}">
                <a16:creationId xmlns:a16="http://schemas.microsoft.com/office/drawing/2014/main" id="{2E20E2A7-8291-4793-BD54-204C8E2F4D37}"/>
              </a:ext>
            </a:extLst>
          </p:cNvPr>
          <p:cNvSpPr>
            <a:spLocks xmlns:a="http://schemas.openxmlformats.org/drawingml/2006/main" noGrp="1"/>
          </p:cNvSpPr>
          <p:nvPr/>
        </p:nvSpPr>
        <p:spPr>
          <a:xfrm xmlns:a="http://schemas.openxmlformats.org/drawingml/2006/main">
            <a:off x="590550" y="4248150"/>
            <a:ext cx="1000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3"/>
                </a:solidFill>
                <a:latin typeface="Arial"/>
                <a:ea typeface="Arial"/>
                <a:cs typeface="Arial"/>
              </a:defRPr>
            </a:pPr>
            <a:r>
              <a:rPr sz="3000" b="1">
                <a:solidFill>
                  <a:srgbClr val="087F83"/>
                </a:solidFill>
                <a:latin typeface="Arial"/>
                <a:ea typeface="Arial"/>
                <a:cs typeface="Arial"/>
              </a:rPr>
              <a:t>03</a:t>
            </a:r>
          </a:p>
        </p:txBody>
      </p:sp>
      <p:sp>
        <p:nvSpPr>
          <p:cNvPr id="11" name="reveal-4::shape-220">
            <a:extLst xmlns:a="http://schemas.openxmlformats.org/drawingml/2006/main">
              <a:ext uri="{FF2B5EF4-FFF2-40B4-BE49-F238E27FC236}">
                <a16:creationId xmlns:a16="http://schemas.microsoft.com/office/drawing/2014/main" id="{FC7A395C-FD3B-4CA0-8235-C6767A5FF92A}"/>
              </a:ext>
            </a:extLst>
          </p:cNvPr>
          <p:cNvSpPr>
            <a:spLocks xmlns:a="http://schemas.openxmlformats.org/drawingml/2006/main" noGrp="1"/>
          </p:cNvSpPr>
          <p:nvPr/>
        </p:nvSpPr>
        <p:spPr>
          <a:xfrm xmlns:a="http://schemas.openxmlformats.org/drawingml/2006/main">
            <a:off x="1733550" y="4267200"/>
            <a:ext cx="24669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343"/>
                </a:solidFill>
                <a:latin typeface="Arial"/>
                <a:ea typeface="Arial"/>
                <a:cs typeface="Arial"/>
              </a:defRPr>
            </a:pPr>
            <a:r>
              <a:rPr sz="2175" b="1">
                <a:solidFill>
                  <a:srgbClr val="173343"/>
                </a:solidFill>
                <a:latin typeface="Arial"/>
                <a:ea typeface="Arial"/>
                <a:cs typeface="Arial"/>
              </a:rPr>
              <a:t>Paketləri qur</a:t>
            </a:r>
          </a:p>
        </p:txBody>
      </p:sp>
      <p:sp>
        <p:nvSpPr>
          <p:cNvPr id="12" name="reveal-4::shape-221">
            <a:extLst xmlns:a="http://schemas.openxmlformats.org/drawingml/2006/main">
              <a:ext uri="{FF2B5EF4-FFF2-40B4-BE49-F238E27FC236}">
                <a16:creationId xmlns:a16="http://schemas.microsoft.com/office/drawing/2014/main" id="{2A698E1D-1DCE-4A57-8E39-04E8A59934D5}"/>
              </a:ext>
            </a:extLst>
          </p:cNvPr>
          <p:cNvSpPr>
            <a:spLocks xmlns:a="http://schemas.openxmlformats.org/drawingml/2006/main" noGrp="1"/>
          </p:cNvSpPr>
          <p:nvPr/>
        </p:nvSpPr>
        <p:spPr>
          <a:xfrm xmlns:a="http://schemas.openxmlformats.org/drawingml/2006/main">
            <a:off x="4324350" y="4200525"/>
            <a:ext cx="7277100" cy="866775"/>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13" name="reveal-4::shape-222">
            <a:extLst xmlns:a="http://schemas.openxmlformats.org/drawingml/2006/main">
              <a:ext uri="{FF2B5EF4-FFF2-40B4-BE49-F238E27FC236}">
                <a16:creationId xmlns:a16="http://schemas.microsoft.com/office/drawing/2014/main" id="{7D1D515A-849E-4508-97AD-2271D9C36382}"/>
              </a:ext>
            </a:extLst>
          </p:cNvPr>
          <p:cNvSpPr>
            <a:spLocks xmlns:a="http://schemas.openxmlformats.org/drawingml/2006/main" noGrp="1"/>
          </p:cNvSpPr>
          <p:nvPr/>
        </p:nvSpPr>
        <p:spPr>
          <a:xfrm xmlns:a="http://schemas.openxmlformats.org/drawingml/2006/main">
            <a:off x="4486275" y="4429125"/>
            <a:ext cx="6972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python -m pip install -e ".[dev]"</a:t>
            </a:r>
          </a:p>
        </p:txBody>
      </p:sp>
      <p:sp>
        <p:nvSpPr>
          <p:cNvPr id="14" name="reveal-6::shape-223">
            <a:extLst xmlns:a="http://schemas.openxmlformats.org/drawingml/2006/main">
              <a:ext uri="{FF2B5EF4-FFF2-40B4-BE49-F238E27FC236}">
                <a16:creationId xmlns:a16="http://schemas.microsoft.com/office/drawing/2014/main" id="{9F6D7893-8149-4762-8D68-3751650AAC0F}"/>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Repo kökündə Python 3.12. Linux/macOS: source .venv/bin/activate.</a:t>
            </a:r>
          </a:p>
        </p:txBody>
      </p:sp>
      <p:sp>
        <p:nvSpPr>
          <p:cNvPr id="15" name="reveal-0::shape-224">
            <a:extLst xmlns:a="http://schemas.openxmlformats.org/drawingml/2006/main">
              <a:ext uri="{FF2B5EF4-FFF2-40B4-BE49-F238E27FC236}">
                <a16:creationId xmlns:a16="http://schemas.microsoft.com/office/drawing/2014/main" id="{087F573A-DF90-4B88-BAC5-BB8FB908199F}"/>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22</a:t>
            </a:r>
          </a:p>
        </p:txBody>
      </p:sp>
    </p:spTree>
    <p:extLst>
      <p:ext uri="{BB962C8B-B14F-4D97-AF65-F5344CB8AC3E}">
        <p14:creationId xmlns:p14="http://schemas.microsoft.com/office/powerpoint/2010/main" val="1355163149"/>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16"/>
                                  </p:tgtEl>
                                  <p:attrNameLst>
                                    <p:attrName>style.visibility</p:attrName>
                                  </p:attrNameLst>
                                </p:cBhvr>
                                <p:to>
                                  <p:strVal val="visible"/>
                                </p:to>
                              </p:set>
                              <p:animEffect transition="in" filter="fade">
                                <p:cBhvr>
                                  <p:cTn id="6" dur="550" fill="hold"/>
                                  <p:tgtEl>
                                    <p:spTgt spid="16"/>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26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260"/>
                            </p:stCondLst>
                            <p:childTnList>
                              <p:set>
                                <p:cBhvr>
                                  <p:cTn id="17" dur="1" fill="hold">
                                    <p:stCondLst>
                                      <p:cond delay="0"/>
                                    </p:stCondLst>
                                  </p:cTn>
                                  <p:tgtEl>
                                    <p:spTgt spid="5"/>
                                  </p:tgtEl>
                                  <p:attrNameLst>
                                    <p:attrName>style.visibility</p:attrName>
                                  </p:attrNameLst>
                                </p:cBhvr>
                                <p:to>
                                  <p:strVal val="visible"/>
                                </p:to>
                              </p:set>
                              <p:animEffect transition="in" filter="fade">
                                <p:cBhvr>
                                  <p:cTn id="18" dur="550" fill="hold"/>
                                  <p:tgtEl>
                                    <p:spTgt spid="5"/>
                                  </p:tgtEl>
                                </p:cBhvr>
                              </p:animEffect>
                            </p:childTnList>
                          </p:cTn>
                        </p:par>
                        <p:par>
                          <p:cTn id="19" presetID="10" presetClass="entr" presetSubtype="0" fill="hold" grpId="0" nodeType="withEffect">
                            <p:stCondLst>
                              <p:cond delay="520"/>
                            </p:stCondLst>
                            <p:childTnList>
                              <p:set>
                                <p:cBhvr>
                                  <p:cTn id="20" dur="1" fill="hold">
                                    <p:stCondLst>
                                      <p:cond delay="0"/>
                                    </p:stCondLst>
                                  </p:cTn>
                                  <p:tgtEl>
                                    <p:spTgt spid="6"/>
                                  </p:tgtEl>
                                  <p:attrNameLst>
                                    <p:attrName>style.visibility</p:attrName>
                                  </p:attrNameLst>
                                </p:cBhvr>
                                <p:to>
                                  <p:strVal val="visible"/>
                                </p:to>
                              </p:set>
                              <p:animEffect transition="in" filter="fade">
                                <p:cBhvr>
                                  <p:cTn id="21" dur="550" fill="hold"/>
                                  <p:tgtEl>
                                    <p:spTgt spid="6"/>
                                  </p:tgtEl>
                                </p:cBhvr>
                              </p:animEffect>
                            </p:childTnList>
                          </p:cTn>
                        </p:par>
                        <p:par>
                          <p:cTn id="22" presetID="10" presetClass="entr" presetSubtype="0" fill="hold" grpId="0" nodeType="withEffect">
                            <p:stCondLst>
                              <p:cond delay="520"/>
                            </p:stCondLst>
                            <p:childTnList>
                              <p:set>
                                <p:cBhvr>
                                  <p:cTn id="23" dur="1" fill="hold">
                                    <p:stCondLst>
                                      <p:cond delay="0"/>
                                    </p:stCondLst>
                                  </p:cTn>
                                  <p:tgtEl>
                                    <p:spTgt spid="7"/>
                                  </p:tgtEl>
                                  <p:attrNameLst>
                                    <p:attrName>style.visibility</p:attrName>
                                  </p:attrNameLst>
                                </p:cBhvr>
                                <p:to>
                                  <p:strVal val="visible"/>
                                </p:to>
                              </p:set>
                              <p:animEffect transition="in" filter="fade">
                                <p:cBhvr>
                                  <p:cTn id="24" dur="550" fill="hold"/>
                                  <p:tgtEl>
                                    <p:spTgt spid="7"/>
                                  </p:tgtEl>
                                </p:cBhvr>
                              </p:animEffect>
                            </p:childTnList>
                          </p:cTn>
                        </p:par>
                        <p:par>
                          <p:cTn id="25" presetID="10" presetClass="entr" presetSubtype="0" fill="hold" grpId="0" nodeType="withEffect">
                            <p:stCondLst>
                              <p:cond delay="520"/>
                            </p:stCondLst>
                            <p:childTnList>
                              <p:set>
                                <p:cBhvr>
                                  <p:cTn id="26" dur="1" fill="hold">
                                    <p:stCondLst>
                                      <p:cond delay="0"/>
                                    </p:stCondLst>
                                  </p:cTn>
                                  <p:tgtEl>
                                    <p:spTgt spid="8"/>
                                  </p:tgtEl>
                                  <p:attrNameLst>
                                    <p:attrName>style.visibility</p:attrName>
                                  </p:attrNameLst>
                                </p:cBhvr>
                                <p:to>
                                  <p:strVal val="visible"/>
                                </p:to>
                              </p:set>
                              <p:animEffect transition="in" filter="fade">
                                <p:cBhvr>
                                  <p:cTn id="27" dur="550" fill="hold"/>
                                  <p:tgtEl>
                                    <p:spTgt spid="8"/>
                                  </p:tgtEl>
                                </p:cBhvr>
                              </p:animEffect>
                            </p:childTnList>
                          </p:cTn>
                        </p:par>
                        <p:par>
                          <p:cTn id="28" presetID="10" presetClass="entr" presetSubtype="0" fill="hold" grpId="0" nodeType="withEffect">
                            <p:stCondLst>
                              <p:cond delay="520"/>
                            </p:stCondLst>
                            <p:childTnList>
                              <p:set>
                                <p:cBhvr>
                                  <p:cTn id="29" dur="1" fill="hold">
                                    <p:stCondLst>
                                      <p:cond delay="0"/>
                                    </p:stCondLst>
                                  </p:cTn>
                                  <p:tgtEl>
                                    <p:spTgt spid="9"/>
                                  </p:tgtEl>
                                  <p:attrNameLst>
                                    <p:attrName>style.visibility</p:attrName>
                                  </p:attrNameLst>
                                </p:cBhvr>
                                <p:to>
                                  <p:strVal val="visible"/>
                                </p:to>
                              </p:set>
                              <p:animEffect transition="in" filter="fade">
                                <p:cBhvr>
                                  <p:cTn id="30" dur="550" fill="hold"/>
                                  <p:tgtEl>
                                    <p:spTgt spid="9"/>
                                  </p:tgtEl>
                                </p:cBhvr>
                              </p:animEffect>
                            </p:childTnList>
                          </p:cTn>
                        </p:par>
                        <p:par>
                          <p:cTn id="31" presetID="10" presetClass="entr" presetSubtype="0" fill="hold" grpId="0" nodeType="withEffect">
                            <p:stCondLst>
                              <p:cond delay="780"/>
                            </p:stCondLst>
                            <p:childTnList>
                              <p:set>
                                <p:cBhvr>
                                  <p:cTn id="32" dur="1" fill="hold">
                                    <p:stCondLst>
                                      <p:cond delay="0"/>
                                    </p:stCondLst>
                                  </p:cTn>
                                  <p:tgtEl>
                                    <p:spTgt spid="10"/>
                                  </p:tgtEl>
                                  <p:attrNameLst>
                                    <p:attrName>style.visibility</p:attrName>
                                  </p:attrNameLst>
                                </p:cBhvr>
                                <p:to>
                                  <p:strVal val="visible"/>
                                </p:to>
                              </p:set>
                              <p:animEffect transition="in" filter="fade">
                                <p:cBhvr>
                                  <p:cTn id="33" dur="550" fill="hold"/>
                                  <p:tgtEl>
                                    <p:spTgt spid="10"/>
                                  </p:tgtEl>
                                </p:cBhvr>
                              </p:animEffect>
                            </p:childTnList>
                          </p:cTn>
                        </p:par>
                        <p:par>
                          <p:cTn id="34" presetID="10" presetClass="entr" presetSubtype="0" fill="hold" grpId="0" nodeType="withEffect">
                            <p:stCondLst>
                              <p:cond delay="780"/>
                            </p:stCondLst>
                            <p:childTnList>
                              <p:set>
                                <p:cBhvr>
                                  <p:cTn id="35" dur="1" fill="hold">
                                    <p:stCondLst>
                                      <p:cond delay="0"/>
                                    </p:stCondLst>
                                  </p:cTn>
                                  <p:tgtEl>
                                    <p:spTgt spid="11"/>
                                  </p:tgtEl>
                                  <p:attrNameLst>
                                    <p:attrName>style.visibility</p:attrName>
                                  </p:attrNameLst>
                                </p:cBhvr>
                                <p:to>
                                  <p:strVal val="visible"/>
                                </p:to>
                              </p:set>
                              <p:animEffect transition="in" filter="fade">
                                <p:cBhvr>
                                  <p:cTn id="36" dur="550" fill="hold"/>
                                  <p:tgtEl>
                                    <p:spTgt spid="11"/>
                                  </p:tgtEl>
                                </p:cBhvr>
                              </p:animEffect>
                            </p:childTnList>
                          </p:cTn>
                        </p:par>
                        <p:par>
                          <p:cTn id="37" presetID="10" presetClass="entr" presetSubtype="0" fill="hold" grpId="0" nodeType="withEffect">
                            <p:stCondLst>
                              <p:cond delay="780"/>
                            </p:stCondLst>
                            <p:childTnList>
                              <p:set>
                                <p:cBhvr>
                                  <p:cTn id="38" dur="1" fill="hold">
                                    <p:stCondLst>
                                      <p:cond delay="0"/>
                                    </p:stCondLst>
                                  </p:cTn>
                                  <p:tgtEl>
                                    <p:spTgt spid="12"/>
                                  </p:tgtEl>
                                  <p:attrNameLst>
                                    <p:attrName>style.visibility</p:attrName>
                                  </p:attrNameLst>
                                </p:cBhvr>
                                <p:to>
                                  <p:strVal val="visible"/>
                                </p:to>
                              </p:set>
                              <p:animEffect transition="in" filter="fade">
                                <p:cBhvr>
                                  <p:cTn id="39" dur="550" fill="hold"/>
                                  <p:tgtEl>
                                    <p:spTgt spid="12"/>
                                  </p:tgtEl>
                                </p:cBhvr>
                              </p:animEffect>
                            </p:childTnList>
                          </p:cTn>
                        </p:par>
                        <p:par>
                          <p:cTn id="40" presetID="10" presetClass="entr" presetSubtype="0" fill="hold" grpId="0" nodeType="withEffect">
                            <p:stCondLst>
                              <p:cond delay="780"/>
                            </p:stCondLst>
                            <p:childTnList>
                              <p:set>
                                <p:cBhvr>
                                  <p:cTn id="41" dur="1" fill="hold">
                                    <p:stCondLst>
                                      <p:cond delay="0"/>
                                    </p:stCondLst>
                                  </p:cTn>
                                  <p:tgtEl>
                                    <p:spTgt spid="13"/>
                                  </p:tgtEl>
                                  <p:attrNameLst>
                                    <p:attrName>style.visibility</p:attrName>
                                  </p:attrNameLst>
                                </p:cBhvr>
                                <p:to>
                                  <p:strVal val="visible"/>
                                </p:to>
                              </p:set>
                              <p:animEffect transition="in" filter="fade">
                                <p:cBhvr>
                                  <p:cTn id="42" dur="550" fill="hold"/>
                                  <p:tgtEl>
                                    <p:spTgt spid="13"/>
                                  </p:tgtEl>
                                </p:cBhvr>
                              </p:animEffect>
                            </p:childTnList>
                          </p:cTn>
                        </p:par>
                        <p:par>
                          <p:cTn id="43" presetID="10" presetClass="entr" presetSubtype="0" fill="hold" grpId="0" nodeType="withEffect">
                            <p:stCondLst>
                              <p:cond delay="1300"/>
                            </p:stCondLst>
                            <p:childTnList>
                              <p:set>
                                <p:cBhvr>
                                  <p:cTn id="44" dur="1" fill="hold">
                                    <p:stCondLst>
                                      <p:cond delay="0"/>
                                    </p:stCondLst>
                                  </p:cTn>
                                  <p:tgtEl>
                                    <p:spTgt spid="14"/>
                                  </p:tgtEl>
                                  <p:attrNameLst>
                                    <p:attrName>style.visibility</p:attrName>
                                  </p:attrNameLst>
                                </p:cBhvr>
                                <p:to>
                                  <p:strVal val="visible"/>
                                </p:to>
                              </p:set>
                              <p:animEffect transition="in" filter="fade">
                                <p:cBhvr>
                                  <p:cTn id="45" dur="550" fill="hold"/>
                                  <p:tgtEl>
                                    <p:spTgt spid="14"/>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23.xml><?xml version="1.0" encoding="utf-8"?>
<p:sld xmlns:p="http://schemas.openxmlformats.org/presentationml/2006/main">
  <p:cSld>
    <p:bg>
      <p:bgPr>
        <a:solidFill xmlns:a="http://schemas.openxmlformats.org/drawingml/2006/main">
          <a:srgbClr val="092333"/>
        </a:solidFill>
      </p:bgPr>
    </p:bg>
    <p:spTree>
      <p:nvGrpSpPr>
        <p:cNvPr id="1" name=""/>
        <p:cNvGrpSpPr/>
        <p:nvPr/>
      </p:nvGrpSpPr>
      <p:grpSpPr>
        <a:xfrm xmlns:a="http://schemas.openxmlformats.org/drawingml/2006/main"/>
      </p:grpSpPr>
      <p:sp>
        <p:nvSpPr>
          <p:cNvPr id="10" name="reveal-1::shape-225">
            <a:extLst xmlns:a="http://schemas.openxmlformats.org/drawingml/2006/main">
              <a:ext uri="{FF2B5EF4-FFF2-40B4-BE49-F238E27FC236}">
                <a16:creationId xmlns:a16="http://schemas.microsoft.com/office/drawing/2014/main" id="{73CE095C-FE39-46B8-8D9A-6BE241EB97C7}"/>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Başlanğıc 3. İlk offline analiz</a:t>
            </a:r>
          </a:p>
        </p:txBody>
      </p:sp>
      <p:sp>
        <p:nvSpPr>
          <p:cNvPr id="2" name="reveal-2::shape-226">
            <a:extLst xmlns:a="http://schemas.openxmlformats.org/drawingml/2006/main">
              <a:ext uri="{FF2B5EF4-FFF2-40B4-BE49-F238E27FC236}">
                <a16:creationId xmlns:a16="http://schemas.microsoft.com/office/drawing/2014/main" id="{7F6950A5-2EB5-4BEB-BF36-FB93E70E09BE}"/>
              </a:ext>
            </a:extLst>
          </p:cNvPr>
          <p:cNvSpPr>
            <a:spLocks xmlns:a="http://schemas.openxmlformats.org/drawingml/2006/main" noGrp="1"/>
          </p:cNvSpPr>
          <p:nvPr/>
        </p:nvSpPr>
        <p:spPr>
          <a:xfrm xmlns:a="http://schemas.openxmlformats.org/drawingml/2006/main">
            <a:off x="581025" y="1562100"/>
            <a:ext cx="1095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79DEC5"/>
                </a:solidFill>
                <a:latin typeface="Arial"/>
                <a:ea typeface="Arial"/>
                <a:cs typeface="Arial"/>
              </a:defRPr>
            </a:pPr>
            <a:r>
              <a:rPr sz="4725" b="1">
                <a:solidFill>
                  <a:srgbClr val="79DEC5"/>
                </a:solidFill>
                <a:latin typeface="Arial"/>
                <a:ea typeface="Arial"/>
                <a:cs typeface="Arial"/>
              </a:rPr>
              <a:t>ALIGNMENT</a:t>
            </a:r>
          </a:p>
        </p:txBody>
      </p:sp>
      <p:sp>
        <p:nvSpPr>
          <p:cNvPr id="3" name="reveal-2::shape-227">
            <a:extLst xmlns:a="http://schemas.openxmlformats.org/drawingml/2006/main">
              <a:ext uri="{FF2B5EF4-FFF2-40B4-BE49-F238E27FC236}">
                <a16:creationId xmlns:a16="http://schemas.microsoft.com/office/drawing/2014/main" id="{75589235-0FCE-4C6E-8ADC-01587F2C1B3D}"/>
              </a:ext>
            </a:extLst>
          </p:cNvPr>
          <p:cNvSpPr>
            <a:spLocks xmlns:a="http://schemas.openxmlformats.org/drawingml/2006/main" noGrp="1"/>
          </p:cNvSpPr>
          <p:nvPr/>
        </p:nvSpPr>
        <p:spPr>
          <a:xfrm xmlns:a="http://schemas.openxmlformats.org/drawingml/2006/main">
            <a:off x="581025" y="2790825"/>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python scripts/lab.py list</a:t>
            </a:r>
          </a:p>
        </p:txBody>
      </p:sp>
      <p:sp>
        <p:nvSpPr>
          <p:cNvPr id="4" name="reveal-3::shape-228">
            <a:extLst xmlns:a="http://schemas.openxmlformats.org/drawingml/2006/main">
              <a:ext uri="{FF2B5EF4-FFF2-40B4-BE49-F238E27FC236}">
                <a16:creationId xmlns:a16="http://schemas.microsoft.com/office/drawing/2014/main" id="{8FCC8D34-2B05-4CDA-9488-D1DE59042F50}"/>
              </a:ext>
            </a:extLst>
          </p:cNvPr>
          <p:cNvSpPr>
            <a:spLocks xmlns:a="http://schemas.openxmlformats.org/drawingml/2006/main" noGrp="1"/>
          </p:cNvSpPr>
          <p:nvPr/>
        </p:nvSpPr>
        <p:spPr>
          <a:xfrm xmlns:a="http://schemas.openxmlformats.org/drawingml/2006/main">
            <a:off x="581025" y="35718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python scripts/lab.py run alignment --offline</a:t>
            </a:r>
          </a:p>
        </p:txBody>
      </p:sp>
      <p:sp>
        <p:nvSpPr>
          <p:cNvPr id="5" name="reveal-0::shape-229">
            <a:extLst xmlns:a="http://schemas.openxmlformats.org/drawingml/2006/main">
              <a:ext uri="{FF2B5EF4-FFF2-40B4-BE49-F238E27FC236}">
                <a16:creationId xmlns:a16="http://schemas.microsoft.com/office/drawing/2014/main" id="{0B706E06-C557-4C72-BF8E-6E93F0508558}"/>
              </a:ext>
            </a:extLst>
          </p:cNvPr>
          <p:cNvSpPr>
            <a:spLocks xmlns:a="http://schemas.openxmlformats.org/drawingml/2006/main" noGrp="1"/>
          </p:cNvSpPr>
          <p:nvPr/>
        </p:nvSpPr>
        <p:spPr>
          <a:xfrm xmlns:a="http://schemas.openxmlformats.org/drawingml/2006/main">
            <a:off x="581025" y="4848225"/>
            <a:ext cx="10991850" cy="866775"/>
          </a:xfrm>
          <a:prstGeom xmlns:a="http://schemas.openxmlformats.org/drawingml/2006/main" prst="rect">
            <a:avLst/>
          </a:prstGeom>
          <a:solidFill xmlns:a="http://schemas.openxmlformats.org/drawingml/2006/main">
            <a:srgbClr val="143D4A"/>
          </a:solidFill>
          <a:ln xmlns:a="http://schemas.openxmlformats.org/drawingml/2006/main" w="0">
            <a:noFill/>
          </a:ln>
        </p:spPr>
      </p:sp>
      <p:sp>
        <p:nvSpPr>
          <p:cNvPr id="6" name="reveal-4::shape-230">
            <a:extLst xmlns:a="http://schemas.openxmlformats.org/drawingml/2006/main">
              <a:ext uri="{FF2B5EF4-FFF2-40B4-BE49-F238E27FC236}">
                <a16:creationId xmlns:a16="http://schemas.microsoft.com/office/drawing/2014/main" id="{740AA207-5BDE-4274-A0F5-972D37B51406}"/>
              </a:ext>
            </a:extLst>
          </p:cNvPr>
          <p:cNvSpPr>
            <a:spLocks xmlns:a="http://schemas.openxmlformats.org/drawingml/2006/main" noGrp="1"/>
          </p:cNvSpPr>
          <p:nvPr/>
        </p:nvSpPr>
        <p:spPr>
          <a:xfrm xmlns:a="http://schemas.openxmlformats.org/drawingml/2006/main">
            <a:off x="790575" y="5038725"/>
            <a:ext cx="2257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79DEC5"/>
                </a:solidFill>
                <a:latin typeface="Arial"/>
                <a:ea typeface="Arial"/>
                <a:cs typeface="Arial"/>
              </a:defRPr>
            </a:pPr>
            <a:r>
              <a:rPr sz="2475" b="1">
                <a:solidFill>
                  <a:srgbClr val="79DEC5"/>
                </a:solidFill>
                <a:latin typeface="Arial"/>
                <a:ea typeface="Arial"/>
                <a:cs typeface="Arial"/>
              </a:rPr>
              <a:t>passed</a:t>
            </a:r>
          </a:p>
        </p:txBody>
      </p:sp>
      <p:sp>
        <p:nvSpPr>
          <p:cNvPr id="7" name="reveal-4::shape-231">
            <a:extLst xmlns:a="http://schemas.openxmlformats.org/drawingml/2006/main">
              <a:ext uri="{FF2B5EF4-FFF2-40B4-BE49-F238E27FC236}">
                <a16:creationId xmlns:a16="http://schemas.microsoft.com/office/drawing/2014/main" id="{A64F2A84-9F01-4C28-A3EA-AB6DED669165}"/>
              </a:ext>
            </a:extLst>
          </p:cNvPr>
          <p:cNvSpPr>
            <a:spLocks xmlns:a="http://schemas.openxmlformats.org/drawingml/2006/main" noGrp="1"/>
          </p:cNvSpPr>
          <p:nvPr/>
        </p:nvSpPr>
        <p:spPr>
          <a:xfrm xmlns:a="http://schemas.openxmlformats.org/drawingml/2006/main">
            <a:off x="3676650" y="5086350"/>
            <a:ext cx="7515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Yeni nəticə qovluğu: results/runs/</a:t>
            </a:r>
          </a:p>
        </p:txBody>
      </p:sp>
      <p:sp>
        <p:nvSpPr>
          <p:cNvPr id="8" name="reveal-6::shape-232">
            <a:extLst xmlns:a="http://schemas.openxmlformats.org/drawingml/2006/main">
              <a:ext uri="{FF2B5EF4-FFF2-40B4-BE49-F238E27FC236}">
                <a16:creationId xmlns:a16="http://schemas.microsoft.com/office/drawing/2014/main" id="{D72875AB-A566-476F-8944-F25D46994DCB}"/>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1D2D7"/>
                </a:solidFill>
                <a:latin typeface="Arial"/>
                <a:ea typeface="Arial"/>
                <a:cs typeface="Arial"/>
              </a:defRPr>
            </a:pPr>
            <a:r>
              <a:rPr sz="1575" b="0">
                <a:solidFill>
                  <a:srgbClr val="B1D2D7"/>
                </a:solidFill>
                <a:latin typeface="Arial"/>
                <a:ea typeface="Arial"/>
                <a:cs typeface="Arial"/>
              </a:rPr>
              <a:t>passed uğurlu icrada gözlənən statusdur. Bu slayd terminal screenshot-u deyil.</a:t>
            </a:r>
          </a:p>
        </p:txBody>
      </p:sp>
      <p:sp>
        <p:nvSpPr>
          <p:cNvPr id="9" name="reveal-0::shape-233">
            <a:extLst xmlns:a="http://schemas.openxmlformats.org/drawingml/2006/main">
              <a:ext uri="{FF2B5EF4-FFF2-40B4-BE49-F238E27FC236}">
                <a16:creationId xmlns:a16="http://schemas.microsoft.com/office/drawing/2014/main" id="{8F595D9D-633B-40BC-8EE3-AB1CBC541F3F}"/>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2B2BB"/>
                </a:solidFill>
                <a:latin typeface="Arial"/>
                <a:ea typeface="Arial"/>
                <a:cs typeface="Arial"/>
              </a:defRPr>
            </a:pPr>
            <a:r>
              <a:rPr sz="1050" b="0">
                <a:solidFill>
                  <a:srgbClr val="92B2BB"/>
                </a:solidFill>
                <a:latin typeface="Arial"/>
                <a:ea typeface="Arial"/>
                <a:cs typeface="Arial"/>
              </a:rPr>
              <a:t>23</a:t>
            </a:r>
          </a:p>
        </p:txBody>
      </p:sp>
    </p:spTree>
    <p:extLst>
      <p:ext uri="{BB962C8B-B14F-4D97-AF65-F5344CB8AC3E}">
        <p14:creationId xmlns:p14="http://schemas.microsoft.com/office/powerpoint/2010/main" val="115934983"/>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10"/>
                                  </p:tgtEl>
                                  <p:attrNameLst>
                                    <p:attrName>style.visibility</p:attrName>
                                  </p:attrNameLst>
                                </p:cBhvr>
                                <p:to>
                                  <p:strVal val="visible"/>
                                </p:to>
                              </p:set>
                              <p:animEffect transition="in" filter="fade">
                                <p:cBhvr>
                                  <p:cTn id="6" dur="550" fill="hold"/>
                                  <p:tgtEl>
                                    <p:spTgt spid="10"/>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78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par>
                          <p:cTn id="19" presetID="10" presetClass="entr" presetSubtype="0" fill="hold" grpId="0" nodeType="withEffect">
                            <p:stCondLst>
                              <p:cond delay="780"/>
                            </p:stCondLst>
                            <p:childTnList>
                              <p:set>
                                <p:cBhvr>
                                  <p:cTn id="20" dur="1" fill="hold">
                                    <p:stCondLst>
                                      <p:cond delay="0"/>
                                    </p:stCondLst>
                                  </p:cTn>
                                  <p:tgtEl>
                                    <p:spTgt spid="7"/>
                                  </p:tgtEl>
                                  <p:attrNameLst>
                                    <p:attrName>style.visibility</p:attrName>
                                  </p:attrNameLst>
                                </p:cBhvr>
                                <p:to>
                                  <p:strVal val="visible"/>
                                </p:to>
                              </p:set>
                              <p:animEffect transition="in" filter="fade">
                                <p:cBhvr>
                                  <p:cTn id="21" dur="550" fill="hold"/>
                                  <p:tgtEl>
                                    <p:spTgt spid="7"/>
                                  </p:tgtEl>
                                </p:cBhvr>
                              </p:animEffect>
                            </p:childTnList>
                          </p:cTn>
                        </p:par>
                        <p:par>
                          <p:cTn id="22" presetID="10" presetClass="entr" presetSubtype="0" fill="hold" grpId="0" nodeType="withEffect">
                            <p:stCondLst>
                              <p:cond delay="1300"/>
                            </p:stCondLst>
                            <p:childTnList>
                              <p:set>
                                <p:cBhvr>
                                  <p:cTn id="23" dur="1" fill="hold">
                                    <p:stCondLst>
                                      <p:cond delay="0"/>
                                    </p:stCondLst>
                                  </p:cTn>
                                  <p:tgtEl>
                                    <p:spTgt spid="8"/>
                                  </p:tgtEl>
                                  <p:attrNameLst>
                                    <p:attrName>style.visibility</p:attrName>
                                  </p:attrNameLst>
                                </p:cBhvr>
                                <p:to>
                                  <p:strVal val="visible"/>
                                </p:to>
                              </p:set>
                              <p:animEffect transition="in" filter="fade">
                                <p:cBhvr>
                                  <p:cTn id="24" dur="550" fill="hold"/>
                                  <p:tgtEl>
                                    <p:spTgt spid="8"/>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2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0" name="reveal-1::shape-234">
            <a:extLst xmlns:a="http://schemas.openxmlformats.org/drawingml/2006/main">
              <a:ext uri="{FF2B5EF4-FFF2-40B4-BE49-F238E27FC236}">
                <a16:creationId xmlns:a16="http://schemas.microsoft.com/office/drawing/2014/main" id="{93C3D87B-F2F5-4886-9CD2-D8DF65D96C25}"/>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Başlanğıc 4. Nəticə qovluğunun xəritəsi</a:t>
            </a:r>
          </a:p>
        </p:txBody>
      </p:sp>
      <p:sp>
        <p:nvSpPr>
          <p:cNvPr id="2" name="reveal-2::shape-235">
            <a:extLst xmlns:a="http://schemas.openxmlformats.org/drawingml/2006/main">
              <a:ext uri="{FF2B5EF4-FFF2-40B4-BE49-F238E27FC236}">
                <a16:creationId xmlns:a16="http://schemas.microsoft.com/office/drawing/2014/main" id="{5C9DCE76-5141-4BE8-9994-06829901DBC6}"/>
              </a:ext>
            </a:extLst>
          </p:cNvPr>
          <p:cNvSpPr>
            <a:spLocks xmlns:a="http://schemas.openxmlformats.org/drawingml/2006/main" noGrp="1"/>
          </p:cNvSpPr>
          <p:nvPr/>
        </p:nvSpPr>
        <p:spPr>
          <a:xfrm xmlns:a="http://schemas.openxmlformats.org/drawingml/2006/main">
            <a:off x="581025" y="1628775"/>
            <a:ext cx="3409950" cy="695325"/>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3" name="reveal-2::shape-236">
            <a:extLst xmlns:a="http://schemas.openxmlformats.org/drawingml/2006/main">
              <a:ext uri="{FF2B5EF4-FFF2-40B4-BE49-F238E27FC236}">
                <a16:creationId xmlns:a16="http://schemas.microsoft.com/office/drawing/2014/main" id="{6B17E0E5-F55E-4FBB-87E2-AE099E1B8C9F}"/>
              </a:ext>
            </a:extLst>
          </p:cNvPr>
          <p:cNvSpPr>
            <a:spLocks xmlns:a="http://schemas.openxmlformats.org/drawingml/2006/main" noGrp="1"/>
          </p:cNvSpPr>
          <p:nvPr/>
        </p:nvSpPr>
        <p:spPr>
          <a:xfrm xmlns:a="http://schemas.openxmlformats.org/drawingml/2006/main">
            <a:off x="742950" y="1771650"/>
            <a:ext cx="3114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suite.json</a:t>
            </a:r>
          </a:p>
        </p:txBody>
      </p:sp>
      <p:sp>
        <p:nvSpPr>
          <p:cNvPr id="4" name="reveal-2::shape-237">
            <a:extLst xmlns:a="http://schemas.openxmlformats.org/drawingml/2006/main">
              <a:ext uri="{FF2B5EF4-FFF2-40B4-BE49-F238E27FC236}">
                <a16:creationId xmlns:a16="http://schemas.microsoft.com/office/drawing/2014/main" id="{2467289F-88C9-41DA-8B1E-DC708801FE57}"/>
              </a:ext>
            </a:extLst>
          </p:cNvPr>
          <p:cNvSpPr>
            <a:spLocks xmlns:a="http://schemas.openxmlformats.org/drawingml/2006/main" noGrp="1"/>
          </p:cNvSpPr>
          <p:nvPr/>
        </p:nvSpPr>
        <p:spPr>
          <a:xfrm xmlns:a="http://schemas.openxmlformats.org/drawingml/2006/main">
            <a:off x="4248150" y="1885950"/>
            <a:ext cx="752475"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5" name="reveal-2::shape-238">
            <a:extLst xmlns:a="http://schemas.openxmlformats.org/drawingml/2006/main">
              <a:ext uri="{FF2B5EF4-FFF2-40B4-BE49-F238E27FC236}">
                <a16:creationId xmlns:a16="http://schemas.microsoft.com/office/drawing/2014/main" id="{CD2A2BF9-C631-4185-94EC-475B4DAC3CD5}"/>
              </a:ext>
            </a:extLst>
          </p:cNvPr>
          <p:cNvSpPr>
            <a:spLocks xmlns:a="http://schemas.openxmlformats.org/drawingml/2006/main" noGrp="1"/>
          </p:cNvSpPr>
          <p:nvPr/>
        </p:nvSpPr>
        <p:spPr>
          <a:xfrm xmlns:a="http://schemas.openxmlformats.org/drawingml/2006/main">
            <a:off x="5476875" y="1724025"/>
            <a:ext cx="6038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343"/>
                </a:solidFill>
                <a:latin typeface="Arial"/>
                <a:ea typeface="Arial"/>
                <a:cs typeface="Arial"/>
              </a:defRPr>
            </a:pPr>
            <a:r>
              <a:rPr sz="2175" b="0">
                <a:solidFill>
                  <a:srgbClr val="173343"/>
                </a:solidFill>
                <a:latin typeface="Arial"/>
                <a:ea typeface="Arial"/>
                <a:cs typeface="Arial"/>
              </a:rPr>
              <a:t>Status və layihə yolları</a:t>
            </a:r>
          </a:p>
        </p:txBody>
      </p:sp>
      <p:sp>
        <p:nvSpPr>
          <p:cNvPr id="6" name="reveal-3::shape-239">
            <a:extLst xmlns:a="http://schemas.openxmlformats.org/drawingml/2006/main">
              <a:ext uri="{FF2B5EF4-FFF2-40B4-BE49-F238E27FC236}">
                <a16:creationId xmlns:a16="http://schemas.microsoft.com/office/drawing/2014/main" id="{CEA50D07-2308-4F1D-ABB2-537FED116A84}"/>
              </a:ext>
            </a:extLst>
          </p:cNvPr>
          <p:cNvSpPr>
            <a:spLocks xmlns:a="http://schemas.openxmlformats.org/drawingml/2006/main" noGrp="1"/>
          </p:cNvSpPr>
          <p:nvPr/>
        </p:nvSpPr>
        <p:spPr>
          <a:xfrm xmlns:a="http://schemas.openxmlformats.org/drawingml/2006/main">
            <a:off x="581025" y="2600325"/>
            <a:ext cx="3409950" cy="695325"/>
          </a:xfrm>
          <a:prstGeom xmlns:a="http://schemas.openxmlformats.org/drawingml/2006/main" prst="rect">
            <a:avLst/>
          </a:prstGeom>
          <a:solidFill xmlns:a="http://schemas.openxmlformats.org/drawingml/2006/main">
            <a:srgbClr val="087F83"/>
          </a:solidFill>
          <a:ln xmlns:a="http://schemas.openxmlformats.org/drawingml/2006/main" w="0">
            <a:noFill/>
          </a:ln>
        </p:spPr>
      </p:sp>
      <p:sp>
        <p:nvSpPr>
          <p:cNvPr id="7" name="reveal-3::shape-240">
            <a:extLst xmlns:a="http://schemas.openxmlformats.org/drawingml/2006/main">
              <a:ext uri="{FF2B5EF4-FFF2-40B4-BE49-F238E27FC236}">
                <a16:creationId xmlns:a16="http://schemas.microsoft.com/office/drawing/2014/main" id="{3429118B-F75B-4695-9870-44F8038C3F14}"/>
              </a:ext>
            </a:extLst>
          </p:cNvPr>
          <p:cNvSpPr>
            <a:spLocks xmlns:a="http://schemas.openxmlformats.org/drawingml/2006/main" noGrp="1"/>
          </p:cNvSpPr>
          <p:nvPr/>
        </p:nvSpPr>
        <p:spPr>
          <a:xfrm xmlns:a="http://schemas.openxmlformats.org/drawingml/2006/main">
            <a:off x="742950" y="2743200"/>
            <a:ext cx="3114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alignment.log</a:t>
            </a:r>
          </a:p>
        </p:txBody>
      </p:sp>
      <p:sp>
        <p:nvSpPr>
          <p:cNvPr id="8" name="reveal-3::shape-241">
            <a:extLst xmlns:a="http://schemas.openxmlformats.org/drawingml/2006/main">
              <a:ext uri="{FF2B5EF4-FFF2-40B4-BE49-F238E27FC236}">
                <a16:creationId xmlns:a16="http://schemas.microsoft.com/office/drawing/2014/main" id="{5ADA1468-E972-4B5C-9AAC-ABC7AB68163E}"/>
              </a:ext>
            </a:extLst>
          </p:cNvPr>
          <p:cNvSpPr>
            <a:spLocks xmlns:a="http://schemas.openxmlformats.org/drawingml/2006/main" noGrp="1"/>
          </p:cNvSpPr>
          <p:nvPr/>
        </p:nvSpPr>
        <p:spPr>
          <a:xfrm xmlns:a="http://schemas.openxmlformats.org/drawingml/2006/main">
            <a:off x="4248150" y="2857500"/>
            <a:ext cx="752475"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9" name="reveal-3::shape-242">
            <a:extLst xmlns:a="http://schemas.openxmlformats.org/drawingml/2006/main">
              <a:ext uri="{FF2B5EF4-FFF2-40B4-BE49-F238E27FC236}">
                <a16:creationId xmlns:a16="http://schemas.microsoft.com/office/drawing/2014/main" id="{E6C31B5C-4E36-459E-A951-37E591555253}"/>
              </a:ext>
            </a:extLst>
          </p:cNvPr>
          <p:cNvSpPr>
            <a:spLocks xmlns:a="http://schemas.openxmlformats.org/drawingml/2006/main" noGrp="1"/>
          </p:cNvSpPr>
          <p:nvPr/>
        </p:nvSpPr>
        <p:spPr>
          <a:xfrm xmlns:a="http://schemas.openxmlformats.org/drawingml/2006/main">
            <a:off x="5476875" y="2695575"/>
            <a:ext cx="6038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343"/>
                </a:solidFill>
                <a:latin typeface="Arial"/>
                <a:ea typeface="Arial"/>
                <a:cs typeface="Arial"/>
              </a:defRPr>
            </a:pPr>
            <a:r>
              <a:rPr sz="2175" b="0">
                <a:solidFill>
                  <a:srgbClr val="173343"/>
                </a:solidFill>
                <a:latin typeface="Arial"/>
                <a:ea typeface="Arial"/>
                <a:cs typeface="Arial"/>
              </a:rPr>
              <a:t>İcranın gedişi</a:t>
            </a:r>
          </a:p>
        </p:txBody>
      </p:sp>
      <p:sp>
        <p:nvSpPr>
          <p:cNvPr id="10" name="reveal-4::shape-243">
            <a:extLst xmlns:a="http://schemas.openxmlformats.org/drawingml/2006/main">
              <a:ext uri="{FF2B5EF4-FFF2-40B4-BE49-F238E27FC236}">
                <a16:creationId xmlns:a16="http://schemas.microsoft.com/office/drawing/2014/main" id="{5A66F68C-D4BC-4149-805B-AE8812CA88E8}"/>
              </a:ext>
            </a:extLst>
          </p:cNvPr>
          <p:cNvSpPr>
            <a:spLocks xmlns:a="http://schemas.openxmlformats.org/drawingml/2006/main" noGrp="1"/>
          </p:cNvSpPr>
          <p:nvPr/>
        </p:nvSpPr>
        <p:spPr>
          <a:xfrm xmlns:a="http://schemas.openxmlformats.org/drawingml/2006/main">
            <a:off x="581025" y="3571875"/>
            <a:ext cx="3409950" cy="695325"/>
          </a:xfrm>
          <a:prstGeom xmlns:a="http://schemas.openxmlformats.org/drawingml/2006/main" prst="rect">
            <a:avLst/>
          </a:prstGeom>
          <a:solidFill xmlns:a="http://schemas.openxmlformats.org/drawingml/2006/main">
            <a:srgbClr val="092333"/>
          </a:solidFill>
          <a:ln xmlns:a="http://schemas.openxmlformats.org/drawingml/2006/main" w="0">
            <a:noFill/>
          </a:ln>
        </p:spPr>
      </p:sp>
      <p:sp>
        <p:nvSpPr>
          <p:cNvPr id="11" name="reveal-4::shape-244">
            <a:extLst xmlns:a="http://schemas.openxmlformats.org/drawingml/2006/main">
              <a:ext uri="{FF2B5EF4-FFF2-40B4-BE49-F238E27FC236}">
                <a16:creationId xmlns:a16="http://schemas.microsoft.com/office/drawing/2014/main" id="{F77C2ED4-BCA0-4AC4-BF73-0B08615AE0B9}"/>
              </a:ext>
            </a:extLst>
          </p:cNvPr>
          <p:cNvSpPr>
            <a:spLocks xmlns:a="http://schemas.openxmlformats.org/drawingml/2006/main" noGrp="1"/>
          </p:cNvSpPr>
          <p:nvPr/>
        </p:nvSpPr>
        <p:spPr>
          <a:xfrm xmlns:a="http://schemas.openxmlformats.org/drawingml/2006/main">
            <a:off x="742950" y="3714750"/>
            <a:ext cx="3114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run.json</a:t>
            </a:r>
          </a:p>
        </p:txBody>
      </p:sp>
      <p:sp>
        <p:nvSpPr>
          <p:cNvPr id="12" name="reveal-4::shape-245">
            <a:extLst xmlns:a="http://schemas.openxmlformats.org/drawingml/2006/main">
              <a:ext uri="{FF2B5EF4-FFF2-40B4-BE49-F238E27FC236}">
                <a16:creationId xmlns:a16="http://schemas.microsoft.com/office/drawing/2014/main" id="{AC833087-679D-4500-8406-53CB6FAFEC67}"/>
              </a:ext>
            </a:extLst>
          </p:cNvPr>
          <p:cNvSpPr>
            <a:spLocks xmlns:a="http://schemas.openxmlformats.org/drawingml/2006/main" noGrp="1"/>
          </p:cNvSpPr>
          <p:nvPr/>
        </p:nvSpPr>
        <p:spPr>
          <a:xfrm xmlns:a="http://schemas.openxmlformats.org/drawingml/2006/main">
            <a:off x="4248150" y="3829050"/>
            <a:ext cx="752475"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13" name="reveal-4::shape-246">
            <a:extLst xmlns:a="http://schemas.openxmlformats.org/drawingml/2006/main">
              <a:ext uri="{FF2B5EF4-FFF2-40B4-BE49-F238E27FC236}">
                <a16:creationId xmlns:a16="http://schemas.microsoft.com/office/drawing/2014/main" id="{A4AB06B5-ECC2-4020-BEC5-1274F3360E5D}"/>
              </a:ext>
            </a:extLst>
          </p:cNvPr>
          <p:cNvSpPr>
            <a:spLocks xmlns:a="http://schemas.openxmlformats.org/drawingml/2006/main" noGrp="1"/>
          </p:cNvSpPr>
          <p:nvPr/>
        </p:nvSpPr>
        <p:spPr>
          <a:xfrm xmlns:a="http://schemas.openxmlformats.org/drawingml/2006/main">
            <a:off x="5476875" y="3667125"/>
            <a:ext cx="6038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343"/>
                </a:solidFill>
                <a:latin typeface="Arial"/>
                <a:ea typeface="Arial"/>
                <a:cs typeface="Arial"/>
              </a:defRPr>
            </a:pPr>
            <a:r>
              <a:rPr sz="2175" b="0">
                <a:solidFill>
                  <a:srgbClr val="173343"/>
                </a:solidFill>
                <a:latin typeface="Arial"/>
                <a:ea typeface="Arial"/>
                <a:cs typeface="Arial"/>
              </a:rPr>
              <a:t>Parametr və mənşə</a:t>
            </a:r>
          </a:p>
        </p:txBody>
      </p:sp>
      <p:sp>
        <p:nvSpPr>
          <p:cNvPr id="14" name="reveal-5::shape-247">
            <a:extLst xmlns:a="http://schemas.openxmlformats.org/drawingml/2006/main">
              <a:ext uri="{FF2B5EF4-FFF2-40B4-BE49-F238E27FC236}">
                <a16:creationId xmlns:a16="http://schemas.microsoft.com/office/drawing/2014/main" id="{C0118F4A-0C93-4941-9C07-93269571E526}"/>
              </a:ext>
            </a:extLst>
          </p:cNvPr>
          <p:cNvSpPr>
            <a:spLocks xmlns:a="http://schemas.openxmlformats.org/drawingml/2006/main" noGrp="1"/>
          </p:cNvSpPr>
          <p:nvPr/>
        </p:nvSpPr>
        <p:spPr>
          <a:xfrm xmlns:a="http://schemas.openxmlformats.org/drawingml/2006/main">
            <a:off x="581025" y="4543425"/>
            <a:ext cx="3409950" cy="695325"/>
          </a:xfrm>
          <a:prstGeom xmlns:a="http://schemas.openxmlformats.org/drawingml/2006/main" prst="rect">
            <a:avLst/>
          </a:prstGeom>
          <a:solidFill xmlns:a="http://schemas.openxmlformats.org/drawingml/2006/main">
            <a:srgbClr val="087F83"/>
          </a:solidFill>
          <a:ln xmlns:a="http://schemas.openxmlformats.org/drawingml/2006/main" w="0">
            <a:noFill/>
          </a:ln>
        </p:spPr>
      </p:sp>
      <p:sp>
        <p:nvSpPr>
          <p:cNvPr id="15" name="reveal-5::shape-248">
            <a:extLst xmlns:a="http://schemas.openxmlformats.org/drawingml/2006/main">
              <a:ext uri="{FF2B5EF4-FFF2-40B4-BE49-F238E27FC236}">
                <a16:creationId xmlns:a16="http://schemas.microsoft.com/office/drawing/2014/main" id="{822EDE31-FAD4-4040-9E88-E83A40F53B71}"/>
              </a:ext>
            </a:extLst>
          </p:cNvPr>
          <p:cNvSpPr>
            <a:spLocks xmlns:a="http://schemas.openxmlformats.org/drawingml/2006/main" noGrp="1"/>
          </p:cNvSpPr>
          <p:nvPr/>
        </p:nvSpPr>
        <p:spPr>
          <a:xfrm xmlns:a="http://schemas.openxmlformats.org/drawingml/2006/main">
            <a:off x="742950" y="4686300"/>
            <a:ext cx="3114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Layihə çıxışları</a:t>
            </a:r>
          </a:p>
        </p:txBody>
      </p:sp>
      <p:sp>
        <p:nvSpPr>
          <p:cNvPr id="16" name="reveal-5::shape-249">
            <a:extLst xmlns:a="http://schemas.openxmlformats.org/drawingml/2006/main">
              <a:ext uri="{FF2B5EF4-FFF2-40B4-BE49-F238E27FC236}">
                <a16:creationId xmlns:a16="http://schemas.microsoft.com/office/drawing/2014/main" id="{62ECBD9B-678C-40F0-AB7D-EE6A2EB57C78}"/>
              </a:ext>
            </a:extLst>
          </p:cNvPr>
          <p:cNvSpPr>
            <a:spLocks xmlns:a="http://schemas.openxmlformats.org/drawingml/2006/main" noGrp="1"/>
          </p:cNvSpPr>
          <p:nvPr/>
        </p:nvSpPr>
        <p:spPr>
          <a:xfrm xmlns:a="http://schemas.openxmlformats.org/drawingml/2006/main">
            <a:off x="4248150" y="4800600"/>
            <a:ext cx="752475" cy="152400"/>
          </a:xfrm>
          <a:prstGeom xmlns:a="http://schemas.openxmlformats.org/drawingml/2006/main" prst="rightArrow">
            <a:avLst/>
          </a:prstGeom>
          <a:solidFill xmlns:a="http://schemas.openxmlformats.org/drawingml/2006/main">
            <a:srgbClr val="79DEC5"/>
          </a:solidFill>
          <a:ln xmlns:a="http://schemas.openxmlformats.org/drawingml/2006/main" w="0">
            <a:noFill/>
          </a:ln>
        </p:spPr>
      </p:sp>
      <p:sp>
        <p:nvSpPr>
          <p:cNvPr id="17" name="reveal-5::shape-250">
            <a:extLst xmlns:a="http://schemas.openxmlformats.org/drawingml/2006/main">
              <a:ext uri="{FF2B5EF4-FFF2-40B4-BE49-F238E27FC236}">
                <a16:creationId xmlns:a16="http://schemas.microsoft.com/office/drawing/2014/main" id="{9A250CED-F407-434E-8C1E-CD2191212D01}"/>
              </a:ext>
            </a:extLst>
          </p:cNvPr>
          <p:cNvSpPr>
            <a:spLocks xmlns:a="http://schemas.openxmlformats.org/drawingml/2006/main" noGrp="1"/>
          </p:cNvSpPr>
          <p:nvPr/>
        </p:nvSpPr>
        <p:spPr>
          <a:xfrm xmlns:a="http://schemas.openxmlformats.org/drawingml/2006/main">
            <a:off x="5476875" y="4638675"/>
            <a:ext cx="6038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343"/>
                </a:solidFill>
                <a:latin typeface="Arial"/>
                <a:ea typeface="Arial"/>
                <a:cs typeface="Arial"/>
              </a:defRPr>
            </a:pPr>
            <a:r>
              <a:rPr sz="2175" b="0">
                <a:solidFill>
                  <a:srgbClr val="173343"/>
                </a:solidFill>
                <a:latin typeface="Arial"/>
                <a:ea typeface="Arial"/>
                <a:cs typeface="Arial"/>
              </a:rPr>
              <a:t>Cədvəl və elmi nəticələr</a:t>
            </a:r>
          </a:p>
        </p:txBody>
      </p:sp>
      <p:sp>
        <p:nvSpPr>
          <p:cNvPr id="18" name="reveal-6::shape-251">
            <a:extLst xmlns:a="http://schemas.openxmlformats.org/drawingml/2006/main">
              <a:ext uri="{FF2B5EF4-FFF2-40B4-BE49-F238E27FC236}">
                <a16:creationId xmlns:a16="http://schemas.microsoft.com/office/drawing/2014/main" id="{9931DEA9-22C0-4535-860A-73AF41360D92}"/>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Faktiki layihə qovluqları suite.json daxilində run_paths sahəsində göstərilir.</a:t>
            </a:r>
          </a:p>
        </p:txBody>
      </p:sp>
      <p:sp>
        <p:nvSpPr>
          <p:cNvPr id="19" name="reveal-0::shape-252">
            <a:extLst xmlns:a="http://schemas.openxmlformats.org/drawingml/2006/main">
              <a:ext uri="{FF2B5EF4-FFF2-40B4-BE49-F238E27FC236}">
                <a16:creationId xmlns:a16="http://schemas.microsoft.com/office/drawing/2014/main" id="{FB7966D3-3A90-467D-856B-AE9BE98EE943}"/>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24</a:t>
            </a:r>
          </a:p>
        </p:txBody>
      </p:sp>
    </p:spTree>
    <p:extLst>
      <p:ext uri="{BB962C8B-B14F-4D97-AF65-F5344CB8AC3E}">
        <p14:creationId xmlns:p14="http://schemas.microsoft.com/office/powerpoint/2010/main" val="1791470968"/>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20"/>
                                  </p:tgtEl>
                                  <p:attrNameLst>
                                    <p:attrName>style.visibility</p:attrName>
                                  </p:attrNameLst>
                                </p:cBhvr>
                                <p:to>
                                  <p:strVal val="visible"/>
                                </p:to>
                              </p:set>
                              <p:animEffect transition="in" filter="fade">
                                <p:cBhvr>
                                  <p:cTn id="6" dur="550" fill="hold"/>
                                  <p:tgtEl>
                                    <p:spTgt spid="20"/>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26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260"/>
                            </p:stCondLst>
                            <p:childTnList>
                              <p:set>
                                <p:cBhvr>
                                  <p:cTn id="17" dur="1" fill="hold">
                                    <p:stCondLst>
                                      <p:cond delay="0"/>
                                    </p:stCondLst>
                                  </p:cTn>
                                  <p:tgtEl>
                                    <p:spTgt spid="5"/>
                                  </p:tgtEl>
                                  <p:attrNameLst>
                                    <p:attrName>style.visibility</p:attrName>
                                  </p:attrNameLst>
                                </p:cBhvr>
                                <p:to>
                                  <p:strVal val="visible"/>
                                </p:to>
                              </p:set>
                              <p:animEffect transition="in" filter="fade">
                                <p:cBhvr>
                                  <p:cTn id="18" dur="550" fill="hold"/>
                                  <p:tgtEl>
                                    <p:spTgt spid="5"/>
                                  </p:tgtEl>
                                </p:cBhvr>
                              </p:animEffect>
                            </p:childTnList>
                          </p:cTn>
                        </p:par>
                        <p:par>
                          <p:cTn id="19" presetID="10" presetClass="entr" presetSubtype="0" fill="hold" grpId="0" nodeType="withEffect">
                            <p:stCondLst>
                              <p:cond delay="520"/>
                            </p:stCondLst>
                            <p:childTnList>
                              <p:set>
                                <p:cBhvr>
                                  <p:cTn id="20" dur="1" fill="hold">
                                    <p:stCondLst>
                                      <p:cond delay="0"/>
                                    </p:stCondLst>
                                  </p:cTn>
                                  <p:tgtEl>
                                    <p:spTgt spid="6"/>
                                  </p:tgtEl>
                                  <p:attrNameLst>
                                    <p:attrName>style.visibility</p:attrName>
                                  </p:attrNameLst>
                                </p:cBhvr>
                                <p:to>
                                  <p:strVal val="visible"/>
                                </p:to>
                              </p:set>
                              <p:animEffect transition="in" filter="fade">
                                <p:cBhvr>
                                  <p:cTn id="21" dur="550" fill="hold"/>
                                  <p:tgtEl>
                                    <p:spTgt spid="6"/>
                                  </p:tgtEl>
                                </p:cBhvr>
                              </p:animEffect>
                            </p:childTnList>
                          </p:cTn>
                        </p:par>
                        <p:par>
                          <p:cTn id="22" presetID="10" presetClass="entr" presetSubtype="0" fill="hold" grpId="0" nodeType="withEffect">
                            <p:stCondLst>
                              <p:cond delay="520"/>
                            </p:stCondLst>
                            <p:childTnList>
                              <p:set>
                                <p:cBhvr>
                                  <p:cTn id="23" dur="1" fill="hold">
                                    <p:stCondLst>
                                      <p:cond delay="0"/>
                                    </p:stCondLst>
                                  </p:cTn>
                                  <p:tgtEl>
                                    <p:spTgt spid="7"/>
                                  </p:tgtEl>
                                  <p:attrNameLst>
                                    <p:attrName>style.visibility</p:attrName>
                                  </p:attrNameLst>
                                </p:cBhvr>
                                <p:to>
                                  <p:strVal val="visible"/>
                                </p:to>
                              </p:set>
                              <p:animEffect transition="in" filter="fade">
                                <p:cBhvr>
                                  <p:cTn id="24" dur="550" fill="hold"/>
                                  <p:tgtEl>
                                    <p:spTgt spid="7"/>
                                  </p:tgtEl>
                                </p:cBhvr>
                              </p:animEffect>
                            </p:childTnList>
                          </p:cTn>
                        </p:par>
                        <p:par>
                          <p:cTn id="25" presetID="10" presetClass="entr" presetSubtype="0" fill="hold" grpId="0" nodeType="withEffect">
                            <p:stCondLst>
                              <p:cond delay="520"/>
                            </p:stCondLst>
                            <p:childTnList>
                              <p:set>
                                <p:cBhvr>
                                  <p:cTn id="26" dur="1" fill="hold">
                                    <p:stCondLst>
                                      <p:cond delay="0"/>
                                    </p:stCondLst>
                                  </p:cTn>
                                  <p:tgtEl>
                                    <p:spTgt spid="8"/>
                                  </p:tgtEl>
                                  <p:attrNameLst>
                                    <p:attrName>style.visibility</p:attrName>
                                  </p:attrNameLst>
                                </p:cBhvr>
                                <p:to>
                                  <p:strVal val="visible"/>
                                </p:to>
                              </p:set>
                              <p:animEffect transition="in" filter="fade">
                                <p:cBhvr>
                                  <p:cTn id="27" dur="550" fill="hold"/>
                                  <p:tgtEl>
                                    <p:spTgt spid="8"/>
                                  </p:tgtEl>
                                </p:cBhvr>
                              </p:animEffect>
                            </p:childTnList>
                          </p:cTn>
                        </p:par>
                        <p:par>
                          <p:cTn id="28" presetID="10" presetClass="entr" presetSubtype="0" fill="hold" grpId="0" nodeType="withEffect">
                            <p:stCondLst>
                              <p:cond delay="520"/>
                            </p:stCondLst>
                            <p:childTnList>
                              <p:set>
                                <p:cBhvr>
                                  <p:cTn id="29" dur="1" fill="hold">
                                    <p:stCondLst>
                                      <p:cond delay="0"/>
                                    </p:stCondLst>
                                  </p:cTn>
                                  <p:tgtEl>
                                    <p:spTgt spid="9"/>
                                  </p:tgtEl>
                                  <p:attrNameLst>
                                    <p:attrName>style.visibility</p:attrName>
                                  </p:attrNameLst>
                                </p:cBhvr>
                                <p:to>
                                  <p:strVal val="visible"/>
                                </p:to>
                              </p:set>
                              <p:animEffect transition="in" filter="fade">
                                <p:cBhvr>
                                  <p:cTn id="30" dur="550" fill="hold"/>
                                  <p:tgtEl>
                                    <p:spTgt spid="9"/>
                                  </p:tgtEl>
                                </p:cBhvr>
                              </p:animEffect>
                            </p:childTnList>
                          </p:cTn>
                        </p:par>
                        <p:par>
                          <p:cTn id="31" presetID="10" presetClass="entr" presetSubtype="0" fill="hold" grpId="0" nodeType="withEffect">
                            <p:stCondLst>
                              <p:cond delay="780"/>
                            </p:stCondLst>
                            <p:childTnList>
                              <p:set>
                                <p:cBhvr>
                                  <p:cTn id="32" dur="1" fill="hold">
                                    <p:stCondLst>
                                      <p:cond delay="0"/>
                                    </p:stCondLst>
                                  </p:cTn>
                                  <p:tgtEl>
                                    <p:spTgt spid="10"/>
                                  </p:tgtEl>
                                  <p:attrNameLst>
                                    <p:attrName>style.visibility</p:attrName>
                                  </p:attrNameLst>
                                </p:cBhvr>
                                <p:to>
                                  <p:strVal val="visible"/>
                                </p:to>
                              </p:set>
                              <p:animEffect transition="in" filter="fade">
                                <p:cBhvr>
                                  <p:cTn id="33" dur="550" fill="hold"/>
                                  <p:tgtEl>
                                    <p:spTgt spid="10"/>
                                  </p:tgtEl>
                                </p:cBhvr>
                              </p:animEffect>
                            </p:childTnList>
                          </p:cTn>
                        </p:par>
                        <p:par>
                          <p:cTn id="34" presetID="10" presetClass="entr" presetSubtype="0" fill="hold" grpId="0" nodeType="withEffect">
                            <p:stCondLst>
                              <p:cond delay="780"/>
                            </p:stCondLst>
                            <p:childTnList>
                              <p:set>
                                <p:cBhvr>
                                  <p:cTn id="35" dur="1" fill="hold">
                                    <p:stCondLst>
                                      <p:cond delay="0"/>
                                    </p:stCondLst>
                                  </p:cTn>
                                  <p:tgtEl>
                                    <p:spTgt spid="11"/>
                                  </p:tgtEl>
                                  <p:attrNameLst>
                                    <p:attrName>style.visibility</p:attrName>
                                  </p:attrNameLst>
                                </p:cBhvr>
                                <p:to>
                                  <p:strVal val="visible"/>
                                </p:to>
                              </p:set>
                              <p:animEffect transition="in" filter="fade">
                                <p:cBhvr>
                                  <p:cTn id="36" dur="550" fill="hold"/>
                                  <p:tgtEl>
                                    <p:spTgt spid="11"/>
                                  </p:tgtEl>
                                </p:cBhvr>
                              </p:animEffect>
                            </p:childTnList>
                          </p:cTn>
                        </p:par>
                        <p:par>
                          <p:cTn id="37" presetID="10" presetClass="entr" presetSubtype="0" fill="hold" grpId="0" nodeType="withEffect">
                            <p:stCondLst>
                              <p:cond delay="780"/>
                            </p:stCondLst>
                            <p:childTnList>
                              <p:set>
                                <p:cBhvr>
                                  <p:cTn id="38" dur="1" fill="hold">
                                    <p:stCondLst>
                                      <p:cond delay="0"/>
                                    </p:stCondLst>
                                  </p:cTn>
                                  <p:tgtEl>
                                    <p:spTgt spid="12"/>
                                  </p:tgtEl>
                                  <p:attrNameLst>
                                    <p:attrName>style.visibility</p:attrName>
                                  </p:attrNameLst>
                                </p:cBhvr>
                                <p:to>
                                  <p:strVal val="visible"/>
                                </p:to>
                              </p:set>
                              <p:animEffect transition="in" filter="fade">
                                <p:cBhvr>
                                  <p:cTn id="39" dur="550" fill="hold"/>
                                  <p:tgtEl>
                                    <p:spTgt spid="12"/>
                                  </p:tgtEl>
                                </p:cBhvr>
                              </p:animEffect>
                            </p:childTnList>
                          </p:cTn>
                        </p:par>
                        <p:par>
                          <p:cTn id="40" presetID="10" presetClass="entr" presetSubtype="0" fill="hold" grpId="0" nodeType="withEffect">
                            <p:stCondLst>
                              <p:cond delay="780"/>
                            </p:stCondLst>
                            <p:childTnList>
                              <p:set>
                                <p:cBhvr>
                                  <p:cTn id="41" dur="1" fill="hold">
                                    <p:stCondLst>
                                      <p:cond delay="0"/>
                                    </p:stCondLst>
                                  </p:cTn>
                                  <p:tgtEl>
                                    <p:spTgt spid="13"/>
                                  </p:tgtEl>
                                  <p:attrNameLst>
                                    <p:attrName>style.visibility</p:attrName>
                                  </p:attrNameLst>
                                </p:cBhvr>
                                <p:to>
                                  <p:strVal val="visible"/>
                                </p:to>
                              </p:set>
                              <p:animEffect transition="in" filter="fade">
                                <p:cBhvr>
                                  <p:cTn id="42" dur="550" fill="hold"/>
                                  <p:tgtEl>
                                    <p:spTgt spid="13"/>
                                  </p:tgtEl>
                                </p:cBhvr>
                              </p:animEffect>
                            </p:childTnList>
                          </p:cTn>
                        </p:par>
                        <p:par>
                          <p:cTn id="43" presetID="10" presetClass="entr" presetSubtype="0" fill="hold" grpId="0" nodeType="withEffect">
                            <p:stCondLst>
                              <p:cond delay="1040"/>
                            </p:stCondLst>
                            <p:childTnList>
                              <p:set>
                                <p:cBhvr>
                                  <p:cTn id="44" dur="1" fill="hold">
                                    <p:stCondLst>
                                      <p:cond delay="0"/>
                                    </p:stCondLst>
                                  </p:cTn>
                                  <p:tgtEl>
                                    <p:spTgt spid="14"/>
                                  </p:tgtEl>
                                  <p:attrNameLst>
                                    <p:attrName>style.visibility</p:attrName>
                                  </p:attrNameLst>
                                </p:cBhvr>
                                <p:to>
                                  <p:strVal val="visible"/>
                                </p:to>
                              </p:set>
                              <p:animEffect transition="in" filter="fade">
                                <p:cBhvr>
                                  <p:cTn id="45" dur="550" fill="hold"/>
                                  <p:tgtEl>
                                    <p:spTgt spid="14"/>
                                  </p:tgtEl>
                                </p:cBhvr>
                              </p:animEffect>
                            </p:childTnList>
                          </p:cTn>
                        </p:par>
                        <p:par>
                          <p:cTn id="46" presetID="10" presetClass="entr" presetSubtype="0" fill="hold" grpId="0" nodeType="withEffect">
                            <p:stCondLst>
                              <p:cond delay="1040"/>
                            </p:stCondLst>
                            <p:childTnList>
                              <p:set>
                                <p:cBhvr>
                                  <p:cTn id="47" dur="1" fill="hold">
                                    <p:stCondLst>
                                      <p:cond delay="0"/>
                                    </p:stCondLst>
                                  </p:cTn>
                                  <p:tgtEl>
                                    <p:spTgt spid="15"/>
                                  </p:tgtEl>
                                  <p:attrNameLst>
                                    <p:attrName>style.visibility</p:attrName>
                                  </p:attrNameLst>
                                </p:cBhvr>
                                <p:to>
                                  <p:strVal val="visible"/>
                                </p:to>
                              </p:set>
                              <p:animEffect transition="in" filter="fade">
                                <p:cBhvr>
                                  <p:cTn id="48" dur="550" fill="hold"/>
                                  <p:tgtEl>
                                    <p:spTgt spid="15"/>
                                  </p:tgtEl>
                                </p:cBhvr>
                              </p:animEffect>
                            </p:childTnList>
                          </p:cTn>
                        </p:par>
                        <p:par>
                          <p:cTn id="49" presetID="10" presetClass="entr" presetSubtype="0" fill="hold" grpId="0" nodeType="withEffect">
                            <p:stCondLst>
                              <p:cond delay="1040"/>
                            </p:stCondLst>
                            <p:childTnList>
                              <p:set>
                                <p:cBhvr>
                                  <p:cTn id="50" dur="1" fill="hold">
                                    <p:stCondLst>
                                      <p:cond delay="0"/>
                                    </p:stCondLst>
                                  </p:cTn>
                                  <p:tgtEl>
                                    <p:spTgt spid="16"/>
                                  </p:tgtEl>
                                  <p:attrNameLst>
                                    <p:attrName>style.visibility</p:attrName>
                                  </p:attrNameLst>
                                </p:cBhvr>
                                <p:to>
                                  <p:strVal val="visible"/>
                                </p:to>
                              </p:set>
                              <p:animEffect transition="in" filter="fade">
                                <p:cBhvr>
                                  <p:cTn id="51" dur="550" fill="hold"/>
                                  <p:tgtEl>
                                    <p:spTgt spid="16"/>
                                  </p:tgtEl>
                                </p:cBhvr>
                              </p:animEffect>
                            </p:childTnList>
                          </p:cTn>
                        </p:par>
                        <p:par>
                          <p:cTn id="52" presetID="10" presetClass="entr" presetSubtype="0" fill="hold" grpId="0" nodeType="withEffect">
                            <p:stCondLst>
                              <p:cond delay="1040"/>
                            </p:stCondLst>
                            <p:childTnList>
                              <p:set>
                                <p:cBhvr>
                                  <p:cTn id="53" dur="1" fill="hold">
                                    <p:stCondLst>
                                      <p:cond delay="0"/>
                                    </p:stCondLst>
                                  </p:cTn>
                                  <p:tgtEl>
                                    <p:spTgt spid="17"/>
                                  </p:tgtEl>
                                  <p:attrNameLst>
                                    <p:attrName>style.visibility</p:attrName>
                                  </p:attrNameLst>
                                </p:cBhvr>
                                <p:to>
                                  <p:strVal val="visible"/>
                                </p:to>
                              </p:set>
                              <p:animEffect transition="in" filter="fade">
                                <p:cBhvr>
                                  <p:cTn id="54" dur="550" fill="hold"/>
                                  <p:tgtEl>
                                    <p:spTgt spid="17"/>
                                  </p:tgtEl>
                                </p:cBhvr>
                              </p:animEffect>
                            </p:childTnList>
                          </p:cTn>
                        </p:par>
                        <p:par>
                          <p:cTn id="55" presetID="10" presetClass="entr" presetSubtype="0" fill="hold" grpId="0" nodeType="withEffect">
                            <p:stCondLst>
                              <p:cond delay="1300"/>
                            </p:stCondLst>
                            <p:childTnList>
                              <p:set>
                                <p:cBhvr>
                                  <p:cTn id="56" dur="1" fill="hold">
                                    <p:stCondLst>
                                      <p:cond delay="0"/>
                                    </p:stCondLst>
                                  </p:cTn>
                                  <p:tgtEl>
                                    <p:spTgt spid="18"/>
                                  </p:tgtEl>
                                  <p:attrNameLst>
                                    <p:attrName>style.visibility</p:attrName>
                                  </p:attrNameLst>
                                </p:cBhvr>
                                <p:to>
                                  <p:strVal val="visible"/>
                                </p:to>
                              </p:set>
                              <p:animEffect transition="in" filter="fade">
                                <p:cBhvr>
                                  <p:cTn id="57" dur="550" fill="hold"/>
                                  <p:tgtEl>
                                    <p:spTgt spid="18"/>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2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reveal-1::shape-253">
            <a:extLst xmlns:a="http://schemas.openxmlformats.org/drawingml/2006/main">
              <a:ext uri="{FF2B5EF4-FFF2-40B4-BE49-F238E27FC236}">
                <a16:creationId xmlns:a16="http://schemas.microsoft.com/office/drawing/2014/main" id="{325E4505-BFEE-4479-B140-B57A18369F3F}"/>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343"/>
                </a:solidFill>
                <a:latin typeface="Arial"/>
                <a:ea typeface="Arial"/>
                <a:cs typeface="Arial"/>
              </a:defRPr>
            </a:pPr>
            <a:r>
              <a:rPr sz="3225" b="1">
                <a:solidFill>
                  <a:srgbClr val="173343"/>
                </a:solidFill>
                <a:latin typeface="Arial"/>
                <a:ea typeface="Arial"/>
                <a:cs typeface="Arial"/>
              </a:rPr>
              <a:t>Başlanğıc 5. Offline və tam icra</a:t>
            </a:r>
          </a:p>
        </p:txBody>
      </p:sp>
      <p:sp>
        <p:nvSpPr>
          <p:cNvPr id="2" name="reveal-2::shape-254">
            <a:extLst xmlns:a="http://schemas.openxmlformats.org/drawingml/2006/main">
              <a:ext uri="{FF2B5EF4-FFF2-40B4-BE49-F238E27FC236}">
                <a16:creationId xmlns:a16="http://schemas.microsoft.com/office/drawing/2014/main" id="{E8EAB291-2E48-4F67-8918-5DE25FCDD5AC}"/>
              </a:ext>
            </a:extLst>
          </p:cNvPr>
          <p:cNvSpPr>
            <a:spLocks xmlns:a="http://schemas.openxmlformats.org/drawingml/2006/main" noGrp="1"/>
          </p:cNvSpPr>
          <p:nvPr/>
        </p:nvSpPr>
        <p:spPr>
          <a:xfrm xmlns:a="http://schemas.openxmlformats.org/drawingml/2006/main">
            <a:off x="581025" y="1685925"/>
            <a:ext cx="4819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87F83"/>
                </a:solidFill>
                <a:latin typeface="Arial"/>
                <a:ea typeface="Arial"/>
                <a:cs typeface="Arial"/>
              </a:defRPr>
            </a:pPr>
            <a:r>
              <a:rPr sz="4350" b="1">
                <a:solidFill>
                  <a:srgbClr val="087F83"/>
                </a:solidFill>
                <a:latin typeface="Arial"/>
                <a:ea typeface="Arial"/>
                <a:cs typeface="Arial"/>
              </a:rPr>
              <a:t>8 layihə</a:t>
            </a:r>
          </a:p>
        </p:txBody>
      </p:sp>
      <p:sp>
        <p:nvSpPr>
          <p:cNvPr id="3" name="reveal-2::shape-255">
            <a:extLst xmlns:a="http://schemas.openxmlformats.org/drawingml/2006/main">
              <a:ext uri="{FF2B5EF4-FFF2-40B4-BE49-F238E27FC236}">
                <a16:creationId xmlns:a16="http://schemas.microsoft.com/office/drawing/2014/main" id="{5652F517-5AF5-45F5-A41C-C91780E889FC}"/>
              </a:ext>
            </a:extLst>
          </p:cNvPr>
          <p:cNvSpPr>
            <a:spLocks xmlns:a="http://schemas.openxmlformats.org/drawingml/2006/main" noGrp="1"/>
          </p:cNvSpPr>
          <p:nvPr/>
        </p:nvSpPr>
        <p:spPr>
          <a:xfrm xmlns:a="http://schemas.openxmlformats.org/drawingml/2006/main">
            <a:off x="581025" y="2667000"/>
            <a:ext cx="4705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3"/>
                </a:solidFill>
                <a:latin typeface="Arial"/>
                <a:ea typeface="Arial"/>
                <a:cs typeface="Arial"/>
              </a:defRPr>
            </a:pPr>
            <a:r>
              <a:rPr sz="2250" b="0">
                <a:solidFill>
                  <a:srgbClr val="173343"/>
                </a:solidFill>
                <a:latin typeface="Arial"/>
                <a:ea typeface="Arial"/>
                <a:cs typeface="Arial"/>
              </a:rPr>
              <a:t>Data endirmədən</a:t>
            </a:r>
          </a:p>
        </p:txBody>
      </p:sp>
      <p:sp>
        <p:nvSpPr>
          <p:cNvPr id="4" name="reveal-3::shape-256">
            <a:extLst xmlns:a="http://schemas.openxmlformats.org/drawingml/2006/main">
              <a:ext uri="{FF2B5EF4-FFF2-40B4-BE49-F238E27FC236}">
                <a16:creationId xmlns:a16="http://schemas.microsoft.com/office/drawing/2014/main" id="{E8798980-20A4-44B8-8502-911555A6E1E5}"/>
              </a:ext>
            </a:extLst>
          </p:cNvPr>
          <p:cNvSpPr>
            <a:spLocks xmlns:a="http://schemas.openxmlformats.org/drawingml/2006/main" noGrp="1"/>
          </p:cNvSpPr>
          <p:nvPr/>
        </p:nvSpPr>
        <p:spPr>
          <a:xfrm xmlns:a="http://schemas.openxmlformats.org/drawingml/2006/main">
            <a:off x="581025" y="3762375"/>
            <a:ext cx="4838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343"/>
                </a:solidFill>
                <a:latin typeface="Arial"/>
                <a:ea typeface="Arial"/>
                <a:cs typeface="Arial"/>
              </a:defRPr>
            </a:pPr>
            <a:r>
              <a:rPr sz="2400" b="1">
                <a:solidFill>
                  <a:srgbClr val="173343"/>
                </a:solidFill>
                <a:latin typeface="Arial"/>
                <a:ea typeface="Arial"/>
                <a:cs typeface="Arial"/>
              </a:rPr>
              <a:t>run all --offline</a:t>
            </a:r>
          </a:p>
        </p:txBody>
      </p:sp>
      <p:sp>
        <p:nvSpPr>
          <p:cNvPr id="5" name="reveal-0::shape-257">
            <a:extLst xmlns:a="http://schemas.openxmlformats.org/drawingml/2006/main">
              <a:ext uri="{FF2B5EF4-FFF2-40B4-BE49-F238E27FC236}">
                <a16:creationId xmlns:a16="http://schemas.microsoft.com/office/drawing/2014/main" id="{BE8E6680-7AA2-4A93-9C80-A0EAE274111C}"/>
              </a:ext>
            </a:extLst>
          </p:cNvPr>
          <p:cNvSpPr>
            <a:spLocks xmlns:a="http://schemas.openxmlformats.org/drawingml/2006/main" noGrp="1"/>
          </p:cNvSpPr>
          <p:nvPr/>
        </p:nvSpPr>
        <p:spPr>
          <a:xfrm xmlns:a="http://schemas.openxmlformats.org/drawingml/2006/main">
            <a:off x="5895975" y="1638300"/>
            <a:ext cx="19050" cy="3790950"/>
          </a:xfrm>
          <a:prstGeom xmlns:a="http://schemas.openxmlformats.org/drawingml/2006/main" prst="rect">
            <a:avLst/>
          </a:prstGeom>
          <a:solidFill xmlns:a="http://schemas.openxmlformats.org/drawingml/2006/main">
            <a:srgbClr val="ABCAC1"/>
          </a:solidFill>
          <a:ln xmlns:a="http://schemas.openxmlformats.org/drawingml/2006/main" w="0">
            <a:noFill/>
          </a:ln>
        </p:spPr>
      </p:sp>
      <p:sp>
        <p:nvSpPr>
          <p:cNvPr id="6" name="reveal-4::shape-258">
            <a:extLst xmlns:a="http://schemas.openxmlformats.org/drawingml/2006/main">
              <a:ext uri="{FF2B5EF4-FFF2-40B4-BE49-F238E27FC236}">
                <a16:creationId xmlns:a16="http://schemas.microsoft.com/office/drawing/2014/main" id="{81954933-F94D-47FD-9426-7F4B80E418F4}"/>
              </a:ext>
            </a:extLst>
          </p:cNvPr>
          <p:cNvSpPr>
            <a:spLocks xmlns:a="http://schemas.openxmlformats.org/drawingml/2006/main" noGrp="1"/>
          </p:cNvSpPr>
          <p:nvPr/>
        </p:nvSpPr>
        <p:spPr>
          <a:xfrm xmlns:a="http://schemas.openxmlformats.org/drawingml/2006/main">
            <a:off x="6610350" y="1685925"/>
            <a:ext cx="4953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87F83"/>
                </a:solidFill>
                <a:latin typeface="Arial"/>
                <a:ea typeface="Arial"/>
                <a:cs typeface="Arial"/>
              </a:defRPr>
            </a:pPr>
            <a:r>
              <a:rPr sz="4350" b="1">
                <a:solidFill>
                  <a:srgbClr val="087F83"/>
                </a:solidFill>
                <a:latin typeface="Arial"/>
                <a:ea typeface="Arial"/>
                <a:cs typeface="Arial"/>
              </a:rPr>
              <a:t>12 layihə</a:t>
            </a:r>
          </a:p>
        </p:txBody>
      </p:sp>
      <p:sp>
        <p:nvSpPr>
          <p:cNvPr id="7" name="reveal-4::shape-259">
            <a:extLst xmlns:a="http://schemas.openxmlformats.org/drawingml/2006/main">
              <a:ext uri="{FF2B5EF4-FFF2-40B4-BE49-F238E27FC236}">
                <a16:creationId xmlns:a16="http://schemas.microsoft.com/office/drawing/2014/main" id="{8B4FDFBA-8A88-4C2A-8B03-9E5C96984AF0}"/>
              </a:ext>
            </a:extLst>
          </p:cNvPr>
          <p:cNvSpPr>
            <a:spLocks xmlns:a="http://schemas.openxmlformats.org/drawingml/2006/main" noGrp="1"/>
          </p:cNvSpPr>
          <p:nvPr/>
        </p:nvSpPr>
        <p:spPr>
          <a:xfrm xmlns:a="http://schemas.openxmlformats.org/drawingml/2006/main">
            <a:off x="6610350" y="2667000"/>
            <a:ext cx="4838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343"/>
                </a:solidFill>
                <a:latin typeface="Arial"/>
                <a:ea typeface="Arial"/>
                <a:cs typeface="Arial"/>
              </a:defRPr>
            </a:pPr>
            <a:r>
              <a:rPr sz="2250" b="0">
                <a:solidFill>
                  <a:srgbClr val="173343"/>
                </a:solidFill>
                <a:latin typeface="Arial"/>
                <a:ea typeface="Arial"/>
                <a:cs typeface="Arial"/>
              </a:rPr>
              <a:t>Research paketləri</a:t>
            </a:r>
          </a:p>
          <a:p xmlns:a="http://schemas.openxmlformats.org/drawingml/2006/main">
            <a:pPr>
              <a:defRPr sz="2250" b="0">
                <a:solidFill>
                  <a:srgbClr val="173343"/>
                </a:solidFill>
                <a:latin typeface="Arial"/>
                <a:ea typeface="Arial"/>
                <a:cs typeface="Arial"/>
              </a:defRPr>
            </a:pPr>
            <a:r>
              <a:rPr sz="2250" b="0">
                <a:solidFill>
                  <a:srgbClr val="173343"/>
                </a:solidFill>
                <a:latin typeface="Arial"/>
                <a:ea typeface="Arial"/>
                <a:cs typeface="Arial"/>
              </a:rPr>
              <a:t>və internet ilə</a:t>
            </a:r>
          </a:p>
        </p:txBody>
      </p:sp>
      <p:sp>
        <p:nvSpPr>
          <p:cNvPr id="8" name="reveal-5::shape-260">
            <a:extLst xmlns:a="http://schemas.openxmlformats.org/drawingml/2006/main">
              <a:ext uri="{FF2B5EF4-FFF2-40B4-BE49-F238E27FC236}">
                <a16:creationId xmlns:a16="http://schemas.microsoft.com/office/drawing/2014/main" id="{1C334420-11D9-4924-93EF-EFE2D8EBDCDC}"/>
              </a:ext>
            </a:extLst>
          </p:cNvPr>
          <p:cNvSpPr>
            <a:spLocks xmlns:a="http://schemas.openxmlformats.org/drawingml/2006/main" noGrp="1"/>
          </p:cNvSpPr>
          <p:nvPr/>
        </p:nvSpPr>
        <p:spPr>
          <a:xfrm xmlns:a="http://schemas.openxmlformats.org/drawingml/2006/main">
            <a:off x="6610350" y="4105275"/>
            <a:ext cx="47434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343"/>
                </a:solidFill>
                <a:latin typeface="Arial"/>
                <a:ea typeface="Arial"/>
                <a:cs typeface="Arial"/>
              </a:defRPr>
            </a:pPr>
            <a:r>
              <a:rPr sz="2400" b="1">
                <a:solidFill>
                  <a:srgbClr val="173343"/>
                </a:solidFill>
                <a:latin typeface="Arial"/>
                <a:ea typeface="Arial"/>
                <a:cs typeface="Arial"/>
              </a:rPr>
              <a:t>run all</a:t>
            </a:r>
          </a:p>
        </p:txBody>
      </p:sp>
      <p:sp>
        <p:nvSpPr>
          <p:cNvPr id="9" name="reveal-6::shape-261">
            <a:extLst xmlns:a="http://schemas.openxmlformats.org/drawingml/2006/main">
              <a:ext uri="{FF2B5EF4-FFF2-40B4-BE49-F238E27FC236}">
                <a16:creationId xmlns:a16="http://schemas.microsoft.com/office/drawing/2014/main" id="{0C890DA9-3A22-44F5-A237-73B6F46E58C7}"/>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717F"/>
                </a:solidFill>
                <a:latin typeface="Arial"/>
                <a:ea typeface="Arial"/>
                <a:cs typeface="Arial"/>
              </a:defRPr>
            </a:pPr>
            <a:r>
              <a:rPr sz="1575" b="0">
                <a:solidFill>
                  <a:srgbClr val="55717F"/>
                </a:solidFill>
                <a:latin typeface="Arial"/>
                <a:ea typeface="Arial"/>
                <a:cs typeface="Arial"/>
              </a:rPr>
              <a:t>Tam əmrlər şəkilli bələdçidədir. Xam FASTQ workflow-ları ayrıca Linux/WSL mühiti tələb edir.</a:t>
            </a:r>
          </a:p>
        </p:txBody>
      </p:sp>
      <p:sp>
        <p:nvSpPr>
          <p:cNvPr id="10" name="reveal-0::shape-262">
            <a:extLst xmlns:a="http://schemas.openxmlformats.org/drawingml/2006/main">
              <a:ext uri="{FF2B5EF4-FFF2-40B4-BE49-F238E27FC236}">
                <a16:creationId xmlns:a16="http://schemas.microsoft.com/office/drawing/2014/main" id="{97D33CDA-9A02-476B-BFC0-3C3A035882B3}"/>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17F"/>
                </a:solidFill>
                <a:latin typeface="Arial"/>
                <a:ea typeface="Arial"/>
                <a:cs typeface="Arial"/>
              </a:defRPr>
            </a:pPr>
            <a:r>
              <a:rPr sz="1050" b="0">
                <a:solidFill>
                  <a:srgbClr val="55717F"/>
                </a:solidFill>
                <a:latin typeface="Arial"/>
                <a:ea typeface="Arial"/>
                <a:cs typeface="Arial"/>
              </a:rPr>
              <a:t>25</a:t>
            </a:r>
          </a:p>
        </p:txBody>
      </p:sp>
    </p:spTree>
    <p:extLst>
      <p:ext uri="{BB962C8B-B14F-4D97-AF65-F5344CB8AC3E}">
        <p14:creationId xmlns:p14="http://schemas.microsoft.com/office/powerpoint/2010/main" val="417116393"/>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11"/>
                                  </p:tgtEl>
                                  <p:attrNameLst>
                                    <p:attrName>style.visibility</p:attrName>
                                  </p:attrNameLst>
                                </p:cBhvr>
                                <p:to>
                                  <p:strVal val="visible"/>
                                </p:to>
                              </p:set>
                              <p:animEffect transition="in" filter="fade">
                                <p:cBhvr>
                                  <p:cTn id="6" dur="550" fill="hold"/>
                                  <p:tgtEl>
                                    <p:spTgt spid="11"/>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26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780"/>
                            </p:stCondLst>
                            <p:childTnList>
                              <p:set>
                                <p:cBhvr>
                                  <p:cTn id="17" dur="1" fill="hold">
                                    <p:stCondLst>
                                      <p:cond delay="0"/>
                                    </p:stCondLst>
                                  </p:cTn>
                                  <p:tgtEl>
                                    <p:spTgt spid="6"/>
                                  </p:tgtEl>
                                  <p:attrNameLst>
                                    <p:attrName>style.visibility</p:attrName>
                                  </p:attrNameLst>
                                </p:cBhvr>
                                <p:to>
                                  <p:strVal val="visible"/>
                                </p:to>
                              </p:set>
                              <p:animEffect transition="in" filter="fade">
                                <p:cBhvr>
                                  <p:cTn id="18" dur="550" fill="hold"/>
                                  <p:tgtEl>
                                    <p:spTgt spid="6"/>
                                  </p:tgtEl>
                                </p:cBhvr>
                              </p:animEffect>
                            </p:childTnList>
                          </p:cTn>
                        </p:par>
                        <p:par>
                          <p:cTn id="19" presetID="10" presetClass="entr" presetSubtype="0" fill="hold" grpId="0" nodeType="withEffect">
                            <p:stCondLst>
                              <p:cond delay="780"/>
                            </p:stCondLst>
                            <p:childTnList>
                              <p:set>
                                <p:cBhvr>
                                  <p:cTn id="20" dur="1" fill="hold">
                                    <p:stCondLst>
                                      <p:cond delay="0"/>
                                    </p:stCondLst>
                                  </p:cTn>
                                  <p:tgtEl>
                                    <p:spTgt spid="7"/>
                                  </p:tgtEl>
                                  <p:attrNameLst>
                                    <p:attrName>style.visibility</p:attrName>
                                  </p:attrNameLst>
                                </p:cBhvr>
                                <p:to>
                                  <p:strVal val="visible"/>
                                </p:to>
                              </p:set>
                              <p:animEffect transition="in" filter="fade">
                                <p:cBhvr>
                                  <p:cTn id="21" dur="550" fill="hold"/>
                                  <p:tgtEl>
                                    <p:spTgt spid="7"/>
                                  </p:tgtEl>
                                </p:cBhvr>
                              </p:animEffect>
                            </p:childTnList>
                          </p:cTn>
                        </p:par>
                        <p:par>
                          <p:cTn id="22" presetID="10" presetClass="entr" presetSubtype="0" fill="hold" grpId="0" nodeType="withEffect">
                            <p:stCondLst>
                              <p:cond delay="1040"/>
                            </p:stCondLst>
                            <p:childTnList>
                              <p:set>
                                <p:cBhvr>
                                  <p:cTn id="23" dur="1" fill="hold">
                                    <p:stCondLst>
                                      <p:cond delay="0"/>
                                    </p:stCondLst>
                                  </p:cTn>
                                  <p:tgtEl>
                                    <p:spTgt spid="8"/>
                                  </p:tgtEl>
                                  <p:attrNameLst>
                                    <p:attrName>style.visibility</p:attrName>
                                  </p:attrNameLst>
                                </p:cBhvr>
                                <p:to>
                                  <p:strVal val="visible"/>
                                </p:to>
                              </p:set>
                              <p:animEffect transition="in" filter="fade">
                                <p:cBhvr>
                                  <p:cTn id="24" dur="550" fill="hold"/>
                                  <p:tgtEl>
                                    <p:spTgt spid="8"/>
                                  </p:tgtEl>
                                </p:cBhvr>
                              </p:animEffect>
                            </p:childTnList>
                          </p:cTn>
                        </p:par>
                        <p:par>
                          <p:cTn id="25" presetID="10" presetClass="entr" presetSubtype="0" fill="hold" grpId="0" nodeType="withEffect">
                            <p:stCondLst>
                              <p:cond delay="1300"/>
                            </p:stCondLst>
                            <p:childTnList>
                              <p:set>
                                <p:cBhvr>
                                  <p:cTn id="26" dur="1" fill="hold">
                                    <p:stCondLst>
                                      <p:cond delay="0"/>
                                    </p:stCondLst>
                                  </p:cTn>
                                  <p:tgtEl>
                                    <p:spTgt spid="9"/>
                                  </p:tgtEl>
                                  <p:attrNameLst>
                                    <p:attrName>style.visibility</p:attrName>
                                  </p:attrNameLst>
                                </p:cBhvr>
                                <p:to>
                                  <p:strVal val="visible"/>
                                </p:to>
                              </p:set>
                              <p:animEffect transition="in" filter="fade">
                                <p:cBhvr>
                                  <p:cTn id="27" dur="550" fill="hold"/>
                                  <p:tgtEl>
                                    <p:spTgt spid="9"/>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slides/slide26.xml><?xml version="1.0" encoding="utf-8"?>
<p:sld xmlns:p="http://schemas.openxmlformats.org/presentationml/2006/main">
  <p:cSld>
    <p:bg>
      <p:bgPr>
        <a:solidFill xmlns:a="http://schemas.openxmlformats.org/drawingml/2006/main">
          <a:srgbClr val="092333"/>
        </a:solidFill>
      </p:bgPr>
    </p:bg>
    <p:spTree>
      <p:nvGrpSpPr>
        <p:cNvPr id="1" name=""/>
        <p:cNvGrpSpPr/>
        <p:nvPr/>
      </p:nvGrpSpPr>
      <p:grpSpPr>
        <a:xfrm xmlns:a="http://schemas.openxmlformats.org/drawingml/2006/main"/>
      </p:grpSpPr>
      <p:sp>
        <p:nvSpPr>
          <p:cNvPr id="9" name="reveal-1::shape-263">
            <a:extLst xmlns:a="http://schemas.openxmlformats.org/drawingml/2006/main">
              <a:ext uri="{FF2B5EF4-FFF2-40B4-BE49-F238E27FC236}">
                <a16:creationId xmlns:a16="http://schemas.microsoft.com/office/drawing/2014/main" id="{5139A62D-DD64-4F90-B8C5-AF18ECF5B44D}"/>
              </a:ext>
            </a:extLst>
          </p:cNvPr>
          <p:cNvSpPr>
            <a:spLocks xmlns:a="http://schemas.openxmlformats.org/drawingml/2006/main" noGrp="1"/>
          </p:cNvSpPr>
          <p:nvPr/>
        </p:nvSpPr>
        <p:spPr>
          <a:xfrm xmlns:a="http://schemas.openxmlformats.org/drawingml/2006/main">
            <a:off x="571500" y="400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İlk layihədən öz tədqiqat sualınıza</a:t>
            </a:r>
          </a:p>
        </p:txBody>
      </p:sp>
      <p:sp>
        <p:nvSpPr>
          <p:cNvPr id="2" name="reveal-2::shape-264">
            <a:extLst xmlns:a="http://schemas.openxmlformats.org/drawingml/2006/main">
              <a:ext uri="{FF2B5EF4-FFF2-40B4-BE49-F238E27FC236}">
                <a16:creationId xmlns:a16="http://schemas.microsoft.com/office/drawing/2014/main" id="{F9D3AFBA-0F79-49A9-B622-63E6F2FF3F11}"/>
              </a:ext>
            </a:extLst>
          </p:cNvPr>
          <p:cNvSpPr>
            <a:spLocks xmlns:a="http://schemas.openxmlformats.org/drawingml/2006/main" noGrp="1"/>
          </p:cNvSpPr>
          <p:nvPr/>
        </p:nvSpPr>
        <p:spPr>
          <a:xfrm xmlns:a="http://schemas.openxmlformats.org/drawingml/2006/main">
            <a:off x="581025" y="1714500"/>
            <a:ext cx="613410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79DEC5"/>
                </a:solidFill>
                <a:latin typeface="Arial"/>
                <a:ea typeface="Arial"/>
                <a:cs typeface="Arial"/>
              </a:defRPr>
            </a:pPr>
            <a:r>
              <a:rPr sz="5100" b="1">
                <a:solidFill>
                  <a:srgbClr val="79DEC5"/>
                </a:solidFill>
                <a:latin typeface="Arial"/>
                <a:ea typeface="Arial"/>
                <a:cs typeface="Arial"/>
              </a:rPr>
              <a:t>İşlədin.</a:t>
            </a:r>
          </a:p>
          <a:p xmlns:a="http://schemas.openxmlformats.org/drawingml/2006/main">
            <a:pPr>
              <a:defRPr sz="5100" b="1">
                <a:solidFill>
                  <a:srgbClr val="79DEC5"/>
                </a:solidFill>
                <a:latin typeface="Arial"/>
                <a:ea typeface="Arial"/>
                <a:cs typeface="Arial"/>
              </a:defRPr>
            </a:pPr>
            <a:r>
              <a:rPr sz="5100" b="1">
                <a:solidFill>
                  <a:srgbClr val="79DEC5"/>
                </a:solidFill>
                <a:latin typeface="Arial"/>
                <a:ea typeface="Arial"/>
                <a:cs typeface="Arial"/>
              </a:rPr>
              <a:t>Şərh edin.</a:t>
            </a:r>
          </a:p>
          <a:p xmlns:a="http://schemas.openxmlformats.org/drawingml/2006/main">
            <a:pPr>
              <a:defRPr sz="5100" b="1">
                <a:solidFill>
                  <a:srgbClr val="79DEC5"/>
                </a:solidFill>
                <a:latin typeface="Arial"/>
                <a:ea typeface="Arial"/>
                <a:cs typeface="Arial"/>
              </a:defRPr>
            </a:pPr>
            <a:r>
              <a:rPr sz="5100" b="1">
                <a:solidFill>
                  <a:srgbClr val="79DEC5"/>
                </a:solidFill>
                <a:latin typeface="Arial"/>
                <a:ea typeface="Arial"/>
                <a:cs typeface="Arial"/>
              </a:rPr>
              <a:t>Yoxlayın.</a:t>
            </a:r>
          </a:p>
        </p:txBody>
      </p:sp>
      <p:sp>
        <p:nvSpPr>
          <p:cNvPr id="3" name="reveal-3::shape-265">
            <a:extLst xmlns:a="http://schemas.openxmlformats.org/drawingml/2006/main">
              <a:ext uri="{FF2B5EF4-FFF2-40B4-BE49-F238E27FC236}">
                <a16:creationId xmlns:a16="http://schemas.microsoft.com/office/drawing/2014/main" id="{7D9DB8C4-B691-4530-BA9C-52F0DE806B5F}"/>
              </a:ext>
            </a:extLst>
          </p:cNvPr>
          <p:cNvSpPr>
            <a:spLocks xmlns:a="http://schemas.openxmlformats.org/drawingml/2006/main" noGrp="1"/>
          </p:cNvSpPr>
          <p:nvPr/>
        </p:nvSpPr>
        <p:spPr>
          <a:xfrm xmlns:a="http://schemas.openxmlformats.org/drawingml/2006/main">
            <a:off x="7553325" y="1885950"/>
            <a:ext cx="4000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Başlanğıc</a:t>
            </a:r>
          </a:p>
        </p:txBody>
      </p:sp>
      <p:sp>
        <p:nvSpPr>
          <p:cNvPr id="4" name="reveal-3::shape-266">
            <a:extLst xmlns:a="http://schemas.openxmlformats.org/drawingml/2006/main">
              <a:ext uri="{FF2B5EF4-FFF2-40B4-BE49-F238E27FC236}">
                <a16:creationId xmlns:a16="http://schemas.microsoft.com/office/drawing/2014/main" id="{7C13A244-42C7-427E-B3BD-9A316BB2AFB1}"/>
              </a:ext>
            </a:extLst>
          </p:cNvPr>
          <p:cNvSpPr>
            <a:spLocks xmlns:a="http://schemas.openxmlformats.org/drawingml/2006/main" noGrp="1"/>
          </p:cNvSpPr>
          <p:nvPr/>
        </p:nvSpPr>
        <p:spPr>
          <a:xfrm xmlns:a="http://schemas.openxmlformats.org/drawingml/2006/main">
            <a:off x="7553325" y="261937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docs/START_HERE.md</a:t>
            </a:r>
          </a:p>
        </p:txBody>
      </p:sp>
      <p:sp>
        <p:nvSpPr>
          <p:cNvPr id="5" name="reveal-4::shape-267">
            <a:extLst xmlns:a="http://schemas.openxmlformats.org/drawingml/2006/main">
              <a:ext uri="{FF2B5EF4-FFF2-40B4-BE49-F238E27FC236}">
                <a16:creationId xmlns:a16="http://schemas.microsoft.com/office/drawing/2014/main" id="{B36699FD-FB47-4F81-A271-1C2B27F03503}"/>
              </a:ext>
            </a:extLst>
          </p:cNvPr>
          <p:cNvSpPr>
            <a:spLocks xmlns:a="http://schemas.openxmlformats.org/drawingml/2006/main" noGrp="1"/>
          </p:cNvSpPr>
          <p:nvPr/>
        </p:nvSpPr>
        <p:spPr>
          <a:xfrm xmlns:a="http://schemas.openxmlformats.org/drawingml/2006/main">
            <a:off x="7553325" y="3829050"/>
            <a:ext cx="4000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Töhfə qaydaları</a:t>
            </a:r>
          </a:p>
        </p:txBody>
      </p:sp>
      <p:sp>
        <p:nvSpPr>
          <p:cNvPr id="6" name="reveal-4::shape-268">
            <a:extLst xmlns:a="http://schemas.openxmlformats.org/drawingml/2006/main">
              <a:ext uri="{FF2B5EF4-FFF2-40B4-BE49-F238E27FC236}">
                <a16:creationId xmlns:a16="http://schemas.microsoft.com/office/drawing/2014/main" id="{D778F5DE-C04B-4D17-AB77-8FF56BA88473}"/>
              </a:ext>
            </a:extLst>
          </p:cNvPr>
          <p:cNvSpPr>
            <a:spLocks xmlns:a="http://schemas.openxmlformats.org/drawingml/2006/main" noGrp="1"/>
          </p:cNvSpPr>
          <p:nvPr/>
        </p:nvSpPr>
        <p:spPr>
          <a:xfrm xmlns:a="http://schemas.openxmlformats.org/drawingml/2006/main">
            <a:off x="7553325" y="455295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CONTRIBUTING.md</a:t>
            </a:r>
          </a:p>
        </p:txBody>
      </p:sp>
      <p:sp>
        <p:nvSpPr>
          <p:cNvPr id="7" name="reveal-6::shape-269">
            <a:extLst xmlns:a="http://schemas.openxmlformats.org/drawingml/2006/main">
              <a:ext uri="{FF2B5EF4-FFF2-40B4-BE49-F238E27FC236}">
                <a16:creationId xmlns:a16="http://schemas.microsoft.com/office/drawing/2014/main" id="{2A42BAC3-7912-435C-847D-68473699C330}"/>
              </a:ext>
            </a:extLst>
          </p:cNvPr>
          <p:cNvSpPr>
            <a:spLocks xmlns:a="http://schemas.openxmlformats.org/drawingml/2006/main" noGrp="1"/>
          </p:cNvSpPr>
          <p:nvPr/>
        </p:nvSpPr>
        <p:spPr>
          <a:xfrm xmlns:a="http://schemas.openxmlformats.org/drawingml/2006/main">
            <a:off x="571500" y="60388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1D2D7"/>
                </a:solidFill>
                <a:latin typeface="Arial"/>
                <a:ea typeface="Arial"/>
                <a:cs typeface="Arial"/>
              </a:defRPr>
            </a:pPr>
            <a:r>
              <a:rPr sz="1575" b="0">
                <a:solidFill>
                  <a:srgbClr val="B1D2D7"/>
                </a:solidFill>
                <a:latin typeface="Arial"/>
                <a:ea typeface="Arial"/>
                <a:cs typeface="Arial"/>
              </a:rPr>
              <a:t>github.com/ali-novruz/bioinformatics-lab</a:t>
            </a:r>
          </a:p>
        </p:txBody>
      </p:sp>
      <p:sp>
        <p:nvSpPr>
          <p:cNvPr id="8" name="reveal-0::shape-270">
            <a:extLst xmlns:a="http://schemas.openxmlformats.org/drawingml/2006/main">
              <a:ext uri="{FF2B5EF4-FFF2-40B4-BE49-F238E27FC236}">
                <a16:creationId xmlns:a16="http://schemas.microsoft.com/office/drawing/2014/main" id="{806C445B-1791-487E-B2CC-DD8C94423EE5}"/>
              </a:ext>
            </a:extLst>
          </p:cNvPr>
          <p:cNvSpPr>
            <a:spLocks xmlns:a="http://schemas.openxmlformats.org/drawingml/2006/main" noGrp="1"/>
          </p:cNvSpPr>
          <p:nvPr/>
        </p:nvSpPr>
        <p:spPr>
          <a:xfrm xmlns:a="http://schemas.openxmlformats.org/drawingml/2006/main">
            <a:off x="11610975" y="65055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2B2BB"/>
                </a:solidFill>
                <a:latin typeface="Arial"/>
                <a:ea typeface="Arial"/>
                <a:cs typeface="Arial"/>
              </a:defRPr>
            </a:pPr>
            <a:r>
              <a:rPr sz="1050" b="0">
                <a:solidFill>
                  <a:srgbClr val="92B2BB"/>
                </a:solidFill>
                <a:latin typeface="Arial"/>
                <a:ea typeface="Arial"/>
                <a:cs typeface="Arial"/>
              </a:rPr>
              <a:t>26</a:t>
            </a:r>
          </a:p>
        </p:txBody>
      </p:sp>
    </p:spTree>
    <p:extLst>
      <p:ext uri="{BB962C8B-B14F-4D97-AF65-F5344CB8AC3E}">
        <p14:creationId xmlns:p14="http://schemas.microsoft.com/office/powerpoint/2010/main" val="1030578078"/>
      </p:ext>
    </p:extLst>
  </p:cSld>
  <p:transition spd="med" advClick="1">
    <p:fade/>
  </p:transition>
  <p:timing>
    <p:tnLst>
      <p:par>
        <p:cTn id="1" dur="indefinite" restart="never" nodeType="tmRoot">
          <p:childTnList>
            <p:seq concurrent="1" nextAc="seek">
              <p:cTn id="2" dur="indefinite" nodeType="mainSeq">
                <p:childTnList>
                  <p:par>
                    <p:cTn id="3" fill="hold">
                      <p:stCondLst>
                        <p:cond delay="0"/>
                      </p:stCondLst>
                      <p:childTnList>
                        <p:par>
                          <p:cTn id="4" presetID="10" presetClass="entr" presetSubtype="0" fill="hold" grpId="0" nodeType="withEffect">
                            <p:stCondLst>
                              <p:cond delay="0"/>
                            </p:stCondLst>
                            <p:childTnList>
                              <p:set>
                                <p:cBhvr>
                                  <p:cTn id="5" dur="1" fill="hold">
                                    <p:stCondLst>
                                      <p:cond delay="0"/>
                                    </p:stCondLst>
                                  </p:cTn>
                                  <p:tgtEl>
                                    <p:spTgt spid="9"/>
                                  </p:tgtEl>
                                  <p:attrNameLst>
                                    <p:attrName>style.visibility</p:attrName>
                                  </p:attrNameLst>
                                </p:cBhvr>
                                <p:to>
                                  <p:strVal val="visible"/>
                                </p:to>
                              </p:set>
                              <p:animEffect transition="in" filter="fade">
                                <p:cBhvr>
                                  <p:cTn id="6" dur="550" fill="hold"/>
                                  <p:tgtEl>
                                    <p:spTgt spid="9"/>
                                  </p:tgtEl>
                                </p:cBhvr>
                              </p:animEffect>
                            </p:childTnList>
                          </p:cTn>
                        </p:par>
                        <p:par>
                          <p:cTn id="7" presetID="10" presetClass="entr" presetSubtype="0" fill="hold" grpId="0" nodeType="withEffect">
                            <p:stCondLst>
                              <p:cond delay="260"/>
                            </p:stCondLst>
                            <p:childTnList>
                              <p:set>
                                <p:cBhvr>
                                  <p:cTn id="8" dur="1" fill="hold">
                                    <p:stCondLst>
                                      <p:cond delay="0"/>
                                    </p:stCondLst>
                                  </p:cTn>
                                  <p:tgtEl>
                                    <p:spTgt spid="2"/>
                                  </p:tgtEl>
                                  <p:attrNameLst>
                                    <p:attrName>style.visibility</p:attrName>
                                  </p:attrNameLst>
                                </p:cBhvr>
                                <p:to>
                                  <p:strVal val="visible"/>
                                </p:to>
                              </p:set>
                              <p:animEffect transition="in" filter="fade">
                                <p:cBhvr>
                                  <p:cTn id="9" dur="550" fill="hold"/>
                                  <p:tgtEl>
                                    <p:spTgt spid="2"/>
                                  </p:tgtEl>
                                </p:cBhvr>
                              </p:animEffect>
                            </p:childTnList>
                          </p:cTn>
                        </p:par>
                        <p:par>
                          <p:cTn id="10" presetID="10" presetClass="entr" presetSubtype="0" fill="hold" grpId="0" nodeType="withEffect">
                            <p:stCondLst>
                              <p:cond delay="520"/>
                            </p:stCondLst>
                            <p:childTnList>
                              <p:set>
                                <p:cBhvr>
                                  <p:cTn id="11" dur="1" fill="hold">
                                    <p:stCondLst>
                                      <p:cond delay="0"/>
                                    </p:stCondLst>
                                  </p:cTn>
                                  <p:tgtEl>
                                    <p:spTgt spid="3"/>
                                  </p:tgtEl>
                                  <p:attrNameLst>
                                    <p:attrName>style.visibility</p:attrName>
                                  </p:attrNameLst>
                                </p:cBhvr>
                                <p:to>
                                  <p:strVal val="visible"/>
                                </p:to>
                              </p:set>
                              <p:animEffect transition="in" filter="fade">
                                <p:cBhvr>
                                  <p:cTn id="12" dur="550" fill="hold"/>
                                  <p:tgtEl>
                                    <p:spTgt spid="3"/>
                                  </p:tgtEl>
                                </p:cBhvr>
                              </p:animEffect>
                            </p:childTnList>
                          </p:cTn>
                        </p:par>
                        <p:par>
                          <p:cTn id="13" presetID="10" presetClass="entr" presetSubtype="0" fill="hold" grpId="0" nodeType="withEffect">
                            <p:stCondLst>
                              <p:cond delay="520"/>
                            </p:stCondLst>
                            <p:childTnList>
                              <p:set>
                                <p:cBhvr>
                                  <p:cTn id="14" dur="1" fill="hold">
                                    <p:stCondLst>
                                      <p:cond delay="0"/>
                                    </p:stCondLst>
                                  </p:cTn>
                                  <p:tgtEl>
                                    <p:spTgt spid="4"/>
                                  </p:tgtEl>
                                  <p:attrNameLst>
                                    <p:attrName>style.visibility</p:attrName>
                                  </p:attrNameLst>
                                </p:cBhvr>
                                <p:to>
                                  <p:strVal val="visible"/>
                                </p:to>
                              </p:set>
                              <p:animEffect transition="in" filter="fade">
                                <p:cBhvr>
                                  <p:cTn id="15" dur="550" fill="hold"/>
                                  <p:tgtEl>
                                    <p:spTgt spid="4"/>
                                  </p:tgtEl>
                                </p:cBhvr>
                              </p:animEffect>
                            </p:childTnList>
                          </p:cTn>
                        </p:par>
                        <p:par>
                          <p:cTn id="16" presetID="10" presetClass="entr" presetSubtype="0" fill="hold" grpId="0" nodeType="withEffect">
                            <p:stCondLst>
                              <p:cond delay="780"/>
                            </p:stCondLst>
                            <p:childTnList>
                              <p:set>
                                <p:cBhvr>
                                  <p:cTn id="17" dur="1" fill="hold">
                                    <p:stCondLst>
                                      <p:cond delay="0"/>
                                    </p:stCondLst>
                                  </p:cTn>
                                  <p:tgtEl>
                                    <p:spTgt spid="5"/>
                                  </p:tgtEl>
                                  <p:attrNameLst>
                                    <p:attrName>style.visibility</p:attrName>
                                  </p:attrNameLst>
                                </p:cBhvr>
                                <p:to>
                                  <p:strVal val="visible"/>
                                </p:to>
                              </p:set>
                              <p:animEffect transition="in" filter="fade">
                                <p:cBhvr>
                                  <p:cTn id="18" dur="550" fill="hold"/>
                                  <p:tgtEl>
                                    <p:spTgt spid="5"/>
                                  </p:tgtEl>
                                </p:cBhvr>
                              </p:animEffect>
                            </p:childTnList>
                          </p:cTn>
                        </p:par>
                        <p:par>
                          <p:cTn id="19" presetID="10" presetClass="entr" presetSubtype="0" fill="hold" grpId="0" nodeType="withEffect">
                            <p:stCondLst>
                              <p:cond delay="780"/>
                            </p:stCondLst>
                            <p:childTnList>
                              <p:set>
                                <p:cBhvr>
                                  <p:cTn id="20" dur="1" fill="hold">
                                    <p:stCondLst>
                                      <p:cond delay="0"/>
                                    </p:stCondLst>
                                  </p:cTn>
                                  <p:tgtEl>
                                    <p:spTgt spid="6"/>
                                  </p:tgtEl>
                                  <p:attrNameLst>
                                    <p:attrName>style.visibility</p:attrName>
                                  </p:attrNameLst>
                                </p:cBhvr>
                                <p:to>
                                  <p:strVal val="visible"/>
                                </p:to>
                              </p:set>
                              <p:animEffect transition="in" filter="fade">
                                <p:cBhvr>
                                  <p:cTn id="21" dur="550" fill="hold"/>
                                  <p:tgtEl>
                                    <p:spTgt spid="6"/>
                                  </p:tgtEl>
                                </p:cBhvr>
                              </p:animEffect>
                            </p:childTnList>
                          </p:cTn>
                        </p:par>
                        <p:par>
                          <p:cTn id="22" presetID="10" presetClass="entr" presetSubtype="0" fill="hold" grpId="0" nodeType="withEffect">
                            <p:stCondLst>
                              <p:cond delay="1300"/>
                            </p:stCondLst>
                            <p:childTnList>
                              <p:set>
                                <p:cBhvr>
                                  <p:cTn id="23" dur="1" fill="hold">
                                    <p:stCondLst>
                                      <p:cond delay="0"/>
                                    </p:stCondLst>
                                  </p:cTn>
                                  <p:tgtEl>
                                    <p:spTgt spid="7"/>
                                  </p:tgtEl>
                                  <p:attrNameLst>
                                    <p:attrName>style.visibility</p:attrName>
                                  </p:attrNameLst>
                                </p:cBhvr>
                                <p:to>
                                  <p:strVal val="visible"/>
                                </p:to>
                              </p:set>
                              <p:animEffect transition="in" filter="fade">
                                <p:cBhvr>
                                  <p:cTn id="24" dur="550" fill="hold"/>
                                  <p:tgtEl>
                                    <p:spTgt spid="7"/>
                                  </p:tgtEl>
                                </p:cBhvr>
                              </p:animEffect>
                            </p:childTnList>
                          </p:cTn>
                        </p:par>
                      </p:childTnList>
                    </p:cTn>
                  </p:par>
                </p:childTnList>
              </p:cTn>
              <p:prevCondLst>
                <p:cond evt="onPrev" delay="0">
                  <p:tgtEl>
                    <p:sldTgt/>
                  </p:tgtEl>
                </p:cond>
              </p:prevCondLst>
              <p:nextCondLst>
                <p:cond evt="onNext" delay="0">
                  <p:tgtEl>
                    <p:sldTgt/>
                  </p:tgtEl>
                </p:cond>
              </p:nextCondLst>
            </p:seq>
          </p:childTnLi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2026-09-19T18:25:20.5250000Z</dcterms:created>
  <dcterms:modified xsi:type="dcterms:W3CDTF">2026-09-19T18:25:20.5260000Z</dcterms:modified>
</coreProperties>
</file>